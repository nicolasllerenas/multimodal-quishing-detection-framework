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UTEC · DEPARTMENT OF COMPUTER SCIENCE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8400" b="1" i="0">
                <a:solidFill>
                  <a:srgbClr val="1F3A5F"/>
                </a:solidFill>
                <a:latin typeface="Calibri"/>
              </a:rPr>
              <a:t>Q-Shield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41B29"/>
                </a:solidFill>
                <a:latin typeface="Calibri"/>
              </a:rPr>
              <a:t>An Explainable Siamese Network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41B29"/>
                </a:solidFill>
                <a:latin typeface="Calibri"/>
              </a:rPr>
              <a:t>Scalable Quishing Detection Without Payload Decoding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4069080"/>
            <a:ext cx="420624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88888"/>
                </a:solidFill>
                <a:latin typeface="Calibri"/>
              </a:rPr>
              <a:t>Author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41B29"/>
                </a:solidFill>
                <a:latin typeface="Calibri"/>
              </a:rPr>
              <a:t>Nicolás Alejandro Llerena Silva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88888"/>
                </a:solidFill>
                <a:latin typeface="Calibri"/>
              </a:rPr>
              <a:t>Advisor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41B29"/>
                </a:solidFill>
                <a:latin typeface="Calibri"/>
              </a:rPr>
              <a:t>Aurea Soriano-Vargas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2648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88888"/>
                </a:solidFill>
                <a:latin typeface="Calibri"/>
              </a:rPr>
              <a:t>Advisor meeting ·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F3A5F"/>
                </a:solidFill>
                <a:latin typeface="Calibri"/>
              </a:rPr>
              <a:t>How this meeting is organized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82880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657600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914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C9522A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Quishing as social engineering;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the four research gaps we close.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3657600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914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C9522A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974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Methodology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063240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Architecture, formulas, code: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Siamese contrastive + focal loss + frozen→unfrozen schedule.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828800"/>
            <a:ext cx="3657600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914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C9522A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6974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Experiments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063240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Datasets, iterations v1→v3,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and the reconciliation that led us to TTA + ensemble.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0624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206240"/>
            <a:ext cx="3657600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89120"/>
            <a:ext cx="914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C9522A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7492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440680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Main numbers, ablation, cross-dataset,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threshold calibration, inference cost.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420624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4206240"/>
            <a:ext cx="3657600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389120"/>
            <a:ext cx="914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C9522A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07492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Explainability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440680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Grad-CAM + SHAP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validated per dataset (r = 0.43).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20624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4206240"/>
            <a:ext cx="3657600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4389120"/>
            <a:ext cx="914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C9522A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507492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What's next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5440680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Limitations, future work,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submission plan.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meta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522A"/>
                </a:solidFill>
                <a:latin typeface="Calibri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Why quishing is a distinctive cybersecurity threat,</a:t>
            </a:r>
          </a:p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and which gaps in the literature we set out to close.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Quishing is a social-engineering attack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4592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3A5F"/>
                </a:solidFill>
                <a:latin typeface="Calibri"/>
              </a:rPr>
              <a:t>A learned trust the attacker weaponizes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6400800" cy="3383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B29"/>
                </a:solidFill>
                <a:latin typeface="Calibri"/>
              </a:rPr>
              <a:t>QR codes are opaque to the human eye, activated with a single gesture, and presented in contexts that implicitly mark them as legitimate — restaurant menus, parking meters, invoice PDFs, transit ads.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B29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B29"/>
                </a:solidFill>
                <a:latin typeface="Calibri"/>
              </a:rPr>
              <a:t>Mitnick and Hadnagy describe this exact pattern: the attacker's goal is to induce an impulsive, low-scrutiny action. QR codes are almost a perfect medium for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64592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645920"/>
            <a:ext cx="73152" cy="14173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737360"/>
            <a:ext cx="3749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A5F"/>
                </a:solidFill>
                <a:latin typeface="Calibri"/>
              </a:rPr>
              <a:t>LEADING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286000"/>
            <a:ext cx="3749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9"/>
                </a:solidFill>
                <a:latin typeface="Calibri"/>
              </a:rPr>
              <a:t>initial-access 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697480"/>
            <a:ext cx="3749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88888"/>
                </a:solidFill>
                <a:latin typeface="Calibri"/>
              </a:rPr>
              <a:t>Verizon DBIR 2024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320040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3200400"/>
            <a:ext cx="73152" cy="14173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3291840"/>
            <a:ext cx="3749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A5F"/>
                </a:solidFill>
                <a:latin typeface="Calibri"/>
              </a:rPr>
              <a:t>MILLIONS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840480"/>
            <a:ext cx="3749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9"/>
                </a:solidFill>
                <a:latin typeface="Calibri"/>
              </a:rPr>
              <a:t>USD avg / phishing breach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251960"/>
            <a:ext cx="3749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88888"/>
                </a:solidFill>
                <a:latin typeface="Calibri"/>
              </a:rPr>
              <a:t>IBM Cost Report 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475488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4754880"/>
            <a:ext cx="73152" cy="14173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4846320"/>
            <a:ext cx="3749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A5F"/>
                </a:solidFill>
                <a:latin typeface="Calibri"/>
              </a:rPr>
              <a:t>PARITY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5394960"/>
            <a:ext cx="3749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9"/>
                </a:solidFill>
                <a:latin typeface="Calibri"/>
              </a:rPr>
              <a:t>with classic phishing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5806440"/>
            <a:ext cx="3749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88888"/>
                </a:solidFill>
                <a:latin typeface="Calibri"/>
              </a:rPr>
              <a:t>Weinz / Geisler 2024–2025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RESEARCH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Four problems open in the literature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691640"/>
            <a:ext cx="10881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48640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65960"/>
            <a:ext cx="457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522A"/>
                </a:solidFill>
                <a:latin typeface="Calibri"/>
              </a:rPr>
              <a:t>PAYLOAD-DECODING DEPENDENCY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48840"/>
            <a:ext cx="1005840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41B29"/>
                </a:solidFill>
                <a:latin typeface="Calibri"/>
              </a:rPr>
              <a:t>High-performing detectors decode the QR before classifying — they inherit the exposure paradox they were meant to prevent.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80360"/>
            <a:ext cx="10881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80360"/>
            <a:ext cx="548640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154680"/>
            <a:ext cx="457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4495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522A"/>
                </a:solidFill>
                <a:latin typeface="Calibri"/>
              </a:rPr>
              <a:t>NO CROSS-DATASET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337560"/>
            <a:ext cx="1005840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41B29"/>
                </a:solidFill>
                <a:latin typeface="Calibri"/>
              </a:rPr>
              <a:t>Every prior study reports on one dataset; none measures transfer across independently collected QR corpora.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69080"/>
            <a:ext cx="10881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069080"/>
            <a:ext cx="548640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343400"/>
            <a:ext cx="457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23367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522A"/>
                </a:solidFill>
                <a:latin typeface="Calibri"/>
              </a:rPr>
              <a:t>LIMITED DUAL EXPLAINABILITY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526280"/>
            <a:ext cx="1005840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41B29"/>
                </a:solidFill>
                <a:latin typeface="Calibri"/>
              </a:rPr>
              <a:t>Prior work provides feature importance OR handcrafted interpretability, but not both pixel-level and latent-level explanations.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257800"/>
            <a:ext cx="548640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532120"/>
            <a:ext cx="457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42239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522A"/>
                </a:solidFill>
                <a:latin typeface="Calibri"/>
              </a:rPr>
              <a:t>NO OPERATIONAL CHARACTERIZATION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715000"/>
            <a:ext cx="1005840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41B29"/>
                </a:solidFill>
                <a:latin typeface="Calibri"/>
              </a:rPr>
              <a:t>Reported single threshold (p = 0.5) without quantifying recall/precision trade-offs for security tolerances.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Five claims supported by the paper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691640"/>
            <a:ext cx="10881360" cy="86868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37160" cy="86868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013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Siamese contrastive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First Siamese-with-contrastive-loss application to QR phishing. Inter-/intra-class distance ratio = 1.94.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51760"/>
            <a:ext cx="10881360" cy="86868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51760"/>
            <a:ext cx="137160" cy="86868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6148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Cross-dataset 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21,998 heterogeneous samples (Trad + CIC). 11× larger than the largest prior evaluation.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11880"/>
            <a:ext cx="10881360" cy="86868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11880"/>
            <a:ext cx="137160" cy="86868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2160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Zero-decoding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Payload never decoded. No exposure paradox; works for non-URL payloads (Wi-Fi, payment, contact).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72000"/>
            <a:ext cx="10881360" cy="86868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572000"/>
            <a:ext cx="137160" cy="86868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817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Calibrated operating 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AUC 0.9146 / F1 0.835. Threshold sweep reaches FNR ≤ 0.10 without retraining.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532120"/>
            <a:ext cx="10881360" cy="86868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532120"/>
            <a:ext cx="137160" cy="86868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Dual-layer explainability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8932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Grad-CAM + SHAP, validated per-dataset (r = 0.43): non-trivial structural signal.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Where Q-Shield sits relative to prior approaches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Decodes?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Deep?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Cross-DS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Wahsheh et al. (2021)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URL-based ML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Sharevski et al. (2022)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User study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Trad &amp; Chehab (2025)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Pixel-level XGBoost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0.913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Wahid et al. (2025)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Structural features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Khalifa et al. (2025)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Multimodal DL (URL+img)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Nejati et al. (2026)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CNN + URL hybrid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&gt; 0.95*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Q-Shield (this work)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Siamese CNN + ensemble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0.915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88888"/>
                </a:solidFill>
                <a:latin typeface="Calibri"/>
              </a:rPr>
              <a:t>* Reported on URL-derived features after decoding the QR — not directly comparable to image-only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41B29"/>
                </a:solidFill>
                <a:latin typeface="Calibri"/>
              </a:rPr>
              <a:t>Q-Shield is the first to combine zero-decoding, deep metric learning,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cross-dataset benchmarking, and dual-layer explainability.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522A"/>
                </a:solidFill>
                <a:latin typeface="Calibri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Architecture, formulas, and code.</a:t>
            </a:r>
          </a:p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Two-phase training plus inference-time refinements.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PART 02 ·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F3A5F"/>
                </a:solidFill>
                <a:latin typeface="Calibri"/>
              </a:rPr>
              <a:t>The Q-Shield pipeline at a glance</a:t>
            </a:r>
          </a:p>
        </p:txBody>
      </p:sp>
      <p:pic>
        <p:nvPicPr>
          <p:cNvPr id="5" name="Picture 4" descr="fig_pipeline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11475720" cy="512064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THEORETICAL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Problem formulation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41B29"/>
                </a:solidFill>
                <a:latin typeface="Calibri"/>
              </a:rPr>
              <a:t>Goal · Classify a grayscale QR image x without decoding its payload.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468880"/>
            <a:ext cx="8503920" cy="1280160"/>
          </a:xfrm>
          <a:prstGeom prst="rect">
            <a:avLst/>
          </a:prstGeom>
          <a:solidFill>
            <a:srgbClr val="FAF7F1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2468880"/>
            <a:ext cx="8503920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633472"/>
            <a:ext cx="8503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Equation (1) — composition of embedding and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971800"/>
            <a:ext cx="850392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1">
                <a:solidFill>
                  <a:srgbClr val="1F3A5F"/>
                </a:solidFill>
                <a:latin typeface="Cambria Math"/>
              </a:rPr>
              <a:t>f_θ(x) = σ( g_φ ∘ h_ψ (x)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h_ψ : ℝ^(H×W) → ℝ^d  ·  convolutional embedding (MobileNetV2 backbone)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g_φ : ℝ^d → ℝ        ·  classification head producing a logit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σ : ℝ → [0, 1]       ·  sigmoid nonlinearity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d = 128, L2-normalized — places all embeddings on the unit hypersphere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Contrastive Loss · Chopra, Hadsell, LeCun (2005)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1691640"/>
            <a:ext cx="10332720" cy="1280160"/>
          </a:xfrm>
          <a:prstGeom prst="rect">
            <a:avLst/>
          </a:prstGeom>
          <a:solidFill>
            <a:srgbClr val="FAF7F1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91640"/>
            <a:ext cx="10332720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10332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Equation (2) — pairwise contrastive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33272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F3A5F"/>
                </a:solidFill>
                <a:latin typeface="Cambria Math"/>
              </a:rPr>
              <a:t>L_con(e₁, e₂, y) = (1−y) · d² / 2  +  y · max(0, m − d)²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53492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d = ‖e₁ − e₂‖₂ (euclidean distance)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y = 0 same class · y = 1 different class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m = 1.5 — margin (grid-searched)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200400"/>
            <a:ext cx="53492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3375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INTUITION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0332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Same-class pairs ⇒ d² / 2 pulls embeddings together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Different-class pairs ⇒ max(0, m − d)² / 2 pushes apart until d ≥ m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Result: inter/intra ratio = 1.94 in our embedding space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Focal Loss · Lin, Goyal, Girshick, He, Dollár (2017)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8800" y="1691640"/>
            <a:ext cx="8503920" cy="1280160"/>
          </a:xfrm>
          <a:prstGeom prst="rect">
            <a:avLst/>
          </a:prstGeom>
          <a:solidFill>
            <a:srgbClr val="FAF7F1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1691640"/>
            <a:ext cx="8503920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856232"/>
            <a:ext cx="8503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Equation (3) — focuses gradient on hard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94560"/>
            <a:ext cx="850392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1">
                <a:solidFill>
                  <a:srgbClr val="1F3A5F"/>
                </a:solidFill>
                <a:latin typeface="Cambria Math"/>
              </a:rPr>
              <a:t>L_focal(p, y) = − α_y · (1 − p_y)^γ · log p_y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53492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p_y — predicted probability of true class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α = 0.5 — balanced class weight after sampling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γ = 2 — down-weights easy examples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200400"/>
            <a:ext cx="53492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3375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0332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Asymmetric cost — a missed phishing exposes the user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Replacing focal with BCE raises FNR 0.20 → 0.27 (+7 pp)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Same AUC ranking, much better coverage of malicious QRs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Backbone — src/models/siamese_qr.py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645920"/>
            <a:ext cx="7315200" cy="4846320"/>
          </a:xfrm>
          <a:prstGeom prst="rect">
            <a:avLst/>
          </a:prstGeom>
          <a:solidFill>
            <a:srgbClr val="14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73152" cy="48463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7040880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class MobileNetV2Embedding(nn.Module):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def __init__(self, embedding_dim=128, pretrained=True):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super().__init__()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mn = models.mobilenet_v2(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    weights=models.MobileNet_V2_Weights.DEFAULT)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original_conv = mn.features[0][0]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self.features = mn.features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self.features[0][0] = nn.Conv2d(1, 32, 3, stride=2,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                                padding=1, bias=False)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with torch.no_grad():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    self.features[0][0].weight = nn.Parameter(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        original_conv.weight.mean(dim=1, keepdim=True))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self.pool = nn.AdaptiveAvgPool2d(1)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self.projection = nn.Sequential(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    nn.Linear(1280, 512), nn.BatchNorm1d(512),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    nn.ReLU(inplace=True), nn.Dropout(0.3),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    nn.Linear(512, embedding_dim))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def forward(self, x):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x = self.features(x)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x = self.pool(x).flatten(1)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x = self.projection(x)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return F.normalize(x, p=2, dim=1)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79" y="1691640"/>
            <a:ext cx="33832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691640"/>
            <a:ext cx="73152" cy="86868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78308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3A5F"/>
                </a:solidFill>
                <a:latin typeface="Calibri"/>
              </a:rPr>
              <a:t>First conv: 3 → 1 channels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75688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for grayscale QR input.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2651760"/>
            <a:ext cx="33832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2651760"/>
            <a:ext cx="73152" cy="86868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74320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3A5F"/>
                </a:solidFill>
                <a:latin typeface="Calibri"/>
              </a:rPr>
              <a:t>Init = mean of pretrained RGB weights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035808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preserves the ImageNet prior.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3611880"/>
            <a:ext cx="33832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3611880"/>
            <a:ext cx="73152" cy="86868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70332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3A5F"/>
                </a:solidFill>
                <a:latin typeface="Calibri"/>
              </a:rPr>
              <a:t>Projection 1280 → 512 → 128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995928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with BatchNorm and Dropout 0.3.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4572000"/>
            <a:ext cx="33832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4572000"/>
            <a:ext cx="73152" cy="86868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466344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3A5F"/>
                </a:solidFill>
                <a:latin typeface="Calibri"/>
              </a:rPr>
              <a:t>L2 normalization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956048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embeddings on the unit hypersphere.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5532120"/>
            <a:ext cx="33832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5532120"/>
            <a:ext cx="73152" cy="86868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562356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3A5F"/>
                </a:solidFill>
                <a:latin typeface="Calibri"/>
              </a:rPr>
              <a:t>3.08 M params · 12 MB FP32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916168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per model.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Phase 1 training loop · contrastive pretraining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645920"/>
            <a:ext cx="7315200" cy="4846320"/>
          </a:xfrm>
          <a:prstGeom prst="rect">
            <a:avLst/>
          </a:prstGeom>
          <a:solidFill>
            <a:srgbClr val="14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73152" cy="48463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7040880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model = SiameseQRNet(emb_dim=128, dropout=0.35).to(device)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criterion = ContrastiveLoss(margin=1.5)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optimizer = optim.AdamW(model.parameters(), lr=2e-4,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                weight_decay=2e-4)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scheduler = optim.lr_scheduler.CosineAnnealingWarmRestarts(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optimizer, T_0=15, T_mult=1, eta_min=1e-6)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for ep in range(1, EPOCHS1 + 1):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model.train()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for x1, x2, y in train_loader: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x1, x2, y = x1.to(device), x2.to(device), y.to(device)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optimizer.zero_grad()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e1, e2 = model(x1, x2)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loss = criterion(e1, e2, y)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loss.backward()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torch.nn.utils.clip_grad_norm_(model.parameters(), 1.0)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optimizer.step()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scheduler.step()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if val_loss &lt; best_val_loss: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best_state = copy.deepcopy(model.state_dict())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60,000 pairs / epoch (Trad + CIC, balanced)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Up to 40 epochs · early stop patience 8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Cosine annealing with warm restarts every 15 epochs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Augmentation: H-flip only — rotation excluded (finder patterns encode orientation)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Gradient clipping at 1.0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Phase 2 — frozen-then-unfrozen schedule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645920"/>
            <a:ext cx="7315200" cy="5029200"/>
          </a:xfrm>
          <a:prstGeom prst="rect">
            <a:avLst/>
          </a:prstGeom>
          <a:solidFill>
            <a:srgbClr val="14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73152" cy="502920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7040880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classifier = QRClassifier(model.backbone, embedding_dim=128).to(device)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focal = FocalLoss(alpha=0.5, gamma=2.0)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# Phase 2a: frozen backbone, train head only (5 epochs)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classifier.set_backbone_grad(False)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opt = optim.AdamW([p for p in classifier.parameters() if p.requires_grad],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          lr=5e-4, weight_decay=1e-4)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for ep in range(1, EPOCHS2 + 1):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if ep == FROZEN_EP + 1: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# Phase 2b: unfreeze, fine-tune end-to-end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classifier.set_backbone_grad(True)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opt = optim.AdamW(classifier.parameters(), lr=1e-4, weight_decay=2e-4)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sch = optim.lr_scheduler.CosineAnnealingLR(opt, T_max=15, eta_min=1e-6)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classifier.train()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for imgs, lbls in tr_loader: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opt.zero_grad()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loss = focal(classifier(imgs), lbls)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loss.backward()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    opt.step()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E8E8EC"/>
                </a:solidFill>
                <a:latin typeface="Consolas"/>
              </a:rPr>
              <a:t>    if ep &gt; FROZEN_EP: sch.step()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First 5 epochs: head only — stabilizes the random head before disturbing the backbone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Last 15 epochs: end-to-end fine-tuning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Empirical gain vs no-frozen-start: +0.015 AUC (Ablation A4)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Best epoch typically epoch 8 — early stop on val AUC, patience 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522A"/>
                </a:solidFill>
                <a:latin typeface="Calibri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Experimental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Datasets, validation protocol,</a:t>
            </a:r>
          </a:p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and the iteration history that led to v3.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Two complementary corpora · Trad and CIC Trap4Phish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Trad et al. (2025)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CIC Trap4Phish 2025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Total samples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9,987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1,005,738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Used in this work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9,987 (full)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100,000 (50k+50k stratified)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Binary matrix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Grayscale PNG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Native resolution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69 × 69 (fixed)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114 – 582 px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QR version coverage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V13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V5 – V30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Benign source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Alexa top-1M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Majestic Million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Phishing source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PhishTank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PhishTank (independent crawl)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VALIDATION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40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All inputs normalized to 224 × 224 grayscale before the CNN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80/20 train/validation split per dataset · combined val set: 21,998 samples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Random seed 42 for splits and CIC sampling — reproducible across ensemble seeds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ITERATION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A research diary, written in honest numbers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3385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FNR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Diagnosis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v1 — Trad-only, 64-d emb, dropout 0.3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0.886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0.21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Severe overfitting (30 pp gap)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v2 — + CIC, dropout 0.5, m=1.0, rotation aug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0.868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0.27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Underfitting + rotation broke QR semantics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v3 — single seed, full eval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0.896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Clean, but 1.71 pp below Trad SOTA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v3 + TTA (h-flip averaging)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0.905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+0.91 pp at zero training cost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v3 + TTA + 2-seed ensemble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0.915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0.835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0.199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Genuine SOTA-beating (+0.13 pp vs 0.913)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LESSONS DISTILLED INTO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Margin 1.5 wins · dropout 0.35 sweet spot · no rotation augmentation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Cosine warm restarts every 15 epochs · frozen-start in Phase 2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Ensembling and TTA applied at inference, not architectural rewrites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522A"/>
                </a:solidFill>
                <a:latin typeface="Calibri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From the reconciliation that detected an inflated number</a:t>
            </a:r>
          </a:p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to the ensemble that genuinely beats prior SOTA.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A SMALL DETOUR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How we audited a number that did not match the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69164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3657600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REPORTED INITIALLY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32004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C62828"/>
                </a:solidFill>
                <a:latin typeface="Calibri"/>
              </a:rPr>
              <a:t>0.9254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32004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on the n = 21,998 set — but the confusion matrix in Fig 4 mathematically gives F1 = 0.821 and FNR = 0.20, not 0.858 / 0.166.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3657600" cy="73152"/>
          </a:xfrm>
          <a:prstGeom prst="rect">
            <a:avLst/>
          </a:prstGeom>
          <a:solidFill>
            <a:srgbClr val="C89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74519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VERIFIED EMPIRICALLY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32004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C8951C"/>
                </a:solidFill>
                <a:latin typeface="Calibri"/>
              </a:rPr>
              <a:t>0.8962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657600"/>
            <a:ext cx="32004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when the same checkpoint is evaluated on the full 21,998 set. The 0.9254 came from an ablation on a subset.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91640"/>
            <a:ext cx="3657600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74519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AFTER TTA + ENSEMBLE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240280"/>
            <a:ext cx="32004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2E7D32"/>
                </a:solidFill>
                <a:latin typeface="Calibri"/>
              </a:rPr>
              <a:t>0.9146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657600"/>
            <a:ext cx="32004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on the same set, with two simple inference-time refinements that require no architectural change.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141B29"/>
                </a:solidFill>
                <a:latin typeface="Calibri"/>
              </a:rPr>
              <a:t>The reconciliation became part of the methodology — every paper number is now traceable to a script in the public repo.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36576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522A"/>
                </a:solidFill>
                <a:latin typeface="Calibri"/>
              </a:rPr>
              <a:t>HEADLINE RESULT · n = 21,998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CFD8E5"/>
                </a:solidFill>
                <a:latin typeface="Calibri"/>
              </a:rPr>
              <a:t>Q-Shield (ensemble + TTA)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800" b="1" i="0">
                <a:solidFill>
                  <a:srgbClr val="FFFFFF"/>
                </a:solidFill>
                <a:latin typeface="Calibri"/>
              </a:rPr>
              <a:t>AUC  0.9146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+0.13 pp over Trad et al. (0.9133)  ·  on a benchmark 11× larger and visually heterogeneous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212080"/>
            <a:ext cx="2606040" cy="1005840"/>
          </a:xfrm>
          <a:prstGeom prst="rect">
            <a:avLst/>
          </a:prstGeom>
          <a:solidFill>
            <a:srgbClr val="2B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349240"/>
            <a:ext cx="2240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623560"/>
            <a:ext cx="22402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0.835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5212080"/>
            <a:ext cx="2606040" cy="1005840"/>
          </a:xfrm>
          <a:prstGeom prst="rect">
            <a:avLst/>
          </a:prstGeom>
          <a:solidFill>
            <a:srgbClr val="2B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5349240"/>
            <a:ext cx="2240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5623560"/>
            <a:ext cx="22402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0.801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5212080"/>
            <a:ext cx="2606040" cy="1005840"/>
          </a:xfrm>
          <a:prstGeom prst="rect">
            <a:avLst/>
          </a:prstGeom>
          <a:solidFill>
            <a:srgbClr val="2B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5349240"/>
            <a:ext cx="2240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FNR (DEFAULT)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623560"/>
            <a:ext cx="22402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0.199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5212080"/>
            <a:ext cx="2606040" cy="1005840"/>
          </a:xfrm>
          <a:prstGeom prst="rect">
            <a:avLst/>
          </a:prstGeom>
          <a:solidFill>
            <a:srgbClr val="2B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5349240"/>
            <a:ext cx="2240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PARAMS PER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623560"/>
            <a:ext cx="22402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3.08 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INFERENCE-TIME REFINEMENTS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TTA + 2-seed ensemble · no architectural change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691640"/>
            <a:ext cx="53492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91440" cy="2468880"/>
          </a:xfrm>
          <a:prstGeom prst="rect">
            <a:avLst/>
          </a:prstGeom>
          <a:solidFill>
            <a:srgbClr val="C89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TEST-TIME AUGMENTATION (TTA)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Average σ over original and h-flip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93776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p̂(x) = ½ ( σ(g·h(x)) + σ(g·h(x̃)) 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2× forward passes per QR.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Gain: +0.91 pp AUC.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53492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91640"/>
            <a:ext cx="91440" cy="2468880"/>
          </a:xfrm>
          <a:prstGeom prst="rect">
            <a:avLst/>
          </a:prstGeom>
          <a:solidFill>
            <a:srgbClr val="C89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TWO-SEED ENSEMBLE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Two pipelines, identical splits, different seeds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493776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Diversity from optimization stochasticity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(weight init + pair sampling).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4 forwards/QR total. Gain: +0.93 pp.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" y="443484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vs single-seed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vs Trad (0.9133)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Single seed (B0)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0.8962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−1.71 pp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+ TTA (B1)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0.9053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+0.91 pp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−0.80 pp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+ 2-seed ensemble (B2)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0.9146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+1.84 pp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+0.13 pp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</a:tr>
            </a:tbl>
          </a:graphicData>
        </a:graphic>
      </p:graphicFrame>
      <p:cxnSp>
        <p:nvCxnSpPr>
          <p:cNvPr id="17" name="Connector 16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MAIN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Combined validation set · n = 21,998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3385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Prec.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FNR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25 feat + Random Forest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0.813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0.794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0.660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0.720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0.340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25 feat + XGBoost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0.810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0.785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0.664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0.720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0.336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25 feat + LightGBM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0.808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0.771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0.670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0.717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0.330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Trad et al. (n=1,998, V13 only)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0.913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0.890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Q-Shield (single seed, no TTA)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0.8962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0.844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0.798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0.821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0.202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Q-Shield (single seed + TTA)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0.9053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0.853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0.799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0.825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0.201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Q-Shield (ensemble + TTA)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0.9146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0.872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0.801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0.835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0.199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Ensemble + TTA exceeds Trad SOTA on a benchmark 11× larger and visually heterogeneous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Single-seed variant offers a 4× cheaper inference path with only 1.84 pp AUC concession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DECISION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Confusion matrix and ROC curve · ensemble configuration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confusion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91640"/>
            <a:ext cx="9692640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READING THE 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CM at p=0.5: TN 9,703 · FP 1,298 · FN 2,192 · TP 8,805 → AUC = 0.9146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Calibrated point (p=0.4) crosses the FNR ≤ 10% security tolerance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Each architectural decision matters · single-seed, no TTA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338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FNR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AUC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A1 · Full Q-Shield (single seed)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0.8962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0.821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0.202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A2 · No Siamese pretraining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0.8764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0.785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0.267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−0.020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A3 · BCE loss (no focal)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0.8771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0.786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0.271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−0.019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A4 · No frozen start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0.8810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0.801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0.230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−0.015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A5 · Small head (256→64→1)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0.8752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0.794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0.229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−0.021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Siamese pretraining (A2) is the largest single contributor: −2 pp AUC, +6.5 pp FNR when removed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Focal loss (A3) barely changes AUC but lifts FNR by 7 pp — directly supports the security claim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Frozen start (A4) and large head (A5) add +0.015 to +0.021 AUC each — small but consistent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Combined with TTA + ensemble (panel B in Table V), the system reaches AUC 0.9146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CROSS-DATASET 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Why combined training is methodologically required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338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Setup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FNR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Diagnosis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CV1 · Train CIC → Test Trad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0.7178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0.666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Classifier collapse (everything → phishing)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CV2 · Train Trad → Test CIC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0.5181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0.508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0.517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0.492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Near-random — Trad-only fails on PNGs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CV3 · Combined (single seed)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0.8962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0.798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0.821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0.202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Operative regime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The two corpora differ at the pixel level beyond what augmentation can bridge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Single-corpus training does NOT generalize. Combining is not a convenience — it is required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Position this as domain-invariant learning (Ganin &amp; Lempitsky, 2015)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Implication: prior single-dataset AUCs (e.g., 0.913 on V13 only) should be read as upper bounds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THRESHOLD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Operating points for security tolerance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338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Operating point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FNR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0.860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0.182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0.839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Maximize F1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0.475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0.837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0.844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0.156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0.840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FNR ≤ 0.10 (security target)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0.400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0.752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0.902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0.098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0.820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FNR ≤ 0.05 (aggressive)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0.300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0.607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0.961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0.039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0.744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AUC alone is threshold-independent — operators need a decision rule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0.50 → 0.40 lowers FNR from 18% to 9.8% at modest precision cost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Crosses the conventional ≤ 10% security tolerance without retraining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Brier 0.138 · ECE 0.129 → ranker, not probability estimator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522A"/>
                </a:solidFill>
                <a:latin typeface="Calibri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Explainability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Grad-CAM, SHAP, per-dataset validation,</a:t>
            </a:r>
          </a:p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and inference-cost trade-offs.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Grad-CAM · spatial attention over the QR matrix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5_gradcam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583680" cy="4937760"/>
          </a:xfrm>
          <a:prstGeom prst="rect">
            <a:avLst/>
          </a:prstGeom>
        </p:spPr>
      </p:pic>
      <p:pic>
        <p:nvPicPr>
          <p:cNvPr id="7" name="Picture 6" descr="fig6_gradcam_aggre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91640"/>
            <a:ext cx="4572000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384048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WHAT WE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420624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Finder patterns (3 corners) consistently dark — model ignores them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Attention concentrates on data-region modules — payload-encoded part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Aggregated: benign attention to the left, phishing to the center-right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Plausible cause: longer phishing URLs push more codewords to the right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SHAP and embedding space · latent-level interpretability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8_shap_embed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5577840" cy="2926080"/>
          </a:xfrm>
          <a:prstGeom prst="rect">
            <a:avLst/>
          </a:prstGeom>
        </p:spPr>
      </p:pic>
      <p:pic>
        <p:nvPicPr>
          <p:cNvPr id="7" name="Picture 6" descr="fig7_embedding_dista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57784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75488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SHAP — TOP 20 OF 128 DIMS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Top dim |SHAP| ≈ 0.016, decaying smoothly to 0.005 at position 20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Remaining 108 dims contribute negligibly — embedding over-parameterized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Pruning to 32–64 dims would likely preserve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75488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PAIRWISE DISTANCES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07492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Benign-Benign 0.501 · Phish-Phish 0.458 · Benign-Phish 0.928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Inter/intra ratio = 1.94 — contrastive training works as intended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Phishing cluster TIGHTER than benign — URLs share structural regularities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Per-dataset Grad-CAM · ruling out artifacts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gradcam_per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498079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69164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THE CONCERN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057400"/>
            <a:ext cx="36576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141B29"/>
                </a:solidFill>
                <a:latin typeface="Calibri"/>
              </a:rPr>
              <a:t>Could the L/R asymmetry be an artifact of mixing 69×69 binary Trad samples with antialiased CIC PNGs?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6576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THE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02336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Recompute class-averaged Grad-CAM SEPARATELY on Trad and CIC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Pixel-wise correlation r = 0.43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Right-side positive region in BOTH datasets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→ real structural signal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INFERENCE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Mobile-deployable and configurable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338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Disk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CPU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GPU (T4)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Single seed, no TTA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3.08 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12 MB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24.9 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6.0 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0.896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Single seed + TTA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3.08 M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12 MB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49.8 ms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12.0 ms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0.905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Ensemble + TTA (full)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6.16 M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24 MB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99.6 ms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24.0 ms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0.915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DEPLOYMENT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&lt; 100 ms CPU keeps the full ensemble within the perceptual budget for interactive mobile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Single-model variant trades 1.84 pp AUC for a 4× compute reduction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GPU throughput per single model on T4: 1,156 images/s (batch 32)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Bundled weights ~24 MB — fits typical mobile-app size budgets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522A"/>
                </a:solidFill>
                <a:latin typeface="Calibri"/>
              </a:rPr>
              <a:t>PART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Limitations, future work, and the submission plan.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Stated explicitly in Section VI.B of the paper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9144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Default-threshold FNR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783080"/>
            <a:ext cx="7178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0.199 — above the 0.10 target. Mitigated by threshold calibration.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04288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04288"/>
            <a:ext cx="9144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Phase-2 overfitting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395728"/>
            <a:ext cx="7178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Validation loss diverges after epoch 8. Early stopping selects the best.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16936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16936"/>
            <a:ext cx="9144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08376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Unverified URL overlap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008376"/>
            <a:ext cx="7178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Trad does not redistribute URL strings. Overlap with CIC unverified.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29584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529584"/>
            <a:ext cx="9144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21024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Resolution-dependent perf.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621024"/>
            <a:ext cx="7178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AUC drops to 0.844 on QRs &gt; 246 px — resize loses module detail.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142232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142232"/>
            <a:ext cx="9144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233672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Probability calibration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233672"/>
            <a:ext cx="7178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ECE 0.129 — good ranker, imperfect probability estimator.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754880"/>
            <a:ext cx="9144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846320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Unimodal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846320"/>
            <a:ext cx="7178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No accompanying-text branch; paired QR+text data not public at scale.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367528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367528"/>
            <a:ext cx="9144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458968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Container-format stripping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458968"/>
            <a:ext cx="7178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PDF/SVG/DOCX containers normalized to PNG before CNN.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980176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980176"/>
            <a:ext cx="9144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6071616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No adversarial 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071616"/>
            <a:ext cx="7178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Module-level perturbations not yet tested.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Five extensions worth dedicated study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691640"/>
            <a:ext cx="10881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91440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Multimodal 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Add a text branch (DistilBERT or compact LM) on accompanying email/SMS context. Most direct path to FNR &lt; 10%.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79192"/>
            <a:ext cx="10881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79192"/>
            <a:ext cx="91440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8892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Multi-scale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36392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Resolution-adaptive backbone or multiple input scales. Closes the gap on large QRs without inference cost.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66744"/>
            <a:ext cx="10881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66744"/>
            <a:ext cx="91440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76472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Provenance-aware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23944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Cryptographic signatures, merchant-ID validation, session tokens. See next slide for the Yape/BCP example.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54296"/>
            <a:ext cx="10881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654296"/>
            <a:ext cx="91440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764024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Adversarial robustness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11496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Module-level adversarial perturbations + adversarial training and randomized smoothing.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641848"/>
            <a:ext cx="10881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641848"/>
            <a:ext cx="91440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751576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Localized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099048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Region-specific phishing campaigns: Yape (Peru), UPI (India), Pix (Brazil). Local data + lightweight fine-tuning.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FUTURE WORK ·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Provenance-aware detection · Yape and BCP, Peru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TWO QUESTIONS · TWO LAYERS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492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5349240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Q1 · Is the content malicious?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493776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Solved by Q-Shield. The visual classifier inspects the QR pattern and flags content-suspicious codes regardless of origin.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103120"/>
            <a:ext cx="53492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103120"/>
            <a:ext cx="5349240" cy="5486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Q2 · Was it generated by the authorized source?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493776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NOT solved by Q-Shield. A content-valid QR placed at point-of-sale by an attacker (overlay, MITM, UI replacement) passes the visual filter.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WHAT A PROVENANCE LAYER LOOKS LIKE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Yape (Peru, by BCP) generates merchant QRs through an authenticated backend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Cryptographic signatures embedded in the QR payload + merchant-ID validation against the issuer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Session-bound tokens · geolocation or capture-device attestation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Visual + provenance = orthogonal complementary layers, not competitors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SUBMISSION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Where to send Q-Shield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338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Venue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Fit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IEEE Intercon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Latin-American audience aligns with Yape/BCP framing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IEEE LA-CCI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Latin-American Computational Intelligence; XAI + security focus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IEEE TrustCom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Stretch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Trust + security venue; broader cybersecurity context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PRE-SUBMISSION CHECKLIST · ~1 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Recompile main.tex (3 passes) — verify zero ?? remain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Optional · add SimCLR/SupCon distinction + Khosla 2020 reference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Optional · add bootstrap CI on AUC at end of Main Results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Final visual check of PDF: figures, tables, page breaks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Verify authors list, ORCID, abstract length, IEEE PDF Express compliance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Q-Shield in one slide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First Siamese contrastive framework for QR-image quishing — zero-decoding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21,998-sample heterogeneous benchmark (Trad + CIC), 11× larger than prior evaluations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AUC 0.9146 (ensemble + TTA) &gt; Trad 0.9133 — genuine improvement on a harder benchmark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Single-seed variant 0.8962 with 4× lower inference cost — explicit accuracy/latency trade-off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Threshold calibration · FNR 0.098 at p = 0.40 — meets security tolerance without retraining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Dual XAI (Grad-CAM + SHAP), validated cross-dataset (r = 0.43) — non-trivial structural signal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3.08 M parameters per model, 12 MB on disk, 25 ms CPU per scan — mobile-deployable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7 honest limitations · 5 concrete future-work directions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Status · ready for advisor review and IEEE Intercon / LA-CCI submission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4577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Questions, feedback, and design directions are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457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Nicolás Alejandro Llerena Silva  ·  UTEC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5457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CFD8E5"/>
                </a:solidFill>
                <a:latin typeface="Calibri"/>
              </a:rPr>
              <a:t>Advisor · Aurea Soriano-Vargas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