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77440"/>
            <a:ext cx="12191695" cy="54864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UTEC · DEPARTMENT OF COMPUTER SCIENCE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80160"/>
            <a:ext cx="1051560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400" b="1" i="0">
                <a:solidFill>
                  <a:srgbClr val="1F3A5F"/>
                </a:solidFill>
                <a:latin typeface="Calibri"/>
              </a:rPr>
              <a:t>Q-Shield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1B29"/>
                </a:solidFill>
                <a:latin typeface="Calibri"/>
              </a:rPr>
              <a:t>An Explainable Multimodal Framework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1B29"/>
                </a:solidFill>
                <a:latin typeface="Calibri"/>
              </a:rPr>
              <a:t>Quishing Detection via Siamese Visual and Offline URL Analysis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4069080"/>
            <a:ext cx="420624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420624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888888"/>
                </a:solidFill>
                <a:latin typeface="Calibri"/>
              </a:rPr>
              <a:t>Author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41B29"/>
                </a:solidFill>
                <a:latin typeface="Calibri"/>
              </a:rPr>
              <a:t>Nicolás Alejandro Llerena Silva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0749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888888"/>
                </a:solidFill>
                <a:latin typeface="Calibri"/>
              </a:rPr>
              <a:t>Advisor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0352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41B29"/>
                </a:solidFill>
                <a:latin typeface="Calibri"/>
              </a:rPr>
              <a:t>Aurea Soriano-Vargas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058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888888"/>
                </a:solidFill>
                <a:latin typeface="Calibri"/>
              </a:rPr>
              <a:t>Advisor meeting · May 2026 · multimodal pivot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F3A5F"/>
                </a:solidFill>
                <a:latin typeface="Calibri"/>
              </a:rPr>
              <a:t>Six parts, with the pivot in the middle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5544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0080" y="1828800"/>
            <a:ext cx="365760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3657600" cy="45720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914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C9522A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974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3A5F"/>
                </a:solidFill>
                <a:latin typeface="Calibri"/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32004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55555"/>
                </a:solidFill>
                <a:latin typeface="Calibri"/>
              </a:rPr>
              <a:t>Quishing as social engineering;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55555"/>
                </a:solidFill>
                <a:latin typeface="Calibri"/>
              </a:rPr>
              <a:t>the four research gaps we close.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828800"/>
            <a:ext cx="365760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828800"/>
            <a:ext cx="3657600" cy="45720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011680"/>
            <a:ext cx="914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C9522A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6974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3A5F"/>
                </a:solidFill>
                <a:latin typeface="Calibri"/>
              </a:rPr>
              <a:t>The pivot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063240"/>
            <a:ext cx="32004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55555"/>
                </a:solidFill>
                <a:latin typeface="Calibri"/>
              </a:rPr>
              <a:t>Why we moved from visual-only to multimodal,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55555"/>
                </a:solidFill>
                <a:latin typeface="Calibri"/>
              </a:rPr>
              <a:t>and why the visual branch stays as graceful fallback.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828800"/>
            <a:ext cx="365760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828800"/>
            <a:ext cx="3657600" cy="45720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914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C9522A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6974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063240"/>
            <a:ext cx="32004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55555"/>
                </a:solidFill>
                <a:latin typeface="Calibri"/>
              </a:rPr>
              <a:t>Visual Siamese branch + DistilBERT URL branch +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55555"/>
                </a:solidFill>
                <a:latin typeface="Calibri"/>
              </a:rPr>
              <a:t>late-fusion MLP with explicit undecodable flag.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206240"/>
            <a:ext cx="365760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206240"/>
            <a:ext cx="3657600" cy="45720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389120"/>
            <a:ext cx="914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C9522A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07492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3A5F"/>
                </a:solidFill>
                <a:latin typeface="Calibri"/>
              </a:rPr>
              <a:t>Experiments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440680"/>
            <a:ext cx="32004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55555"/>
                </a:solidFill>
                <a:latin typeface="Calibri"/>
              </a:rPr>
              <a:t>Datasets, iterations,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55555"/>
                </a:solidFill>
                <a:latin typeface="Calibri"/>
              </a:rPr>
              <a:t>and the reconciliation that produced honest numbers.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34840" y="4206240"/>
            <a:ext cx="365760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34840" y="4206240"/>
            <a:ext cx="3657600" cy="45720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3440" y="4389120"/>
            <a:ext cx="914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C9522A"/>
                </a:solidFill>
                <a:latin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507492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3A5F"/>
                </a:solidFill>
                <a:latin typeface="Calibri"/>
              </a:rPr>
              <a:t>Results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440680"/>
            <a:ext cx="32004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55555"/>
                </a:solidFill>
                <a:latin typeface="Calibri"/>
              </a:rPr>
              <a:t>Headline AUC 0.9749, FNR 0.057,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55555"/>
                </a:solidFill>
                <a:latin typeface="Calibri"/>
              </a:rPr>
              <a:t>branch comparison, ablation, cross-dataset.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206240"/>
            <a:ext cx="365760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29600" y="4206240"/>
            <a:ext cx="3657600" cy="45720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58200" y="4389120"/>
            <a:ext cx="914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C9522A"/>
                </a:solidFill>
                <a:latin typeface="Calibr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507492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3A5F"/>
                </a:solidFill>
                <a:latin typeface="Calibri"/>
              </a:rPr>
              <a:t>What's next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5440680"/>
            <a:ext cx="32004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55555"/>
                </a:solidFill>
                <a:latin typeface="Calibri"/>
              </a:rPr>
              <a:t>Limitations, future work,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55555"/>
                </a:solidFill>
                <a:latin typeface="Calibri"/>
              </a:rPr>
              <a:t>submission plan to IEEE Intercon / LA-CCI.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meta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02 / 41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45720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522A"/>
                </a:solidFill>
                <a:latin typeface="Calibri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1005840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CFD8E5"/>
                </a:solidFill>
                <a:latin typeface="Calibri"/>
              </a:rPr>
              <a:t>Quishing as a distinctive cybersecurity threat,</a:t>
            </a:r>
          </a:p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CFD8E5"/>
                </a:solidFill>
                <a:latin typeface="Calibri"/>
              </a:rPr>
              <a:t>and which gaps in the literature we set out to close.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Quishing is a social-engineering attack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64592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3A5F"/>
                </a:solidFill>
                <a:latin typeface="Calibri"/>
              </a:rPr>
              <a:t>A learned trust the attacker weaponizes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6400800" cy="3383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B29"/>
                </a:solidFill>
                <a:latin typeface="Calibri"/>
              </a:rPr>
              <a:t>QR codes are opaque to the human eye, activated with a single gesture, and presented in contexts that implicitly mark them as legitimate — restaurant menus, parking meters, invoice PDFs, transit ads.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B29"/>
                </a:solidFill>
                <a:latin typeface="Calibr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B29"/>
                </a:solidFill>
                <a:latin typeface="Calibri"/>
              </a:rPr>
              <a:t>Mitnick and Hadnagy describe this exact pattern: the attacker's goal is to induce an impulsive, low-scrutiny action. QR codes are almost a perfect medium for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645920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80960" y="1645920"/>
            <a:ext cx="73152" cy="1417320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09560" y="1737360"/>
            <a:ext cx="37490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F3A5F"/>
                </a:solidFill>
                <a:latin typeface="Calibri"/>
              </a:rPr>
              <a:t>LEADING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2286000"/>
            <a:ext cx="3749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41B29"/>
                </a:solidFill>
                <a:latin typeface="Calibri"/>
              </a:rPr>
              <a:t>initial-access vector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697480"/>
            <a:ext cx="3749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88888"/>
                </a:solidFill>
                <a:latin typeface="Calibri"/>
              </a:rPr>
              <a:t>Verizon DBIR 2024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0" y="3200400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3200400"/>
            <a:ext cx="73152" cy="1417320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3291840"/>
            <a:ext cx="37490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F3A5F"/>
                </a:solidFill>
                <a:latin typeface="Calibri"/>
              </a:rPr>
              <a:t>MILLIONS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3840480"/>
            <a:ext cx="3749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41B29"/>
                </a:solidFill>
                <a:latin typeface="Calibri"/>
              </a:rPr>
              <a:t>USD avg / phishing breach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251960"/>
            <a:ext cx="3749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88888"/>
                </a:solidFill>
                <a:latin typeface="Calibri"/>
              </a:rPr>
              <a:t>IBM Cost Report 2024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0" y="4754880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80960" y="4754880"/>
            <a:ext cx="73152" cy="1417320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4846320"/>
            <a:ext cx="37490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F3A5F"/>
                </a:solidFill>
                <a:latin typeface="Calibri"/>
              </a:rPr>
              <a:t>PARITY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5394960"/>
            <a:ext cx="3749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41B29"/>
                </a:solidFill>
                <a:latin typeface="Calibri"/>
              </a:rPr>
              <a:t>with classic phishing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5806440"/>
            <a:ext cx="3749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88888"/>
                </a:solidFill>
                <a:latin typeface="Calibri"/>
              </a:rPr>
              <a:t>Weinz / Geisler 2024–2025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04 / 41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45720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522A"/>
                </a:solidFill>
                <a:latin typeface="Calibri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The pivot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1005840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CFD8E5"/>
                </a:solidFill>
                <a:latin typeface="Calibri"/>
              </a:rPr>
              <a:t>Why we moved from visual-only to multimodal,</a:t>
            </a:r>
          </a:p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CFD8E5"/>
                </a:solidFill>
                <a:latin typeface="Calibri"/>
              </a:rPr>
              <a:t>and why the visual branch stays as graceful fallback.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PART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Why we pivoted to multimodal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6459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C9522A"/>
                </a:solidFill>
                <a:latin typeface="Calibri"/>
              </a:rPr>
              <a:t>Three failures of the original visual-only framing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1088136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94560"/>
            <a:ext cx="137160" cy="13258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1. The "decoding paradox" does not hold 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10515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1B29"/>
                </a:solidFill>
                <a:latin typeface="Calibri"/>
              </a:rPr>
              <a:t>pyzbar is local, deterministic, no network, no DNS, no JS. It conflates reading a string (safe) with opening it (risky). An informed reviewer would knock this down on first read.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30168"/>
            <a:ext cx="1088136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630168"/>
            <a:ext cx="137160" cy="13258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2. The visual signal alone is structurally weak in heterogeneous QRs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78808"/>
            <a:ext cx="10515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1B29"/>
                </a:solidFill>
                <a:latin typeface="Calibri"/>
              </a:rPr>
              <a:t>CIC Trap4Phish 2025 reports SSIM benign↔phishing ≈ 0.34 — visually almost identical. Their CNN over images reaches F1 0.88; their LLMs over the decoded URL reach F1 0.97-0.99.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65776"/>
            <a:ext cx="1088136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65776"/>
            <a:ext cx="137160" cy="13258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202936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3. Combining both branches dominates either alone, by construction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14416"/>
            <a:ext cx="10515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1B29"/>
                </a:solidFill>
                <a:latin typeface="Calibri"/>
              </a:rPr>
              <a:t>Bountakas (2023) and Khalifa (2025) already validated multimodal fusion in webpage phishing. The framing that survives review is the one that uses every signal available.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2E7D32"/>
                </a:solidFill>
                <a:latin typeface="Calibri"/>
              </a:rPr>
              <a:t>The visual branch is NOT discarded — it remains the operative signal whenever the QR cannot be decoded (4.3% of the corpus).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06 / 41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RESEARCH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Four open problems we close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0080" y="1691640"/>
            <a:ext cx="10881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48640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965960"/>
            <a:ext cx="4572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856232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522A"/>
                </a:solidFill>
                <a:latin typeface="Calibri"/>
              </a:rPr>
              <a:t>NO INTEGRATED VISUAL+TEXT DETECTOR FOR QR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148840"/>
            <a:ext cx="1005840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1B29"/>
                </a:solidFill>
                <a:latin typeface="Calibri"/>
              </a:rPr>
              <a:t>Trad operates only pre-decode; CIC reports both branches in parallel but does not fuse them. We provide the first end-to-end fused detector with explicit undecodability handling.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80360"/>
            <a:ext cx="10881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80360"/>
            <a:ext cx="548640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154680"/>
            <a:ext cx="4572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44952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522A"/>
                </a:solidFill>
                <a:latin typeface="Calibri"/>
              </a:rPr>
              <a:t>NO CROSS-DATASET EVALUATION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337560"/>
            <a:ext cx="1005840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1B29"/>
                </a:solidFill>
                <a:latin typeface="Calibri"/>
              </a:rPr>
              <a:t>Every prior study reports on one dataset; none measures transfer across independently collected QR corpora. We are the first to do this.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069080"/>
            <a:ext cx="10881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069080"/>
            <a:ext cx="548640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43400"/>
            <a:ext cx="4572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233672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522A"/>
                </a:solidFill>
                <a:latin typeface="Calibri"/>
              </a:rPr>
              <a:t>LIMITED DUAL EXPLAINABILITY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4526280"/>
            <a:ext cx="1005840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1B29"/>
                </a:solidFill>
                <a:latin typeface="Calibri"/>
              </a:rPr>
              <a:t>Prior work provides feature importance OR handcrafted interpretability, but not both pixel-level and latent-level explanations.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257800"/>
            <a:ext cx="10881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257800"/>
            <a:ext cx="548640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5532120"/>
            <a:ext cx="4572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422392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522A"/>
                </a:solidFill>
                <a:latin typeface="Calibri"/>
              </a:rPr>
              <a:t>NO OPERATIONAL CHARACTERIZATION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5715000"/>
            <a:ext cx="1005840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1B29"/>
                </a:solidFill>
                <a:latin typeface="Calibri"/>
              </a:rPr>
              <a:t>Reported single threshold (p = 0.5) without quantifying recall/precision trade-offs for security tolerances. The fused model meets the ≤10% FNR target out of the box.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07 / 41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Five claims supported by the paper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0080" y="1691640"/>
            <a:ext cx="10881360" cy="868680"/>
          </a:xfrm>
          <a:prstGeom prst="rect">
            <a:avLst/>
          </a:prstGeom>
          <a:solidFill>
            <a:srgbClr val="F1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137160" cy="868680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013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3A5F"/>
                </a:solidFill>
                <a:latin typeface="Calibri"/>
              </a:rPr>
              <a:t>Multimodal fusion is the operative configuration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5156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41B29"/>
                </a:solidFill>
                <a:latin typeface="Calibri"/>
              </a:rPr>
              <a:t>Visual + DistilBERT-URL + late-fusion MLP. AUC 0.9749, F1 0.936, FNR 0.057 on n=21,998 — exceeds Trad 0.913 by +6.16 pp.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51760"/>
            <a:ext cx="10881360" cy="868680"/>
          </a:xfrm>
          <a:prstGeom prst="rect">
            <a:avLst/>
          </a:prstGeom>
          <a:solidFill>
            <a:srgbClr val="F1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651760"/>
            <a:ext cx="137160" cy="868680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6148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3A5F"/>
                </a:solidFill>
                <a:latin typeface="Calibri"/>
              </a:rPr>
              <a:t>11× larger heterogeneous benchmark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5156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41B29"/>
                </a:solidFill>
                <a:latin typeface="Calibri"/>
              </a:rPr>
              <a:t>Joint Trad + CIC validation set spans multiple QR versions, resolutions, and image formats.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611880"/>
            <a:ext cx="10881360" cy="868680"/>
          </a:xfrm>
          <a:prstGeom prst="rect">
            <a:avLst/>
          </a:prstGeom>
          <a:solidFill>
            <a:srgbClr val="F1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611880"/>
            <a:ext cx="137160" cy="868680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2160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3A5F"/>
                </a:solidFill>
                <a:latin typeface="Calibri"/>
              </a:rPr>
              <a:t>Explicit handling of undecodable QRs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69080"/>
            <a:ext cx="105156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41B29"/>
                </a:solidFill>
                <a:latin typeface="Calibri"/>
              </a:rPr>
              <a:t>pyzbar fallback + UNDECODABLE flag in fusion input. Visual branch is the operative signal in this 4.3% of the corpus.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572000"/>
            <a:ext cx="10881360" cy="868680"/>
          </a:xfrm>
          <a:prstGeom prst="rect">
            <a:avLst/>
          </a:prstGeom>
          <a:solidFill>
            <a:srgbClr val="F1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572000"/>
            <a:ext cx="137160" cy="868680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68172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3A5F"/>
                </a:solidFill>
                <a:latin typeface="Calibri"/>
              </a:rPr>
              <a:t>Default-threshold security target met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029200"/>
            <a:ext cx="105156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41B29"/>
                </a:solidFill>
                <a:latin typeface="Calibri"/>
              </a:rPr>
              <a:t>FNR 0.057 at p=0.5 — already below the conventional ≤10% tolerance, no calibration required.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532120"/>
            <a:ext cx="10881360" cy="868680"/>
          </a:xfrm>
          <a:prstGeom prst="rect">
            <a:avLst/>
          </a:prstGeom>
          <a:solidFill>
            <a:srgbClr val="F1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532120"/>
            <a:ext cx="137160" cy="868680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3A5F"/>
                </a:solidFill>
                <a:latin typeface="Calibri"/>
              </a:rPr>
              <a:t>Dual-layer explainability, cross-validated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989320"/>
            <a:ext cx="105156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41B29"/>
                </a:solidFill>
                <a:latin typeface="Calibri"/>
              </a:rPr>
              <a:t>Grad-CAM (spatial) + SHAP (feature). Per-dataset Pearson r = 0.43: signal is structural, not dataset-specific.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08 / 41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Where Q-Shield sits relative to prior approaches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9164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3560"/>
                <a:gridCol w="1813560"/>
                <a:gridCol w="1813560"/>
                <a:gridCol w="1813560"/>
                <a:gridCol w="1813560"/>
                <a:gridCol w="18135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Decodes?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Branches fused?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Cross-DS?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Best F1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Trad &amp; Chehab (2025)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Pixel-level XGBoost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N/A (visual only)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0.890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Wahid et al. (2025)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Structural features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Khalifa et al. (2025)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Multimodal DL (URL+img)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Yes (webpages)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Nejati et al. (2026)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CNN + LLMs (parallel)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0.97-0.99 (text)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Q-Shield (this work)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Siamese visual + DistilBERT URL + fusion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Local only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0.936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663440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522A"/>
                </a:solidFill>
                <a:latin typeface="Calibri"/>
              </a:rPr>
              <a:t>Why Q-Shield is novel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First end-to-end fused detector for QR phishing — Trad and Wahid are visual-only, Khalifa is webpages, CIC reports the two branches but does not fuse them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First to handle the UNDECODABLE case explicitly via a binary flag in the fusion input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First to evaluate cross-dataset transfer between independently collected QR corpora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09 / 41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45720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522A"/>
                </a:solidFill>
                <a:latin typeface="Calibri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1005840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CFD8E5"/>
                </a:solidFill>
                <a:latin typeface="Calibri"/>
              </a:rPr>
              <a:t>Visual Siamese branch + DistilBERT URL branch +</a:t>
            </a:r>
          </a:p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CFD8E5"/>
                </a:solidFill>
                <a:latin typeface="Calibri"/>
              </a:rPr>
              <a:t>late-fusion MLP with explicit undecodability flag.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PART 03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F3A5F"/>
                </a:solidFill>
                <a:latin typeface="Calibri"/>
              </a:rPr>
              <a:t>Q-Shield multimodal pipeline</a:t>
            </a:r>
          </a:p>
        </p:txBody>
      </p:sp>
      <p:pic>
        <p:nvPicPr>
          <p:cNvPr id="5" name="Picture 4" descr="fig_pipeline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11475720" cy="5120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11 / 41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VISUAL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Pre-decode signal — Siamese MobileNetV2 + classifier head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69164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Backbone: MobileNetV2 (3.08M params, 12 MB FP32) — adapted to 1-channel grayscale, ImageNet init averaged across RGB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Embedding: 1280 → 512 → 128, L2-normalized (unit hypersphere)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Phase 1 (contrastive): margin m = 1.5, AdamW lr 2e-4, cosine warm restarts (T_0 = 15), up to 40 epochs with patience 8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Phase 2 (focal): head 128→512→128→32→1, focal loss (γ = 2, α = 0.5), backbone frozen for 5 epochs then unfrozen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Best epoch typically epoch 8; early stopping on val AUC, patience 3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Operates pre-decode — only signal available when the QR cannot be decoded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691640"/>
            <a:ext cx="384048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1691640"/>
            <a:ext cx="91440" cy="4572000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78308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24028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Single seed AUC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224028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0.8962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7432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+ TTA AUC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274320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0.9053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24612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+ 2-seed ensemble AUC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324612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0.9146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374904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Single-seed FNR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374904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0.202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425196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Inter/intra ratio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425196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1.94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12 / 41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TEXT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Post-decode signal — DistilBERT over offline-decoded URLs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69164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Backbone: DistilBERT base uncased (66M params, 255 MB FP32). Trade-off latency vs accuracy: smaller than DeBERTa-v3 / ModernBERT, larger than BERT-Tiny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Tokenizer: AutoTokenizer at max_length 96 — covers the full URL distribution observed across both corpora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Decoding: pyzbar (libzbar) — local, deterministic, no network call, no payload execution. The "decoding paradox" conflates reading and opening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UNDECODABLE token: when pyzbar fails (low contrast, missing quiet zone, damaged finder pattern), we emit a sentinel token. The encoder learns it as a separate representation — undecodability becomes a feature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Fine-tuning: 3 epochs of focal loss (γ=2, α=0.5), AdamW lr 2e-5, weight decay 1e-2, linear warmup-then-decay schedule with 10% warmup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Decode rate: Trad 100% (cascade decoder), CIC 95.7% — total 95.7% across the joint corpus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691640"/>
            <a:ext cx="384048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1691640"/>
            <a:ext cx="91440" cy="4572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78308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24028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Text-only AUC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224028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0.9592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7432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Text-only 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274320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0.927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24612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Text-only FNR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324612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0.069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374904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Brier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374904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0.066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425196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ECE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425196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0.045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13 / 41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Late fusion over logits — 161 parameters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0080" y="1691640"/>
            <a:ext cx="10881360" cy="1097280"/>
          </a:xfrm>
          <a:prstGeom prst="rect">
            <a:avLst/>
          </a:prstGeom>
          <a:solidFill>
            <a:srgbClr val="FAF7F1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10881360" cy="45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56232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Late-fusion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88136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1F3A5F"/>
                </a:solidFill>
                <a:latin typeface="Cambria Math"/>
              </a:rPr>
              <a:t>p̂(x) = σ( MLP_{16}( [ ℓ_v(x),  ℓ_t(x),  flag_undecodable ] ) 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08960"/>
            <a:ext cx="53492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108960"/>
            <a:ext cx="5349240" cy="54864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4612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WHAT IT DOES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61188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Combines visual logit and text logit with explicit awareness of decode failure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Architecture: 3 → 16 → 1 = 161 parameters, ReLU + linear, no normalization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Trained on cached logits with focal loss (γ=2, α=0.5), 20 epochs, AdamW lr 1e-3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Converges in &lt;1 minute on cached features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108960"/>
            <a:ext cx="53492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108960"/>
            <a:ext cx="5349240" cy="54864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24612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WHY IT WORKS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61188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When decode succeeds: text logit is dominant (text branch is the strongest single signal)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When decode fails: flag → 1, fusion learns to trust visual logit more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Calibration metrics improve 3× over visual alone (Brier 0.054 vs 0.146)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Fusion AUC 0.9749 vs text-alone 0.9592 — visual contributes +1.57 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14 / 41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45720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522A"/>
                </a:solidFill>
                <a:latin typeface="Calibri"/>
              </a:rPr>
              <a:t>PART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Theory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1005840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CFD8E5"/>
                </a:solidFill>
                <a:latin typeface="Calibri"/>
              </a:rPr>
              <a:t>Three formulas: problem formulation,</a:t>
            </a:r>
          </a:p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CFD8E5"/>
                </a:solidFill>
                <a:latin typeface="Calibri"/>
              </a:rPr>
              <a:t>contrastive loss (Phase 1), focal loss (Phase 2 + fusion).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THEORETICAL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Problem formulation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6916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41B29"/>
                </a:solidFill>
                <a:latin typeface="Calibri"/>
              </a:rPr>
              <a:t>Goal · Classify a grayscale QR image x as benign or phishing.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2468880"/>
            <a:ext cx="7589520" cy="1280160"/>
          </a:xfrm>
          <a:prstGeom prst="rect">
            <a:avLst/>
          </a:prstGeom>
          <a:solidFill>
            <a:srgbClr val="FAF7F1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0" y="2468880"/>
            <a:ext cx="7589520" cy="45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2633472"/>
            <a:ext cx="75895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Equation (1) — composition of embedding and classifier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971800"/>
            <a:ext cx="758952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 i="1">
                <a:solidFill>
                  <a:srgbClr val="1F3A5F"/>
                </a:solidFill>
                <a:latin typeface="Cambria Math"/>
              </a:rPr>
              <a:t>f_θ(x) = σ( g_φ ∘ h_ψ (x)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1480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COMPONENTS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>
                <a:solidFill>
                  <a:srgbClr val="141B29"/>
                </a:solidFill>
                <a:latin typeface="Calibri"/>
              </a:rPr>
              <a:t>—  h_ψ : ℝ^(H×W) → ℝ^d  ·  convolutional embedding (visual MobileNetV2 backbone)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>
                <a:solidFill>
                  <a:srgbClr val="141B29"/>
                </a:solidFill>
                <a:latin typeface="Calibri"/>
              </a:rPr>
              <a:t>—  g_φ : ℝ^d → ℝ        ·  classification head producing a logit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>
                <a:solidFill>
                  <a:srgbClr val="141B29"/>
                </a:solidFill>
                <a:latin typeface="Calibri"/>
              </a:rPr>
              <a:t>—  σ : ℝ → [0, 1]       ·  sigmoid nonlinearity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>
                <a:solidFill>
                  <a:srgbClr val="141B29"/>
                </a:solidFill>
                <a:latin typeface="Calibri"/>
              </a:rPr>
              <a:t>—  For multimodal: a parallel text branch produces ℓ_t, and the fusion combines [ℓ_v, ℓ_t, flag] → final probability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16 / 41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PHASE 1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Contrastive Loss · Chopra, Hadsell, LeCun (2005)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914400" y="1691640"/>
            <a:ext cx="10332720" cy="1280160"/>
          </a:xfrm>
          <a:prstGeom prst="rect">
            <a:avLst/>
          </a:prstGeom>
          <a:solidFill>
            <a:srgbClr val="FAF7F1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691640"/>
            <a:ext cx="10332720" cy="45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10332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Equation (2) — pairwise contrastive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1033272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1">
                <a:solidFill>
                  <a:srgbClr val="1F3A5F"/>
                </a:solidFill>
                <a:latin typeface="Cambria Math"/>
              </a:rPr>
              <a:t>L_con(e₁, e₂, y) = (1−y) · d² / 2  +  y · max(0, m − d)² /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00400"/>
            <a:ext cx="53492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3756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WHERE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03320"/>
            <a:ext cx="49377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>
                <a:solidFill>
                  <a:srgbClr val="141B29"/>
                </a:solidFill>
                <a:latin typeface="Calibri"/>
              </a:rPr>
              <a:t>—  d = ‖e₁ − e₂‖₂ (euclidean distance)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>
                <a:solidFill>
                  <a:srgbClr val="141B29"/>
                </a:solidFill>
                <a:latin typeface="Calibri"/>
              </a:rPr>
              <a:t>—  y = 0 same class · y = 1 different class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>
                <a:solidFill>
                  <a:srgbClr val="141B29"/>
                </a:solidFill>
                <a:latin typeface="Calibri"/>
              </a:rPr>
              <a:t>—  m = 1.5 — margin (grid-searched)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3200400"/>
            <a:ext cx="53492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33756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INTUITION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703320"/>
            <a:ext cx="49377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>
                <a:solidFill>
                  <a:srgbClr val="141B29"/>
                </a:solidFill>
                <a:latin typeface="Calibri"/>
              </a:rPr>
              <a:t>—  Same-class pairs ⇒ d² / 2 pulls embeddings together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>
                <a:solidFill>
                  <a:srgbClr val="141B29"/>
                </a:solidFill>
                <a:latin typeface="Calibri"/>
              </a:rPr>
              <a:t>—  Different-class pairs ⇒ max(0, m − d)² / 2 pushes apart until d ≥ m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>
                <a:solidFill>
                  <a:srgbClr val="141B29"/>
                </a:solidFill>
                <a:latin typeface="Calibri"/>
              </a:rPr>
              <a:t>—  Result: inter/intra ratio = 1.94 in our embedding space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17 / 41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PHASE 2 VISUAL + 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Focal Loss · Lin, Goyal, Girshick, He, Dollár (2017)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828800" y="1691640"/>
            <a:ext cx="8503920" cy="1280160"/>
          </a:xfrm>
          <a:prstGeom prst="rect">
            <a:avLst/>
          </a:prstGeom>
          <a:solidFill>
            <a:srgbClr val="FAF7F1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0" y="1691640"/>
            <a:ext cx="8503920" cy="45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1856232"/>
            <a:ext cx="85039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Equation (3) — focuses gradient on hard examples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94560"/>
            <a:ext cx="850392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 i="1">
                <a:solidFill>
                  <a:srgbClr val="1F3A5F"/>
                </a:solidFill>
                <a:latin typeface="Cambria Math"/>
              </a:rPr>
              <a:t>L_focal(p, y) = − α_y · (1 − p_y)^γ · log p_y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00400"/>
            <a:ext cx="53492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3756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PARAMETERS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03320"/>
            <a:ext cx="49377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>
                <a:solidFill>
                  <a:srgbClr val="141B29"/>
                </a:solidFill>
                <a:latin typeface="Calibri"/>
              </a:rPr>
              <a:t>—  p_y — predicted probability of true class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>
                <a:solidFill>
                  <a:srgbClr val="141B29"/>
                </a:solidFill>
                <a:latin typeface="Calibri"/>
              </a:rPr>
              <a:t>—  α = 0.5 — balanced class weight after sampling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>
                <a:solidFill>
                  <a:srgbClr val="141B29"/>
                </a:solidFill>
                <a:latin typeface="Calibri"/>
              </a:rPr>
              <a:t>—  γ = 2 — down-weights easy examples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3200400"/>
            <a:ext cx="53492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33756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WHY IT MATTERS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703320"/>
            <a:ext cx="49377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>
                <a:solidFill>
                  <a:srgbClr val="141B29"/>
                </a:solidFill>
                <a:latin typeface="Calibri"/>
              </a:rPr>
              <a:t>—  Asymmetric cost — a missed phishing exposes the user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>
                <a:solidFill>
                  <a:srgbClr val="141B29"/>
                </a:solidFill>
                <a:latin typeface="Calibri"/>
              </a:rPr>
              <a:t>—  Replacing focal with BCE in visual head raises FNR 0.20 → 0.27 (+7 pp)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>
                <a:solidFill>
                  <a:srgbClr val="141B29"/>
                </a:solidFill>
                <a:latin typeface="Calibri"/>
              </a:rPr>
              <a:t>—  Used in both Phase 2 visual and the fusion head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18 / 41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45720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522A"/>
                </a:solidFill>
                <a:latin typeface="Calibri"/>
              </a:rPr>
              <a:t>PART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Experiments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1005840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CFD8E5"/>
                </a:solidFill>
                <a:latin typeface="Calibri"/>
              </a:rPr>
              <a:t>Datasets, validation protocol, iterations,</a:t>
            </a:r>
          </a:p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CFD8E5"/>
                </a:solidFill>
                <a:latin typeface="Calibri"/>
              </a:rPr>
              <a:t>and the reconciliation that produced honest numbers.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Two complementary corpora · joint evaluation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9164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Trad et al. (2025)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CIC Trap4Phish 2025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Total samples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9,987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1,005,738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Used in this work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9,987 (full)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100,000 (50k+50k stratified)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Format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Binary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Grayscale PNG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Native resolution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69 × 69 (fixed)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114 – 582 px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QR version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V13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V5 – V30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Decode rate (Q-Shield)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95.7%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6634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VALIDATION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All inputs normalized to 224 × 224 grayscale before the visual CNN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80/20 train/validation split per dataset, stratified by class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Combined val set: 21,998 samples — 11× larger than the largest prior evaluation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Random seed 42 for splits and CIC sampling — reproducible across ensemble seeds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20 / 41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ITERATION HISTORY &amp; RECONCILIATION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Honest research diary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9164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FNR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41B29"/>
                          </a:solidFill>
                          <a:latin typeface="Calibri"/>
                        </a:rPr>
                        <a:t>v1: Trad-only, dropout 0.3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0.886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0.81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0.21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Severe overfitting (30 pp gap)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41B29"/>
                          </a:solidFill>
                          <a:latin typeface="Calibri"/>
                        </a:rPr>
                        <a:t>v2: + CIC, rotation aug, dropout 0.5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0.868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0.27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Underfitting + rotation broke finder patterns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41B29"/>
                          </a:solidFill>
                          <a:latin typeface="Calibri"/>
                        </a:rPr>
                        <a:t>v3: dropout 0.35, no rotation, m=1.5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0.896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Below Trad SOTA by 1.71 pp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41B29"/>
                          </a:solidFill>
                          <a:latin typeface="Calibri"/>
                        </a:rPr>
                        <a:t>v3 + TTA + 2-seed ensemble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0.915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0.835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0.199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Visual-only ceiling — match Trad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41B29"/>
                          </a:solidFill>
                          <a:latin typeface="Calibri"/>
                        </a:rPr>
                        <a:t>Multimodal pivot · fusion (visual + text)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B29"/>
                          </a:solidFill>
                          <a:latin typeface="Calibri"/>
                        </a:rPr>
                        <a:t>0.9749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B29"/>
                          </a:solidFill>
                          <a:latin typeface="Calibri"/>
                        </a:rPr>
                        <a:t>0.936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B29"/>
                          </a:solidFill>
                          <a:latin typeface="Calibri"/>
                        </a:rPr>
                        <a:t>0.057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B29"/>
                          </a:solidFill>
                          <a:latin typeface="Calibri"/>
                        </a:rPr>
                        <a:t>Headline: +6.16 pp over Trad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RECONCILIATION DURING THE PIVOT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949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Original ablation reported A1 = AUC 0.9254 — but the confusion matrix mathematically gave F1 0.821 and FNR 0.20, not 0.858 / 0.166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Re-evaluated on the full 21,998 set: real visual single-seed AUC = 0.8962. The 0.9254 came from a subset evaluation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Honest baseline (0.8962) became the foundation for the multimodal pivot — every paper number is now traceable to a script in the repo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21 / 41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45720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522A"/>
                </a:solidFill>
                <a:latin typeface="Calibri"/>
              </a:rPr>
              <a:t>PART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1005840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CFD8E5"/>
                </a:solidFill>
                <a:latin typeface="Calibri"/>
              </a:rPr>
              <a:t>Headline AUC 0.9749, branch comparison,</a:t>
            </a:r>
          </a:p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CFD8E5"/>
                </a:solidFill>
                <a:latin typeface="Calibri"/>
              </a:rPr>
              <a:t>ablation, cross-dataset, threshold trade-off.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36576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522A"/>
                </a:solidFill>
                <a:latin typeface="Calibri"/>
              </a:rPr>
              <a:t>HEADLINE RESULT · n = 21,998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CFD8E5"/>
                </a:solidFill>
                <a:latin typeface="Calibri"/>
              </a:rPr>
              <a:t>Q-Shield multimodal fusion (visual + DistilBERT URL)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1051560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800" b="1" i="0">
                <a:solidFill>
                  <a:srgbClr val="FFFFFF"/>
                </a:solidFill>
                <a:latin typeface="Calibri"/>
              </a:rPr>
              <a:t>AUC  0.9749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CFD8E5"/>
                </a:solidFill>
                <a:latin typeface="Calibri"/>
              </a:rPr>
              <a:t>+6.16 pp over Trad et al. (0.9133)  ·  on a benchmark 11× larger and visually heterogeneous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212080"/>
            <a:ext cx="2606040" cy="1005840"/>
          </a:xfrm>
          <a:prstGeom prst="rect">
            <a:avLst/>
          </a:prstGeom>
          <a:solidFill>
            <a:srgbClr val="2B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349240"/>
            <a:ext cx="2240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F1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623560"/>
            <a:ext cx="22402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0.936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5212080"/>
            <a:ext cx="2606040" cy="1005840"/>
          </a:xfrm>
          <a:prstGeom prst="rect">
            <a:avLst/>
          </a:prstGeom>
          <a:solidFill>
            <a:srgbClr val="2B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0" y="5349240"/>
            <a:ext cx="2240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5623560"/>
            <a:ext cx="22402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0.943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5212080"/>
            <a:ext cx="2606040" cy="1005840"/>
          </a:xfrm>
          <a:prstGeom prst="rect">
            <a:avLst/>
          </a:prstGeom>
          <a:solidFill>
            <a:srgbClr val="2B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5349240"/>
            <a:ext cx="2240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FNR (DEFAULT)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5623560"/>
            <a:ext cx="22402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0.057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560" y="5212080"/>
            <a:ext cx="2606040" cy="1005840"/>
          </a:xfrm>
          <a:prstGeom prst="rect">
            <a:avLst/>
          </a:prstGeom>
          <a:solidFill>
            <a:srgbClr val="2B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5349240"/>
            <a:ext cx="2240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ECE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5623560"/>
            <a:ext cx="22402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0.038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23 / 41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BRANCH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Visual / text / fusion · grouped bar chart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fig_branch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10881360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KEY OBSERVATIONS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179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141B29"/>
                </a:solidFill>
                <a:latin typeface="Calibri"/>
              </a:rPr>
              <a:t>—  Text alone already beats visual on every metric — confirms the URL-signal strength reported by CIC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141B29"/>
                </a:solidFill>
                <a:latin typeface="Calibri"/>
              </a:rPr>
              <a:t>—  Fusion beats text on every metric — visual contributes genuine signal, especially on calibration (1−ECE) and F1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24 / 41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MAIN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Combined validation set · n = 21,998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3385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  <a:gridCol w="1889760"/>
                <a:gridCol w="1889760"/>
                <a:gridCol w="1889760"/>
              </a:tblGrid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Prec.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FNR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Trad et al. (n=1,998, V13 only)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0.913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0.890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Q-Shield visual single seed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0.8962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0.844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0.798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0.821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0.202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Q-Shield visual ensemble + TTA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0.9146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0.872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0.801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0.835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0.199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Q-Shield text-only (DistilBERT)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0.9592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0.923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0.931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0.927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0.069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Q-Shield fusion (visual + text)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0.9749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0.928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0.943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0.936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0.057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TAKEAWAYS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949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Fusion exceeds Trad SOTA by +6.16 pp AUC on a benchmark 11× larger and visually heterogeneous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Fusion exceeds visual ensemble by +6.03 pp AUC and reduces FNR by 14.2 pp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Visual single-seed remains the operative signal whenever the QR cannot be decoded (4.3% of corpus)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25 / 41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DECISION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Confusion matrix and ROC · fusion configuration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fig_confusion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691640"/>
            <a:ext cx="9692640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READING THE FIGURE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179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141B29"/>
                </a:solidFill>
                <a:latin typeface="Calibri"/>
              </a:rPr>
              <a:t>—  CM at p=0.5: TN 10,201 · FP 800 · FN 623 · TP 10,374 → AUC = 0.9749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141B29"/>
                </a:solidFill>
                <a:latin typeface="Calibri"/>
              </a:rPr>
              <a:t>—  Default operating point already meets FNR ≤ 10% — calibration optional, not load-bearing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26 / 41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Visual single-seed (panel a, no TTA) — isolates architectural decisions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3385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712"/>
                <a:gridCol w="2267712"/>
                <a:gridCol w="2267712"/>
                <a:gridCol w="2267712"/>
                <a:gridCol w="2267712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Variant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FNR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Δ AUC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A1 · Full Q-Shield (single seed)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0.8962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0.821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0.202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A2 · No Siamese pretraining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0.8764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0.785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0.267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−0.020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A3 · BCE loss (no focal)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0.8771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0.786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0.271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−0.019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A4 · No frozen start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0.8810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0.801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0.230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−0.015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A5 · Small head (256→64→1)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0.8752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0.794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0.229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41B29"/>
                          </a:solidFill>
                          <a:latin typeface="Calibri"/>
                        </a:rPr>
                        <a:t>−0.021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6634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INTERPRETATION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Siamese pretraining (A2) is the largest single architectural contributor: −2 pp AUC, +6.5 pp FNR when removed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Focal loss (A3) barely changes AUC but lifts FNR by 7 pp — directly supports the security claim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TTA + ensemble (panel b) lift the visual to 0.9146; the multimodal pivot adds another 6 pp on top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27 / 41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CROSS-DATASET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Why combined training is methodologically required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3385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  <a:gridCol w="1889760"/>
                <a:gridCol w="1889760"/>
                <a:gridCol w="188976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Setup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FNR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Diagnosis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41B29"/>
                          </a:solidFill>
                          <a:latin typeface="Calibri"/>
                        </a:rPr>
                        <a:t>CV1 · Train CIC → Test Trad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0.7178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0.666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Classifier collapse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41B29"/>
                          </a:solidFill>
                          <a:latin typeface="Calibri"/>
                        </a:rPr>
                        <a:t>CV2 · Train Trad → Test CIC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0.5181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0.508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0.517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0.492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41B29"/>
                          </a:solidFill>
                          <a:latin typeface="Calibri"/>
                        </a:rPr>
                        <a:t>Near-random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41B29"/>
                          </a:solidFill>
                          <a:latin typeface="Calibri"/>
                        </a:rPr>
                        <a:t>CV3 · Combined (single seed)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B29"/>
                          </a:solidFill>
                          <a:latin typeface="Calibri"/>
                        </a:rPr>
                        <a:t>0.8962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B29"/>
                          </a:solidFill>
                          <a:latin typeface="Calibri"/>
                        </a:rPr>
                        <a:t>0.798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B29"/>
                          </a:solidFill>
                          <a:latin typeface="Calibri"/>
                        </a:rPr>
                        <a:t>0.821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B29"/>
                          </a:solidFill>
                          <a:latin typeface="Calibri"/>
                        </a:rPr>
                        <a:t>0.202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B29"/>
                          </a:solidFill>
                          <a:latin typeface="Calibri"/>
                        </a:rPr>
                        <a:t>Operative regime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INTERPRETATION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The two corpora differ at the pixel level beyond what augmentation can bridge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Single-corpus training does NOT generalize. Combining is not a convenience — it is required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Position this as domain-invariant learning (Ganin &amp; Lempitsky, 2015)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Implication: prior single-dataset AUCs (e.g., Trad 0.913 on V13 only) should be read as upper bounds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28 / 41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THRESHOLD CALIBRATION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Now optional — fusion meets the target at default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3385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  <a:gridCol w="1889760"/>
                <a:gridCol w="1889760"/>
                <a:gridCol w="188976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Operating point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Threshold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FNR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Visual default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0.500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0.860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0.818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0.182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0.839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Visual maximize F1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0.475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0.837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0.844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0.156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0.840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Visual FNR ≤ 0.10 (security target)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0.400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0.752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0.902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0.098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0.820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Fusion default — already below target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0.500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0.928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0.943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0.057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0.936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WHY THIS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Before pivot: FNR target met only after threshold sliding (0.50 → 0.40) on the visual model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After pivot: fusion meets ≤ 10% target at default threshold — calibration becomes a tool for the visual fallback regime, not a load-bearing claim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Visual fallback still uses the calibrated threshold when the QR cannot be decoded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29 / 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45720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522A"/>
                </a:solidFill>
                <a:latin typeface="Calibri"/>
              </a:rPr>
              <a:t>PART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Explainability &amp;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1005840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CFD8E5"/>
                </a:solidFill>
                <a:latin typeface="Calibri"/>
              </a:rPr>
              <a:t>Grad-CAM, SHAP, per-dataset validation,</a:t>
            </a:r>
          </a:p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CFD8E5"/>
                </a:solidFill>
                <a:latin typeface="Calibri"/>
              </a:rPr>
              <a:t>and inference-cost trade-offs.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Grad-CAM · spatial attention over the QR matrix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fig5_gradcam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6583680" cy="4937760"/>
          </a:xfrm>
          <a:prstGeom prst="rect">
            <a:avLst/>
          </a:prstGeom>
        </p:spPr>
      </p:pic>
      <p:pic>
        <p:nvPicPr>
          <p:cNvPr id="7" name="Picture 6" descr="fig6_gradcam_aggre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691640"/>
            <a:ext cx="4572000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0" y="384048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WHAT WE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420624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141B29"/>
                </a:solidFill>
                <a:latin typeface="Calibri"/>
              </a:rPr>
              <a:t>—  Finder patterns (3 corners) consistently dark — model ignores them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141B29"/>
                </a:solidFill>
                <a:latin typeface="Calibri"/>
              </a:rPr>
              <a:t>—  Attention concentrates on data-region modules — payload-encoded part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141B29"/>
                </a:solidFill>
                <a:latin typeface="Calibri"/>
              </a:rPr>
              <a:t>—  Aggregated: benign attention to the left, phishing to the center-right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141B29"/>
                </a:solidFill>
                <a:latin typeface="Calibri"/>
              </a:rPr>
              <a:t>—  Plausible cause: longer phishing URLs push more codewords to the right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31 / 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SHAP and embedding space · latent-level interpretability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fig8_shap_embed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5577840" cy="2926080"/>
          </a:xfrm>
          <a:prstGeom prst="rect">
            <a:avLst/>
          </a:prstGeom>
        </p:spPr>
      </p:pic>
      <p:pic>
        <p:nvPicPr>
          <p:cNvPr id="7" name="Picture 6" descr="fig7_embedding_distan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91640"/>
            <a:ext cx="557784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54880"/>
            <a:ext cx="5577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SHAP — TOP 20 OF 128 DIMS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74920"/>
            <a:ext cx="5577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141B29"/>
                </a:solidFill>
                <a:latin typeface="Calibri"/>
              </a:rPr>
              <a:t>—  Top dim |SHAP| ≈ 0.016, decaying smoothly to 0.005 at position 20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141B29"/>
                </a:solidFill>
                <a:latin typeface="Calibri"/>
              </a:rPr>
              <a:t>—  Remaining 108 dims contribute negligibly — embedding over-parameterized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141B29"/>
                </a:solidFill>
                <a:latin typeface="Calibri"/>
              </a:rPr>
              <a:t>—  Pruning to 32–64 dims would likely preserve performance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754880"/>
            <a:ext cx="5577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PAIRWISE DISTANCES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5074920"/>
            <a:ext cx="5577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141B29"/>
                </a:solidFill>
                <a:latin typeface="Calibri"/>
              </a:rPr>
              <a:t>—  Benign-Benign 0.501 · Phish-Phish 0.458 · Benign-Phish 0.928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141B29"/>
                </a:solidFill>
                <a:latin typeface="Calibri"/>
              </a:rPr>
              <a:t>—  Inter/intra ratio = 1.94 — contrastive training works as intended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141B29"/>
                </a:solidFill>
                <a:latin typeface="Calibri"/>
              </a:rPr>
              <a:t>—  Phishing cluster TIGHTER than benign — URLs share structural regularities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32 / 41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Per-dataset Grad-CAM · ruling out artifacts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fig_gradcam_per_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7498079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3816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THE CONCERN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2057400"/>
            <a:ext cx="365760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141B29"/>
                </a:solidFill>
                <a:latin typeface="Calibri"/>
              </a:rPr>
              <a:t>Could the L/R asymmetry be an artifact of mixing 69×69 binary Trad samples with antialiased CIC PNGs?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365760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THE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402336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141B29"/>
                </a:solidFill>
                <a:latin typeface="Calibri"/>
              </a:rPr>
              <a:t>—  Recompute class-averaged Grad-CAM SEPARATELY on Trad and CIC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141B29"/>
                </a:solidFill>
                <a:latin typeface="Calibri"/>
              </a:rPr>
              <a:t>—  Pixel-wise correlation r = 0.43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141B29"/>
                </a:solidFill>
                <a:latin typeface="Calibri"/>
              </a:rPr>
              <a:t>—  Right-side positive region in BOTH datasets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141B29"/>
                </a:solidFill>
                <a:latin typeface="Calibri"/>
              </a:rPr>
              <a:t>—  → real structural signal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33 / 41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INFERENCE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Mobile-deployable · configurable trade-off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9164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Disk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CPU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GPU (T4)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Visual single seed, no TTA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3.08 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12 MB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24.9 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6.0 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0.896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Visual single seed + TTA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3.08 M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12 MB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49.8 ms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12.0 ms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0.905</a:t>
                      </a:r>
                    </a:p>
                  </a:txBody>
                  <a:tcPr marL="73152" marR="73152" marT="36576" marB="36576">
                    <a:solidFill>
                      <a:srgbClr val="F1ECD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Visual ensemble + TTA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6.16 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24 MB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99.6 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24.0 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0.915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Fusion (visual + DistilBERT)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69.1 M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267 MB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~95 ms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~13 ms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0.975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48056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DEPLOYMENT 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&lt; 100 ms CPU keeps the fusion within the perceptual budget for interactive mobile applications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Fusion adds 0.06 AUC over visual ensemble for ~equivalent CPU cost (text branch is fast at seq 96)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For latency-critical or low-power deployments, single-seed visual offers a 0.08 AUC concession with 4× compute reduction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GPU throughput per single visual model on T4: 1,156 images/s (batch 32)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34 / 41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45720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522A"/>
                </a:solidFill>
                <a:latin typeface="Calibri"/>
              </a:rPr>
              <a:t>PART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1005840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CFD8E5"/>
                </a:solidFill>
                <a:latin typeface="Calibri"/>
              </a:rPr>
              <a:t>Limitations, future work, and the submission plan.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Stated explicitly in Section VI.B of the paper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91440" cy="5486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33832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3A5F"/>
                </a:solidFill>
                <a:latin typeface="Calibri"/>
              </a:rPr>
              <a:t>Visual fallback FNR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783080"/>
            <a:ext cx="7178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41B29"/>
                </a:solidFill>
                <a:latin typeface="Calibri"/>
              </a:rPr>
              <a:t>Visual single-seed FNR is 0.20 at default. Only matters when the QR fails to decode (4.3% of corpus).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04288"/>
            <a:ext cx="10881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304288"/>
            <a:ext cx="91440" cy="5486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395728"/>
            <a:ext cx="33832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3A5F"/>
                </a:solidFill>
                <a:latin typeface="Calibri"/>
              </a:rPr>
              <a:t>Phase-2 visual overfitting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395728"/>
            <a:ext cx="7178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41B29"/>
                </a:solidFill>
                <a:latin typeface="Calibri"/>
              </a:rPr>
              <a:t>Validation loss diverges after epoch 8. Early stopping selects the best checkpoint.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16936"/>
            <a:ext cx="10881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16936"/>
            <a:ext cx="91440" cy="5486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008376"/>
            <a:ext cx="33832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3A5F"/>
                </a:solidFill>
                <a:latin typeface="Calibri"/>
              </a:rPr>
              <a:t>Unverified URL overlap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008376"/>
            <a:ext cx="7178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41B29"/>
                </a:solidFill>
                <a:latin typeface="Calibri"/>
              </a:rPr>
              <a:t>Trad does not redistribute URL strings. Overlap with CIC unverified.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529584"/>
            <a:ext cx="10881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529584"/>
            <a:ext cx="91440" cy="5486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621024"/>
            <a:ext cx="33832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3A5F"/>
                </a:solidFill>
                <a:latin typeface="Calibri"/>
              </a:rPr>
              <a:t>Resolution-dependent perf.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621024"/>
            <a:ext cx="7178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41B29"/>
                </a:solidFill>
                <a:latin typeface="Calibri"/>
              </a:rPr>
              <a:t>Visual AUC drops to 0.844 on QRs &gt; 246 px — resize loses module detail.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142232"/>
            <a:ext cx="10881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42232"/>
            <a:ext cx="91440" cy="5486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233672"/>
            <a:ext cx="33832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3A5F"/>
                </a:solidFill>
                <a:latin typeface="Calibri"/>
              </a:rPr>
              <a:t>Probability calibration (visual)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233672"/>
            <a:ext cx="7178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41B29"/>
                </a:solidFill>
                <a:latin typeface="Calibri"/>
              </a:rPr>
              <a:t>Visual ECE 0.13 — fusion calibration is 3× better.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754880"/>
            <a:ext cx="10881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54880"/>
            <a:ext cx="91440" cy="5486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846320"/>
            <a:ext cx="33832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3A5F"/>
                </a:solidFill>
                <a:latin typeface="Calibri"/>
              </a:rPr>
              <a:t>Out-of-QR context not modeled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846320"/>
            <a:ext cx="7178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41B29"/>
                </a:solidFill>
                <a:latin typeface="Calibri"/>
              </a:rPr>
              <a:t>Email subject, sender metadata. Third branch is future work.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367528"/>
            <a:ext cx="10881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367528"/>
            <a:ext cx="91440" cy="5486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458968"/>
            <a:ext cx="33832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3A5F"/>
                </a:solidFill>
                <a:latin typeface="Calibri"/>
              </a:rPr>
              <a:t>Container-format stripping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458968"/>
            <a:ext cx="7178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41B29"/>
                </a:solidFill>
                <a:latin typeface="Calibri"/>
              </a:rPr>
              <a:t>PDF/SVG/DOCX containers normalized to PNG before visual CNN.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980176"/>
            <a:ext cx="10881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5980176"/>
            <a:ext cx="91440" cy="5486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071616"/>
            <a:ext cx="33832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3A5F"/>
                </a:solidFill>
                <a:latin typeface="Calibri"/>
              </a:rPr>
              <a:t>No adversarial evaluation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071616"/>
            <a:ext cx="7178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41B29"/>
                </a:solidFill>
                <a:latin typeface="Calibri"/>
              </a:rPr>
              <a:t>Module-level perturbations not yet tested.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36 / 41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Five extensions worth dedicated study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0080" y="1691640"/>
            <a:ext cx="10881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91440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01368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Surrounding-context branch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41B29"/>
                </a:solidFill>
                <a:latin typeface="Calibri"/>
              </a:rPr>
              <a:t>Third modality over the message context (email subject, SMS body, sender metadata). Most direct path to FNR &lt; 5%.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79192"/>
            <a:ext cx="10881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679192"/>
            <a:ext cx="91440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78892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Localized deployment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136392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41B29"/>
                </a:solidFill>
                <a:latin typeface="Calibri"/>
              </a:rPr>
              <a:t>Region-specific phishing campaigns: Yape (Peru), UPI (India), Pix (Brazil). Local data + lightweight fine-tuning.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666744"/>
            <a:ext cx="10881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666744"/>
            <a:ext cx="91440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776472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Multi-scale 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123944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41B29"/>
                </a:solidFill>
                <a:latin typeface="Calibri"/>
              </a:rPr>
              <a:t>Resolution-adaptive backbone or multiple input scales. Closes the gap on large QRs without inference cost.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54296"/>
            <a:ext cx="10881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654296"/>
            <a:ext cx="91440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764024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Adversarial robustness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111496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41B29"/>
                </a:solidFill>
                <a:latin typeface="Calibri"/>
              </a:rPr>
              <a:t>Module-level adversarial perturbations + adversarial training and randomized smoothing.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641848"/>
            <a:ext cx="10881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641848"/>
            <a:ext cx="91440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751576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Provenance-aware detection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6099048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41B29"/>
                </a:solidFill>
                <a:latin typeface="Calibri"/>
              </a:rPr>
              <a:t>Cryptographic signatures, merchant-ID validation, session tokens. See next slide for the Yape/BCP example.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37 / 41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FUTURE WORK ·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Provenance-aware detection · Yape and BCP, Peru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TWO QUESTIONS · TWO LAYERS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53492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5349240" cy="54864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3A5F"/>
                </a:solidFill>
                <a:latin typeface="Calibri"/>
              </a:rPr>
              <a:t>Q1 · Is the content malicious?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97480"/>
            <a:ext cx="493776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1B29"/>
                </a:solidFill>
                <a:latin typeface="Calibri"/>
              </a:rPr>
              <a:t>Solved by Q-Shield. The visual + URL branches inspect the QR pattern and content, flagging suspicious instances regardless of origin.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103120"/>
            <a:ext cx="53492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2103120"/>
            <a:ext cx="5349240" cy="54864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2402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3A5F"/>
                </a:solidFill>
                <a:latin typeface="Calibri"/>
              </a:rPr>
              <a:t>Q2 · Was it generated by the authorized source?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97480"/>
            <a:ext cx="493776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1B29"/>
                </a:solidFill>
                <a:latin typeface="Calibri"/>
              </a:rPr>
              <a:t>NOT solved. A content-valid QR placed at point-of-sale by an attacker (overlay, MITM, UI replacement) passes both Q-Shield branches.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WHAT A PROVENANCE LAYER LOOKS LIKE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377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Yape (Peru, by BCP) generates merchant QRs through an authenticated backend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Cryptographic signatures embedded in the QR payload + merchant-ID validation against the issuer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Session-bound tokens · geolocation or capture-device attestation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Q-Shield + provenance = orthogonal complementary layers, not competitors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38 / 41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SUBMISSION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Where to send Q-Shield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3385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Fit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IEEE Intercon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Strong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Latin-American audience aligns with Yape/BCP framing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IEEE LA-CCI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Strong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Latin-American Computational Intelligence; XAI + security focus</a:t>
                      </a:r>
                    </a:p>
                  </a:txBody>
                  <a:tcPr marL="73152" marR="73152" marT="36576" marB="36576">
                    <a:solidFill>
                      <a:srgbClr val="FFF1C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B29"/>
                          </a:solidFill>
                          <a:latin typeface="Calibri"/>
                        </a:rPr>
                        <a:t>IEEE TrustCom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Stretch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1B29"/>
                          </a:solidFill>
                          <a:latin typeface="Calibri"/>
                        </a:rPr>
                        <a:t>Trust + security venue; broader cybersecurity context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522A"/>
                </a:solidFill>
                <a:latin typeface="Calibri"/>
              </a:rPr>
              <a:t>PRE-SUBMISSION CHECKLIST · ~1 HOUR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Recompile main.tex (3 passes) — verify all figures including the new fig_branch_comparison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Optional · add bootstrap CI on AUC at end of Main Results to formalize the +6.16 pp claim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Optional · expand SimCLR vs supervised contrastive distinction in the Phase 1 section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Final visual check of PDF: confusion-matrix figure shows fusion CM, ablation table footnotes correct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41B29"/>
                </a:solidFill>
                <a:latin typeface="Calibri"/>
              </a:rPr>
              <a:t>—  Verify authors list, ORCID, abstract length, IEEE PDF Express compliance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Part 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39 / 41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522A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Q-Shield in one slide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25880"/>
            <a:ext cx="108813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>
                <a:solidFill>
                  <a:srgbClr val="141B29"/>
                </a:solidFill>
                <a:latin typeface="Calibri"/>
              </a:rPr>
              <a:t>—  First end-to-end multimodal QR phishing detector — visual Siamese + DistilBERT URL + late fusion with explicit undecodability flag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>
                <a:solidFill>
                  <a:srgbClr val="141B29"/>
                </a:solidFill>
                <a:latin typeface="Calibri"/>
              </a:rPr>
              <a:t>—  21,998-sample heterogeneous benchmark (Trad + CIC), 11× larger than prior evaluations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>
                <a:solidFill>
                  <a:srgbClr val="141B29"/>
                </a:solidFill>
                <a:latin typeface="Calibri"/>
              </a:rPr>
              <a:t>—  Fusion AUC 0.9749, F1 0.936, FNR 0.057 — exceeds Trad SOTA 0.9133 by +6.16 pp on a harder benchmark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>
                <a:solidFill>
                  <a:srgbClr val="141B29"/>
                </a:solidFill>
                <a:latin typeface="Calibri"/>
              </a:rPr>
              <a:t>—  Default-threshold FNR already meets ≤ 10% security tolerance — calibration becomes optional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>
                <a:solidFill>
                  <a:srgbClr val="141B29"/>
                </a:solidFill>
                <a:latin typeface="Calibri"/>
              </a:rPr>
              <a:t>—  Visual ensemble 0.9146 remains as graceful fallback when QRs cannot be decoded (4.3% of corpus)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>
                <a:solidFill>
                  <a:srgbClr val="141B29"/>
                </a:solidFill>
                <a:latin typeface="Calibri"/>
              </a:rPr>
              <a:t>—  Calibration metrics improve 3× over visual alone (Brier 0.054, ECE 0.038)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>
                <a:solidFill>
                  <a:srgbClr val="141B29"/>
                </a:solidFill>
                <a:latin typeface="Calibri"/>
              </a:rPr>
              <a:t>—  Dual XAI (Grad-CAM + SHAP), validated cross-dataset (r = 0.43) — non-trivial structural signal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>
                <a:solidFill>
                  <a:srgbClr val="141B29"/>
                </a:solidFill>
                <a:latin typeface="Calibri"/>
              </a:rPr>
              <a:t>—  7 honest limitations · 5 concrete future-work directions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989320"/>
            <a:ext cx="1088136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88136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Status · ready for advisor review and IEEE Intercon / LA-CCI submission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762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Close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4465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8888"/>
                </a:solidFill>
                <a:latin typeface="Calibri"/>
              </a:rPr>
              <a:t>40 / 41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45720"/>
          </a:xfrm>
          <a:prstGeom prst="rect">
            <a:avLst/>
          </a:prstGeom>
          <a:solidFill>
            <a:srgbClr val="C95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0" b="1" i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0"/>
            <a:ext cx="10545775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CFD8E5"/>
                </a:solidFill>
                <a:latin typeface="Calibri"/>
              </a:rPr>
              <a:t>Questions, feedback, and design directions are welcome.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45775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Nicolás Alejandro Llerena Silva  ·  UTEC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486400"/>
            <a:ext cx="10545775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CFD8E5"/>
                </a:solidFill>
                <a:latin typeface="Calibri"/>
              </a:rPr>
              <a:t>Advisor · Aurea Soriano-Vargas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