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Permanent Marker" panose="020B0604020202020204" charset="0"/>
      <p:regular r:id="rId34"/>
    </p:embeddedFont>
    <p:embeddedFont>
      <p:font typeface="Quattrocento Sans" panose="020B0502050000020003" pitchFamily="34" charset="0"/>
      <p:regular r:id="rId35"/>
      <p:bold r:id="rId36"/>
      <p:italic r:id="rId37"/>
      <p:boldItalic r:id="rId38"/>
    </p:embeddedFont>
    <p:embeddedFont>
      <p:font typeface="Space Grotesk"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9A5B64-9FF6-42D4-9211-59C02424501C}">
  <a:tblStyle styleId="{699A5B64-9FF6-42D4-9211-59C02424501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Buenos días. Voy a presentar Q-Shield, un framework multimodal y explicable para detectar phishing en códigos QR. Trabajo conjunto con Rensso Mora-Colque y Aurea Soriano-Vargas, en UTEC, Lima.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Tres razones por las que el QR es un vector casi perfecto de ingeniería social: es opaco al ojo humano, se activa con un solo gesto sin previsualización, y aparece en contextos que el usuario ya considera legítimos. Y el remate: el 4.3% de los QR reales ni siquiera decodifican, así que las defensas basadas en URL no tienen nada que leer.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Empecemos por la motivación.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Cuatro datos. Phishing sigue siendo el vector líder de acceso inicial; el costo por incidente está en millones; el quishing es tan efectivo como el phishing tradicional pero más difícil de detectar; y en nuestro corpus el 4.3% de los QR no decodifica. Las dos familias de defensas existentes cubren cada una solo la mitad del problema.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Pausa. Esta frase resume el problema y justifica por qué hacen falta las dos ramas.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Pasemos al planteamiento del problema.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El campo se ha dividido en dos ramas que se tratan como excluyentes. La basada en URL es muy precisa pero necesita decodificar. La visual siempre está disponible pero rinde menos en corpus heterogéneos. Tratarlas como alternativas descarta información en ambas direcciones. De ahí las tres preguntas abiertas que responde este trabajo.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 literatura se organiza en cinco direcciones. Ninguna cierra la costura: los trabajos multimodales existentes tratan las ramas visual y de URL como líneas base paralelas, no como un solo pipeline de dos etapas, y no modelan explícitamente la distinción operativa entre pre-decode y post-decode.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Nuestras contribuciones.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 idea central: un solo detector que cubre los dos regímenes del pipeline de escaneo. Cuatro contribuciones: la fusión de dos etapas con flag explícito, el benchmark heterogéneo, la evidencia cross-dataset, y la explicabilidad de doble capa.</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Vamos a la metodología.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El QR entra, se preprocesa y se enruta por dos ramas paralelas. La rama visual trabaja sobre la imagen sin decodificar. La rama de texto decodifica localmente con pyzbar y analiza la URL con DistilBERT. Los dos logits, más un flag de éxito de decodificación, entran a un módulo de fusión tardía que produce la probabilidad final. Grad-CAM y SHAP actúan sobre la rama visual.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 rama visual se entrena en dos fases. Primero, preentrenamiento contrastivo tipo Siamese que estructura el espacio latente. Segundo, fine-tuning supervisado con focal loss, congelando el backbone las primeras cinco épocas. El checkpoint se elige por early stopping en la época 8, donde coinciden el mínimo de val loss y el máximo de val AUC: esa es justamente la mitigación del sobreajuste leve que señaló un revisor. En inferencia, TTA de flip horizontal y ensemble de dos semillas suben el AUC de 0.8962 a 0.9146.</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La rama de texto decodifica en local con pyzbar: no hay llamada de red, ni resolución DNS, ni fetch de la URL. Cuando falla la decodificación, el ejemplo se mapea a un token centinela UNDECODABLE, así el modelo aprende el propio fallo como característica. El módulo de fusión es un MLP de 3 a 16 a 1: 81 parámetros entrenables, entrenado sobre logits cacheados con las dos ramas congeladas, converge en menos de un minuto en CPU. Esta es la slide que responde al revisor que pedía describir la fusión.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Configuración experimental.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Elegimos dos corpus deliberadamente distintos. Trad: matrices binarias 69 por 69, versión V13, homogéneo y controlado. CIC-Trap4Phish: más de un millón de imágenes reales, resolución variable de 114 a 582 píxeles, versiones V5 a V30. El decodificador offline recupera cadena en el 100% de Trad pero solo en el 95.7% de CIC. Ese 4.3% restante es precisamente donde la rama visual es la única señal.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Resultados.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Primer experimento: la rama visual aislada, que representa el fallback cuando la decodificación falla. La mejor configuración alcanza AUC 0.9146 y FNR 0.199, igualando el estado del arte visual de Trad sobre un benchmark once veces más grande y visualmente heterogéneo. Insisto: esto es el piso del sistema, no el punto de operación.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El modelo fusionado alcanza AUC 0.9749, F1 0.936 y FNR 0.057: 7.87 puntos porcentuales sobre la rama visual y una reducción de 3.5 veces en falsos negativos. Cumple el umbral de seguridad de FNR menor o igual a 0.10 sin necesidad de calibrar. Sobre la rama de texto sola la ganancia agregada es modesta, +0.0157 de AUC, pero está concentrada justo en el 4.3% no decodificable, que es el régimen operativamente crítico.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En la ablación, quitar el preentrenamiento Siamese es lo que más cuesta: el FNR sube de 0.202 a 0.267. Sustituir focal loss por entropía cruzada apenas mueve el AUC pero dispara el FNR a 0.271. En el cross-dataset, entrenar en un solo corpus no degrada: rompe. Trad a CIC cae a 0.52, prácticamente azar. CIC a Trad logra recall 1.0 sólo porque clasifica casi todo como phishing. El entrenamiento combinado restaura 0.896. Este es probablemente el hallazgo metodológico con más valor para la comunidad.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Para verificar que el modelo no está memorizando artefactos del dataset, combinamos Grad-CAM sobre la última capa convolucional con SHAP sobre el embedding de 128 dimensiones. La atención se concentra en los patrones de alineación y en las transiciones de la región de datos, que es exactamente donde está la geometría del payload. Y los mapas de diferencia entre clases correlacionan con r igual a 0.43 entre dos corpus recolectados de forma independiente: son señales transferibles, no atajos.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Discusión: implicancias operativas.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En el fallback visual, un umbral de 0.40 alcanza FNR menor o igual a 0.10 sin reentrenar. El modelo fusionado ya cumple esa restricción al umbral por defecto, así que la calibración es una herramienta para el régimen no decodificable, no un requisito general. En costo: la configuración visual corre en 25 milisegundos por imagen en CPU y la multimodal en unos 95, con 69.1 millones de parámetros. Todo dentro del presupuesto de interacción móvil.</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Limitaciones. Ser explícito aquí es lo que más valoraron los revisores.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Somos explícitos con las limitaciones. El FNR del fallback visual sigue en 0.199. Hay sobreajuste leve en la fase 2, controlado con early stopping. El rendimiento baja en QR de alta resolución, AUC 0.844 en el rango de 246 a 582 píxeles. Y la calibración de la rama visual es imperfecta. Q-Shield es una capa de defensa, no la defensa completa.</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Conclusiones.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Cierro con los tres objetivos que planteé en la introducción. Uno, alineación con el pipeline: la fusión baja el FNR de 0.202 a 0.057 y la rama visual sigue cubriendo el 4.3% que nunca decodifica. Dos, generalización: entrenar en un solo corpus colapsa a AUC 0.52; el entrenamiento combinado restaura 0.896. Tres, explicabilidad de doble capa: r igual a 0.43 entre corpus en Grad-CAM y ratio inter/intra de 1.94 en el embedding. Y el mensaje único: la fusión multimodal no es un refinamiento, es lo que convierte un detector de FNR 0.202 en uno de 0.057 sin perder el caso no decodificable.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Trabajo futuro.</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Cuatro direcciones. La primera, una tercera rama sobre el contexto del mensaje, es la que más pidieron los revisores. Después: entrenamiento multi-escala para cerrar la brecha en QR grandes, robustez adversarial, y adaptación regional a los ecosistemas de pago con QR de América Latina.</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Gracias. Quedo atento a sus preguntas.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Slide de cierre — dejarla proyectada durante el Q&amp;A.</a:t>
            </a:r>
          </a:p>
          <a:p>
            <a:endParaRPr/>
          </a:p>
          <a:p>
            <a:r>
              <a:t>Preguntas probables:</a:t>
            </a:r>
          </a:p>
          <a:p>
            <a:r>
              <a:t>· ¿Por qué el FNR visual sigue alto? → Es el fallback; con τ=0.40 baja a 0.098 sin reentrenar, y la fusión ya cumple al umbral por defecto.</a:t>
            </a:r>
          </a:p>
          <a:p>
            <a:r>
              <a:t>· ¿La fusión no es demasiado simple? → 161 parámetros a propósito: con las ramas congeladas el problema se reduce a clasificación en baja dimensión, y la fusión a nivel de logit expone la contribución de cada modalidad.</a:t>
            </a:r>
          </a:p>
          <a:p>
            <a:r>
              <a:t>· ¿Por qué no probaron feature-level fusion? → Se implementó (128+768+1 → 128 → 1) y se descartó: cuesta un forward completo por ambos backbones sin ganancia.</a:t>
            </a:r>
          </a:p>
          <a:p>
            <a:r>
              <a:t>· ¿Es seguro decodificar? → pyzbar es local y determinístico: sin red, sin DNS, sin fetch. Leer la cadena no es abrirla.</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
  <p:cSld name="TITLE_2">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a:stretch/>
        </p:blipFill>
        <p:spPr>
          <a:xfrm>
            <a:off x="0" y="0"/>
            <a:ext cx="9144003" cy="514350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1">
  <p:cSld name="CUSTOM_2_1">
    <p:spTree>
      <p:nvGrpSpPr>
        <p:cNvPr id="1" name="Shape 52"/>
        <p:cNvGrpSpPr/>
        <p:nvPr/>
      </p:nvGrpSpPr>
      <p:grpSpPr>
        <a:xfrm>
          <a:off x="0" y="0"/>
          <a:ext cx="0" cy="0"/>
          <a:chOff x="0" y="0"/>
          <a:chExt cx="0" cy="0"/>
        </a:xfrm>
      </p:grpSpPr>
      <p:pic>
        <p:nvPicPr>
          <p:cNvPr id="53" name="Google Shape;53;p14"/>
          <p:cNvPicPr preferRelativeResize="0"/>
          <p:nvPr/>
        </p:nvPicPr>
        <p:blipFill rotWithShape="1">
          <a:blip r:embed="rId2">
            <a:alphaModFix/>
          </a:blip>
          <a:srcRect/>
          <a:stretch/>
        </p:blipFill>
        <p:spPr>
          <a:xfrm>
            <a:off x="0" y="0"/>
            <a:ext cx="9144003" cy="5143504"/>
          </a:xfrm>
          <a:prstGeom prst="rect">
            <a:avLst/>
          </a:prstGeom>
          <a:noFill/>
          <a:ln>
            <a:noFill/>
          </a:ln>
        </p:spPr>
      </p:pic>
      <p:cxnSp>
        <p:nvCxnSpPr>
          <p:cNvPr id="54" name="Google Shape;54;p14"/>
          <p:cNvCxnSpPr/>
          <p:nvPr/>
        </p:nvCxnSpPr>
        <p:spPr>
          <a:xfrm>
            <a:off x="152406" y="4786319"/>
            <a:ext cx="2767800" cy="22800"/>
          </a:xfrm>
          <a:prstGeom prst="straightConnector1">
            <a:avLst/>
          </a:prstGeom>
          <a:noFill/>
          <a:ln w="9525" cap="flat" cmpd="sng">
            <a:solidFill>
              <a:schemeClr val="dk2"/>
            </a:solidFill>
            <a:prstDash val="solid"/>
            <a:round/>
            <a:headEnd type="none" w="med" len="med"/>
            <a:tailEnd type="none" w="med" len="med"/>
          </a:ln>
        </p:spPr>
      </p:cxnSp>
      <p:sp>
        <p:nvSpPr>
          <p:cNvPr id="55" name="Google Shape;55;p14"/>
          <p:cNvSpPr txBox="1"/>
          <p:nvPr/>
        </p:nvSpPr>
        <p:spPr>
          <a:xfrm>
            <a:off x="319931" y="4738406"/>
            <a:ext cx="8404500" cy="32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888888"/>
                </a:solidFill>
                <a:latin typeface="Space Grotesk"/>
                <a:ea typeface="Space Grotesk"/>
                <a:cs typeface="Space Grotesk"/>
                <a:sym typeface="Space Grotesk"/>
              </a:rPr>
              <a:t>Llerena et al. · IEEE LA-CCI 2026</a:t>
            </a:r>
            <a:endParaRPr sz="1200" b="1">
              <a:solidFill>
                <a:schemeClr val="dk1"/>
              </a:solidFill>
              <a:latin typeface="Quattrocento Sans"/>
              <a:ea typeface="Quattrocento Sans"/>
              <a:cs typeface="Quattrocento Sans"/>
              <a:sym typeface="Quattrocento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 1 1">
  <p:cSld name="4 1 (g3e8b0e76eb4_6_0)">
    <p:spTree>
      <p:nvGrpSpPr>
        <p:cNvPr id="1" name="Shape 5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1">
  <p:cSld name="CUSTOM_6_1">
    <p:spTree>
      <p:nvGrpSpPr>
        <p:cNvPr id="1" name="Shape 57"/>
        <p:cNvGrpSpPr/>
        <p:nvPr/>
      </p:nvGrpSpPr>
      <p:grpSpPr>
        <a:xfrm>
          <a:off x="0" y="0"/>
          <a:ext cx="0" cy="0"/>
          <a:chOff x="0" y="0"/>
          <a:chExt cx="0" cy="0"/>
        </a:xfrm>
      </p:grpSpPr>
      <p:pic>
        <p:nvPicPr>
          <p:cNvPr id="58" name="Google Shape;58;p16"/>
          <p:cNvPicPr preferRelativeResize="0"/>
          <p:nvPr/>
        </p:nvPicPr>
        <p:blipFill rotWithShape="1">
          <a:blip r:embed="rId2">
            <a:alphaModFix/>
          </a:blip>
          <a:srcRect/>
          <a:stretch/>
        </p:blipFill>
        <p:spPr>
          <a:xfrm>
            <a:off x="0" y="0"/>
            <a:ext cx="9144003" cy="5143504"/>
          </a:xfrm>
          <a:prstGeom prst="rect">
            <a:avLst/>
          </a:prstGeom>
          <a:noFill/>
          <a:ln>
            <a:noFill/>
          </a:ln>
        </p:spPr>
      </p:pic>
      <p:cxnSp>
        <p:nvCxnSpPr>
          <p:cNvPr id="59" name="Google Shape;59;p16"/>
          <p:cNvCxnSpPr/>
          <p:nvPr/>
        </p:nvCxnSpPr>
        <p:spPr>
          <a:xfrm>
            <a:off x="383100" y="2067400"/>
            <a:ext cx="3930000" cy="22200"/>
          </a:xfrm>
          <a:prstGeom prst="straightConnector1">
            <a:avLst/>
          </a:prstGeom>
          <a:noFill/>
          <a:ln w="28575" cap="flat" cmpd="sng">
            <a:solidFill>
              <a:schemeClr val="dk2"/>
            </a:solidFill>
            <a:prstDash val="solid"/>
            <a:round/>
            <a:headEnd type="none" w="med" len="med"/>
            <a:tailEnd type="none" w="med" len="med"/>
          </a:ln>
        </p:spPr>
      </p:cxnSp>
      <p:cxnSp>
        <p:nvCxnSpPr>
          <p:cNvPr id="60" name="Google Shape;60;p16"/>
          <p:cNvCxnSpPr/>
          <p:nvPr/>
        </p:nvCxnSpPr>
        <p:spPr>
          <a:xfrm>
            <a:off x="1229625" y="3005800"/>
            <a:ext cx="3930000" cy="22200"/>
          </a:xfrm>
          <a:prstGeom prst="straightConnector1">
            <a:avLst/>
          </a:prstGeom>
          <a:noFill/>
          <a:ln w="28575" cap="flat" cmpd="sng">
            <a:solidFill>
              <a:schemeClr val="dk2"/>
            </a:solidFill>
            <a:prstDash val="solid"/>
            <a:round/>
            <a:headEnd type="none" w="med" len="med"/>
            <a:tailEnd type="none" w="med" len="med"/>
          </a:ln>
        </p:spPr>
      </p:cxnSp>
      <p:sp>
        <p:nvSpPr>
          <p:cNvPr id="61" name="Google Shape;61;p16"/>
          <p:cNvSpPr txBox="1"/>
          <p:nvPr/>
        </p:nvSpPr>
        <p:spPr>
          <a:xfrm>
            <a:off x="745100" y="2139850"/>
            <a:ext cx="4162500" cy="81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100">
                <a:latin typeface="Permanent Marker"/>
                <a:ea typeface="Permanent Marker"/>
                <a:cs typeface="Permanent Marker"/>
                <a:sym typeface="Permanent Marker"/>
              </a:rPr>
              <a:t>Thank you!</a:t>
            </a:r>
            <a:endParaRPr sz="4100">
              <a:latin typeface="Permanent Marker"/>
              <a:ea typeface="Permanent Marker"/>
              <a:cs typeface="Permanent Marker"/>
              <a:sym typeface="Permanent Marker"/>
            </a:endParaRPr>
          </a:p>
        </p:txBody>
      </p:sp>
      <p:sp>
        <p:nvSpPr>
          <p:cNvPr id="62" name="Google Shape;62;p16"/>
          <p:cNvSpPr txBox="1"/>
          <p:nvPr/>
        </p:nvSpPr>
        <p:spPr>
          <a:xfrm>
            <a:off x="3937575" y="2996825"/>
            <a:ext cx="1642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ermanent Marker"/>
                <a:ea typeface="Permanent Marker"/>
                <a:cs typeface="Permanent Marker"/>
                <a:sym typeface="Permanent Marker"/>
              </a:rPr>
              <a:t>¡Gracias!</a:t>
            </a:r>
            <a:endParaRPr sz="2000">
              <a:latin typeface="Permanent Marker"/>
              <a:ea typeface="Permanent Marker"/>
              <a:cs typeface="Permanent Marker"/>
              <a:sym typeface="Permanent Marker"/>
            </a:endParaRPr>
          </a:p>
        </p:txBody>
      </p:sp>
      <p:sp>
        <p:nvSpPr>
          <p:cNvPr id="63" name="Google Shape;63;p16"/>
          <p:cNvSpPr txBox="1"/>
          <p:nvPr/>
        </p:nvSpPr>
        <p:spPr>
          <a:xfrm>
            <a:off x="1305825" y="3005800"/>
            <a:ext cx="1642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latin typeface="Permanent Marker"/>
                <a:ea typeface="Permanent Marker"/>
                <a:cs typeface="Permanent Marker"/>
                <a:sym typeface="Permanent Marker"/>
              </a:rPr>
              <a:t>OBRIGADO!</a:t>
            </a:r>
            <a:endParaRPr sz="1900">
              <a:latin typeface="Permanent Marker"/>
              <a:ea typeface="Permanent Marker"/>
              <a:cs typeface="Permanent Marker"/>
              <a:sym typeface="Permanent Marke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1170432"/>
            <a:ext cx="4663440" cy="1143000"/>
          </a:xfrm>
          <a:prstGeom prst="rect">
            <a:avLst/>
          </a:prstGeom>
          <a:noFill/>
        </p:spPr>
        <p:txBody>
          <a:bodyPr wrap="square" lIns="18288" tIns="0" rIns="18288" bIns="0" anchor="t">
            <a:spAutoFit/>
          </a:bodyPr>
          <a:lstStyle/>
          <a:p>
            <a:pPr algn="l">
              <a:lnSpc>
                <a:spcPct val="105000"/>
              </a:lnSpc>
              <a:spcAft>
                <a:spcPts val="200"/>
              </a:spcAft>
            </a:pPr>
            <a:r>
              <a:rPr sz="1700" b="1" i="0">
                <a:solidFill>
                  <a:srgbClr val="1A1A1A"/>
                </a:solidFill>
                <a:latin typeface="Space Grotesk"/>
              </a:rPr>
              <a:t>Q-Shield: An Explainable Multimodal Framework for QR Code Phishing (Quishing) Detection Using Siamese Visual and Offline URL Analysis</a:t>
            </a:r>
          </a:p>
        </p:txBody>
      </p:sp>
      <p:cxnSp>
        <p:nvCxnSpPr>
          <p:cNvPr id="3" name="Connector 2"/>
          <p:cNvCxnSpPr/>
          <p:nvPr/>
        </p:nvCxnSpPr>
        <p:spPr>
          <a:xfrm>
            <a:off x="612648" y="2523744"/>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2697480"/>
            <a:ext cx="4206240" cy="1463040"/>
          </a:xfrm>
          <a:prstGeom prst="rect">
            <a:avLst/>
          </a:prstGeom>
          <a:noFill/>
        </p:spPr>
        <p:txBody>
          <a:bodyPr wrap="square" lIns="18288" tIns="0" rIns="18288" bIns="0" anchor="t">
            <a:spAutoFit/>
          </a:bodyPr>
          <a:lstStyle/>
          <a:p>
            <a:pPr algn="l">
              <a:spcAft>
                <a:spcPts val="600"/>
              </a:spcAft>
            </a:pPr>
            <a:r>
              <a:rPr sz="1250" b="1" i="0">
                <a:solidFill>
                  <a:srgbClr val="00BFFF"/>
                </a:solidFill>
                <a:latin typeface="Space Grotesk"/>
              </a:rPr>
              <a:t>Nicolás Llerena  ·  Rensso Mora-Colque  ·  Aurea Soriano-Vargas</a:t>
            </a:r>
          </a:p>
          <a:p>
            <a:pPr algn="l">
              <a:spcAft>
                <a:spcPts val="600"/>
              </a:spcAft>
            </a:pPr>
            <a:r>
              <a:rPr sz="1250" b="1" i="0">
                <a:solidFill>
                  <a:srgbClr val="00BFFF"/>
                </a:solidFill>
                <a:latin typeface="Space Grotesk"/>
              </a:rPr>
              <a:t>Department of Computer Science, Universidad de Ingeniería y Tecnología (UTEC), Lima, Perú</a:t>
            </a:r>
          </a:p>
          <a:p>
            <a:pPr algn="l">
              <a:spcAft>
                <a:spcPts val="600"/>
              </a:spcAft>
            </a:pPr>
            <a:r>
              <a:rPr sz="1100" b="0" i="0">
                <a:solidFill>
                  <a:srgbClr val="595959"/>
                </a:solidFill>
                <a:latin typeface="Space Grotesk"/>
              </a:rPr>
              <a:t>IEEE LA-CCI 2026  ·  Paper 47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One scan, zero scrutiny</a:t>
            </a:r>
          </a:p>
        </p:txBody>
      </p:sp>
      <p:sp>
        <p:nvSpPr>
          <p:cNvPr id="3" name="TextBox 2"/>
          <p:cNvSpPr txBox="1"/>
          <p:nvPr/>
        </p:nvSpPr>
        <p:spPr>
          <a:xfrm>
            <a:off x="429768" y="786384"/>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Why a QR code is close to an ideal social-engineering vector</a:t>
            </a:r>
          </a:p>
        </p:txBody>
      </p:sp>
      <p:sp>
        <p:nvSpPr>
          <p:cNvPr id="4" name="Rounded Rectangle 3"/>
          <p:cNvSpPr/>
          <p:nvPr/>
        </p:nvSpPr>
        <p:spPr>
          <a:xfrm>
            <a:off x="429768" y="1170432"/>
            <a:ext cx="2615184" cy="1481328"/>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66928" y="1289304"/>
            <a:ext cx="2340864"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Visually opaque</a:t>
            </a:r>
          </a:p>
        </p:txBody>
      </p:sp>
      <p:sp>
        <p:nvSpPr>
          <p:cNvPr id="6" name="TextBox 5"/>
          <p:cNvSpPr txBox="1"/>
          <p:nvPr/>
        </p:nvSpPr>
        <p:spPr>
          <a:xfrm>
            <a:off x="566928" y="1609344"/>
            <a:ext cx="2340864" cy="932688"/>
          </a:xfrm>
          <a:prstGeom prst="rect">
            <a:avLst/>
          </a:prstGeom>
          <a:noFill/>
        </p:spPr>
        <p:txBody>
          <a:bodyPr wrap="square" lIns="18288" tIns="0" rIns="18288" bIns="0" anchor="t">
            <a:spAutoFit/>
          </a:bodyPr>
          <a:lstStyle/>
          <a:p>
            <a:pPr algn="l">
              <a:spcAft>
                <a:spcPts val="400"/>
              </a:spcAft>
            </a:pPr>
            <a:r>
              <a:rPr sz="950" b="0" i="0">
                <a:solidFill>
                  <a:srgbClr val="1A1A1A"/>
                </a:solidFill>
                <a:latin typeface="Space Grotesk"/>
              </a:rPr>
              <a:t>•  A human cannot read a QR code — trust is delegated entirely to the scanner</a:t>
            </a:r>
          </a:p>
        </p:txBody>
      </p:sp>
      <p:sp>
        <p:nvSpPr>
          <p:cNvPr id="7" name="Rounded Rectangle 6"/>
          <p:cNvSpPr/>
          <p:nvPr/>
        </p:nvSpPr>
        <p:spPr>
          <a:xfrm>
            <a:off x="3227832" y="1170432"/>
            <a:ext cx="2615184" cy="148132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364992" y="1289304"/>
            <a:ext cx="2340864"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One-gesture activation</a:t>
            </a:r>
          </a:p>
        </p:txBody>
      </p:sp>
      <p:sp>
        <p:nvSpPr>
          <p:cNvPr id="9" name="TextBox 8"/>
          <p:cNvSpPr txBox="1"/>
          <p:nvPr/>
        </p:nvSpPr>
        <p:spPr>
          <a:xfrm>
            <a:off x="3364992" y="1609344"/>
            <a:ext cx="2340864" cy="932688"/>
          </a:xfrm>
          <a:prstGeom prst="rect">
            <a:avLst/>
          </a:prstGeom>
          <a:noFill/>
        </p:spPr>
        <p:txBody>
          <a:bodyPr wrap="square" lIns="18288" tIns="0" rIns="18288" bIns="0" anchor="t">
            <a:spAutoFit/>
          </a:bodyPr>
          <a:lstStyle/>
          <a:p>
            <a:pPr algn="l">
              <a:spcAft>
                <a:spcPts val="400"/>
              </a:spcAft>
            </a:pPr>
            <a:r>
              <a:rPr sz="950" b="0" i="0">
                <a:solidFill>
                  <a:srgbClr val="1A1A1A"/>
                </a:solidFill>
                <a:latin typeface="Space Grotesk"/>
              </a:rPr>
              <a:t>•  Point and tap: no hover, no preview, no address bar to inspect first</a:t>
            </a:r>
          </a:p>
        </p:txBody>
      </p:sp>
      <p:sp>
        <p:nvSpPr>
          <p:cNvPr id="10" name="Rounded Rectangle 9"/>
          <p:cNvSpPr/>
          <p:nvPr/>
        </p:nvSpPr>
        <p:spPr>
          <a:xfrm>
            <a:off x="6025896" y="1170432"/>
            <a:ext cx="2615184" cy="148132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163056" y="1289304"/>
            <a:ext cx="2340864"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Borrowed trust</a:t>
            </a:r>
          </a:p>
        </p:txBody>
      </p:sp>
      <p:sp>
        <p:nvSpPr>
          <p:cNvPr id="12" name="TextBox 11"/>
          <p:cNvSpPr txBox="1"/>
          <p:nvPr/>
        </p:nvSpPr>
        <p:spPr>
          <a:xfrm>
            <a:off x="6163056" y="1609344"/>
            <a:ext cx="2340864" cy="932688"/>
          </a:xfrm>
          <a:prstGeom prst="rect">
            <a:avLst/>
          </a:prstGeom>
          <a:noFill/>
        </p:spPr>
        <p:txBody>
          <a:bodyPr wrap="square" lIns="18288" tIns="0" rIns="18288" bIns="0" anchor="t">
            <a:spAutoFit/>
          </a:bodyPr>
          <a:lstStyle/>
          <a:p>
            <a:pPr algn="l">
              <a:spcAft>
                <a:spcPts val="400"/>
              </a:spcAft>
            </a:pPr>
            <a:r>
              <a:rPr sz="950" b="0" i="0">
                <a:solidFill>
                  <a:srgbClr val="1A1A1A"/>
                </a:solidFill>
                <a:latin typeface="Space Grotesk"/>
              </a:rPr>
              <a:t>•  Menus, invoices, parking meters — contexts the user already trusts</a:t>
            </a:r>
          </a:p>
        </p:txBody>
      </p:sp>
      <p:sp>
        <p:nvSpPr>
          <p:cNvPr id="13" name="Rounded Rectangle 12"/>
          <p:cNvSpPr/>
          <p:nvPr/>
        </p:nvSpPr>
        <p:spPr>
          <a:xfrm>
            <a:off x="429768" y="2871216"/>
            <a:ext cx="8028431" cy="566928"/>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94360" y="2926080"/>
            <a:ext cx="7699247" cy="457200"/>
          </a:xfrm>
          <a:prstGeom prst="rect">
            <a:avLst/>
          </a:prstGeom>
          <a:noFill/>
        </p:spPr>
        <p:txBody>
          <a:bodyPr wrap="square" lIns="18288" tIns="0" rIns="18288" bIns="0" anchor="ctr">
            <a:spAutoFit/>
          </a:bodyPr>
          <a:lstStyle/>
          <a:p>
            <a:pPr algn="l">
              <a:spcAft>
                <a:spcPts val="200"/>
              </a:spcAft>
            </a:pPr>
            <a:r>
              <a:rPr sz="1100" b="1" i="0">
                <a:solidFill>
                  <a:srgbClr val="1A1A1A"/>
                </a:solidFill>
                <a:latin typeface="Space Grotesk"/>
              </a:rPr>
              <a:t>Phishing remains a leading initial-access vector, with per-incident breach costs in the millions — and quishing is as effective as email phishing while being harder to spot.</a:t>
            </a:r>
          </a:p>
        </p:txBody>
      </p:sp>
      <p:sp>
        <p:nvSpPr>
          <p:cNvPr id="15" name="TextBox 14"/>
          <p:cNvSpPr txBox="1"/>
          <p:nvPr/>
        </p:nvSpPr>
        <p:spPr>
          <a:xfrm>
            <a:off x="429768" y="3639312"/>
            <a:ext cx="8229600" cy="237744"/>
          </a:xfrm>
          <a:prstGeom prst="rect">
            <a:avLst/>
          </a:prstGeom>
          <a:noFill/>
        </p:spPr>
        <p:txBody>
          <a:bodyPr wrap="square" lIns="18288" tIns="0" rIns="18288" bIns="0" anchor="t">
            <a:spAutoFit/>
          </a:bodyPr>
          <a:lstStyle/>
          <a:p>
            <a:pPr algn="l">
              <a:spcAft>
                <a:spcPts val="200"/>
              </a:spcAft>
            </a:pPr>
            <a:r>
              <a:rPr sz="1100" b="1" i="0">
                <a:solidFill>
                  <a:srgbClr val="00BFFF"/>
                </a:solidFill>
                <a:latin typeface="Space Grotesk"/>
              </a:rPr>
              <a:t>And the defender's problem is worse than it looks</a:t>
            </a:r>
          </a:p>
        </p:txBody>
      </p:sp>
      <p:sp>
        <p:nvSpPr>
          <p:cNvPr id="16" name="TextBox 15"/>
          <p:cNvSpPr txBox="1"/>
          <p:nvPr/>
        </p:nvSpPr>
        <p:spPr>
          <a:xfrm>
            <a:off x="429768" y="3913632"/>
            <a:ext cx="8028431" cy="566928"/>
          </a:xfrm>
          <a:prstGeom prst="rect">
            <a:avLst/>
          </a:prstGeom>
          <a:noFill/>
        </p:spPr>
        <p:txBody>
          <a:bodyPr wrap="square" lIns="18288" tIns="0" rIns="18288" bIns="0" anchor="t">
            <a:spAutoFit/>
          </a:bodyPr>
          <a:lstStyle/>
          <a:p>
            <a:pPr algn="l">
              <a:spcAft>
                <a:spcPts val="200"/>
              </a:spcAft>
            </a:pPr>
            <a:r>
              <a:rPr sz="1100" b="0" i="0">
                <a:solidFill>
                  <a:srgbClr val="1A1A1A"/>
                </a:solidFill>
                <a:latin typeface="Space Grotesk"/>
              </a:rPr>
              <a:t>In our corpus, 4.3% of real-world QR codes never decode at all. For those, every URL-based defense — reputation, blocklists, secure scanners — has literally nothing to read.</a:t>
            </a:r>
          </a:p>
        </p:txBody>
      </p:sp>
      <p:sp>
        <p:nvSpPr>
          <p:cNvPr id="17" name="TextBox 16"/>
          <p:cNvSpPr txBox="1"/>
          <p:nvPr/>
        </p:nvSpPr>
        <p:spPr>
          <a:xfrm>
            <a:off x="384048" y="4443984"/>
            <a:ext cx="8001000" cy="182880"/>
          </a:xfrm>
          <a:prstGeom prst="rect">
            <a:avLst/>
          </a:prstGeom>
          <a:noFill/>
        </p:spPr>
        <p:txBody>
          <a:bodyPr wrap="square" lIns="18288" tIns="0" rIns="18288" bIns="0" anchor="t">
            <a:spAutoFit/>
          </a:bodyPr>
          <a:lstStyle/>
          <a:p>
            <a:pPr algn="l">
              <a:spcAft>
                <a:spcPts val="0"/>
              </a:spcAft>
            </a:pPr>
            <a:r>
              <a:rPr sz="700" b="0" i="0">
                <a:solidFill>
                  <a:srgbClr val="888888"/>
                </a:solidFill>
                <a:latin typeface="Space Grotesk"/>
              </a:rPr>
              <a:t>Sources: Verizon DBIR 2024 · IBM 2024 · Sharevski et al. 2022 · Geisler et al. 2024 · Weinz et al. 2025 · undecodable rate measured on CIC-Trap4Phish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Motivation</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Why does quishing detection matter?</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Motivation</a:t>
            </a:r>
          </a:p>
        </p:txBody>
      </p:sp>
      <p:sp>
        <p:nvSpPr>
          <p:cNvPr id="3" name="TextBox 2"/>
          <p:cNvSpPr txBox="1"/>
          <p:nvPr/>
        </p:nvSpPr>
        <p:spPr>
          <a:xfrm>
            <a:off x="429768" y="804672"/>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A fast-growing attack surface that existing defenses only half cover</a:t>
            </a:r>
          </a:p>
        </p:txBody>
      </p:sp>
      <p:sp>
        <p:nvSpPr>
          <p:cNvPr id="4" name="Rounded Rectangle 3"/>
          <p:cNvSpPr/>
          <p:nvPr/>
        </p:nvSpPr>
        <p:spPr>
          <a:xfrm>
            <a:off x="429768" y="1188720"/>
            <a:ext cx="1920240" cy="15727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21208" y="1280160"/>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Leading</a:t>
            </a:r>
          </a:p>
        </p:txBody>
      </p:sp>
      <p:sp>
        <p:nvSpPr>
          <p:cNvPr id="6" name="TextBox 5"/>
          <p:cNvSpPr txBox="1"/>
          <p:nvPr/>
        </p:nvSpPr>
        <p:spPr>
          <a:xfrm>
            <a:off x="502920" y="1664208"/>
            <a:ext cx="1773936"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Initial access vector</a:t>
            </a:r>
          </a:p>
        </p:txBody>
      </p:sp>
      <p:sp>
        <p:nvSpPr>
          <p:cNvPr id="7" name="TextBox 6"/>
          <p:cNvSpPr txBox="1"/>
          <p:nvPr/>
        </p:nvSpPr>
        <p:spPr>
          <a:xfrm>
            <a:off x="502920" y="1920240"/>
            <a:ext cx="1773936" cy="786384"/>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Phishing, across all delivery channels
Verizon DBIR 2024</a:t>
            </a:r>
          </a:p>
        </p:txBody>
      </p:sp>
      <p:sp>
        <p:nvSpPr>
          <p:cNvPr id="8" name="Rounded Rectangle 7"/>
          <p:cNvSpPr/>
          <p:nvPr/>
        </p:nvSpPr>
        <p:spPr>
          <a:xfrm>
            <a:off x="2496312" y="1188720"/>
            <a:ext cx="1920240" cy="15727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587752" y="1280160"/>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Millions</a:t>
            </a:r>
          </a:p>
        </p:txBody>
      </p:sp>
      <p:sp>
        <p:nvSpPr>
          <p:cNvPr id="10" name="TextBox 9"/>
          <p:cNvSpPr txBox="1"/>
          <p:nvPr/>
        </p:nvSpPr>
        <p:spPr>
          <a:xfrm>
            <a:off x="2569464" y="1664208"/>
            <a:ext cx="1773936"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Cost per incident</a:t>
            </a:r>
          </a:p>
        </p:txBody>
      </p:sp>
      <p:sp>
        <p:nvSpPr>
          <p:cNvPr id="11" name="TextBox 10"/>
          <p:cNvSpPr txBox="1"/>
          <p:nvPr/>
        </p:nvSpPr>
        <p:spPr>
          <a:xfrm>
            <a:off x="2569464" y="1920240"/>
            <a:ext cx="1773936" cy="786384"/>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Financial impact of phishing-driven
breaches · IBM 2024</a:t>
            </a:r>
          </a:p>
        </p:txBody>
      </p:sp>
      <p:sp>
        <p:nvSpPr>
          <p:cNvPr id="12" name="Rounded Rectangle 11"/>
          <p:cNvSpPr/>
          <p:nvPr/>
        </p:nvSpPr>
        <p:spPr>
          <a:xfrm>
            <a:off x="4562856" y="1188720"/>
            <a:ext cx="1920240" cy="15727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654296" y="1280160"/>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 e-mail</a:t>
            </a:r>
          </a:p>
        </p:txBody>
      </p:sp>
      <p:sp>
        <p:nvSpPr>
          <p:cNvPr id="14" name="TextBox 13"/>
          <p:cNvSpPr txBox="1"/>
          <p:nvPr/>
        </p:nvSpPr>
        <p:spPr>
          <a:xfrm>
            <a:off x="4636008" y="1664208"/>
            <a:ext cx="1773936"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Quishing effectiveness</a:t>
            </a:r>
          </a:p>
        </p:txBody>
      </p:sp>
      <p:sp>
        <p:nvSpPr>
          <p:cNvPr id="15" name="TextBox 14"/>
          <p:cNvSpPr txBox="1"/>
          <p:nvPr/>
        </p:nvSpPr>
        <p:spPr>
          <a:xfrm>
            <a:off x="4636008" y="1920240"/>
            <a:ext cx="1773936" cy="786384"/>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As effective as classic phishing and
harder for users to detect</a:t>
            </a:r>
          </a:p>
        </p:txBody>
      </p:sp>
      <p:sp>
        <p:nvSpPr>
          <p:cNvPr id="16" name="Rounded Rectangle 15"/>
          <p:cNvSpPr/>
          <p:nvPr/>
        </p:nvSpPr>
        <p:spPr>
          <a:xfrm>
            <a:off x="6629400" y="1188720"/>
            <a:ext cx="1920240" cy="1572768"/>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20840" y="1280160"/>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4.3 %</a:t>
            </a:r>
          </a:p>
        </p:txBody>
      </p:sp>
      <p:sp>
        <p:nvSpPr>
          <p:cNvPr id="18" name="TextBox 17"/>
          <p:cNvSpPr txBox="1"/>
          <p:nvPr/>
        </p:nvSpPr>
        <p:spPr>
          <a:xfrm>
            <a:off x="6702552" y="1664208"/>
            <a:ext cx="1773936"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Undecodable QR codes</a:t>
            </a:r>
          </a:p>
        </p:txBody>
      </p:sp>
      <p:sp>
        <p:nvSpPr>
          <p:cNvPr id="19" name="TextBox 18"/>
          <p:cNvSpPr txBox="1"/>
          <p:nvPr/>
        </p:nvSpPr>
        <p:spPr>
          <a:xfrm>
            <a:off x="6702552" y="1920240"/>
            <a:ext cx="1773936" cy="786384"/>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Where payload-based defenses
have nothing at all to analyze</a:t>
            </a:r>
          </a:p>
        </p:txBody>
      </p:sp>
      <p:sp>
        <p:nvSpPr>
          <p:cNvPr id="20" name="TextBox 19"/>
          <p:cNvSpPr txBox="1"/>
          <p:nvPr/>
        </p:nvSpPr>
        <p:spPr>
          <a:xfrm>
            <a:off x="429768" y="2999232"/>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The gap this creates</a:t>
            </a:r>
          </a:p>
        </p:txBody>
      </p:sp>
      <p:sp>
        <p:nvSpPr>
          <p:cNvPr id="21" name="Rounded Rectangle 20"/>
          <p:cNvSpPr/>
          <p:nvPr/>
        </p:nvSpPr>
        <p:spPr>
          <a:xfrm>
            <a:off x="429768" y="3291840"/>
            <a:ext cx="3950208" cy="11887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566928" y="3410712"/>
            <a:ext cx="3675888"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Decode the payload, then classify</a:t>
            </a:r>
          </a:p>
        </p:txBody>
      </p:sp>
      <p:sp>
        <p:nvSpPr>
          <p:cNvPr id="23" name="TextBox 22"/>
          <p:cNvSpPr txBox="1"/>
          <p:nvPr/>
        </p:nvSpPr>
        <p:spPr>
          <a:xfrm>
            <a:off x="566928" y="3730752"/>
            <a:ext cx="3675888" cy="640080"/>
          </a:xfrm>
          <a:prstGeom prst="rect">
            <a:avLst/>
          </a:prstGeom>
          <a:noFill/>
        </p:spPr>
        <p:txBody>
          <a:bodyPr wrap="square" lIns="18288" tIns="0" rIns="18288" bIns="0" anchor="t">
            <a:spAutoFit/>
          </a:bodyPr>
          <a:lstStyle/>
          <a:p>
            <a:pPr algn="l">
              <a:spcAft>
                <a:spcPts val="400"/>
              </a:spcAft>
            </a:pPr>
            <a:r>
              <a:rPr sz="950" b="0" i="0">
                <a:solidFill>
                  <a:srgbClr val="1A1A1A"/>
                </a:solidFill>
                <a:latin typeface="Space Grotesk"/>
              </a:rPr>
              <a:t>•  Near-perfect accuracy when the URL is recoverable</a:t>
            </a:r>
          </a:p>
          <a:p>
            <a:pPr algn="l">
              <a:spcAft>
                <a:spcPts val="400"/>
              </a:spcAft>
            </a:pPr>
            <a:r>
              <a:rPr sz="950" b="0" i="0">
                <a:solidFill>
                  <a:srgbClr val="1A1A1A"/>
                </a:solidFill>
                <a:latin typeface="Space Grotesk"/>
              </a:rPr>
              <a:t>•  Blind to damaged, obfuscated and non-URL payloads</a:t>
            </a:r>
          </a:p>
        </p:txBody>
      </p:sp>
      <p:sp>
        <p:nvSpPr>
          <p:cNvPr id="24" name="Rounded Rectangle 23"/>
          <p:cNvSpPr/>
          <p:nvPr/>
        </p:nvSpPr>
        <p:spPr>
          <a:xfrm>
            <a:off x="4507992" y="3291840"/>
            <a:ext cx="3950208" cy="11887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645152" y="3410712"/>
            <a:ext cx="3675888"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Classify the image, skip the payload</a:t>
            </a:r>
          </a:p>
        </p:txBody>
      </p:sp>
      <p:sp>
        <p:nvSpPr>
          <p:cNvPr id="26" name="TextBox 25"/>
          <p:cNvSpPr txBox="1"/>
          <p:nvPr/>
        </p:nvSpPr>
        <p:spPr>
          <a:xfrm>
            <a:off x="4645152" y="3730752"/>
            <a:ext cx="3675888" cy="640080"/>
          </a:xfrm>
          <a:prstGeom prst="rect">
            <a:avLst/>
          </a:prstGeom>
          <a:noFill/>
        </p:spPr>
        <p:txBody>
          <a:bodyPr wrap="square" lIns="18288" tIns="0" rIns="18288" bIns="0" anchor="t">
            <a:spAutoFit/>
          </a:bodyPr>
          <a:lstStyle/>
          <a:p>
            <a:pPr algn="l">
              <a:spcAft>
                <a:spcPts val="400"/>
              </a:spcAft>
            </a:pPr>
            <a:r>
              <a:rPr sz="950" b="0" i="0">
                <a:solidFill>
                  <a:srgbClr val="1A1A1A"/>
                </a:solidFill>
                <a:latin typeface="Space Grotesk"/>
              </a:rPr>
              <a:t>•  Always available, works before decoding</a:t>
            </a:r>
          </a:p>
          <a:p>
            <a:pPr algn="l">
              <a:spcAft>
                <a:spcPts val="400"/>
              </a:spcAft>
            </a:pPr>
            <a:r>
              <a:rPr sz="950" b="0" i="0">
                <a:solidFill>
                  <a:srgbClr val="1A1A1A"/>
                </a:solidFill>
                <a:latin typeface="Space Grotesk"/>
              </a:rPr>
              <a:t>•  Weaker on heterogeneous, real-world corpora</a:t>
            </a:r>
          </a:p>
        </p:txBody>
      </p:sp>
      <p:sp>
        <p:nvSpPr>
          <p:cNvPr id="27" name="TextBox 26"/>
          <p:cNvSpPr txBox="1"/>
          <p:nvPr/>
        </p:nvSpPr>
        <p:spPr>
          <a:xfrm>
            <a:off x="384048" y="4443984"/>
            <a:ext cx="8001000" cy="182880"/>
          </a:xfrm>
          <a:prstGeom prst="rect">
            <a:avLst/>
          </a:prstGeom>
          <a:noFill/>
        </p:spPr>
        <p:txBody>
          <a:bodyPr wrap="square" lIns="18288" tIns="0" rIns="18288" bIns="0" anchor="t">
            <a:spAutoFit/>
          </a:bodyPr>
          <a:lstStyle/>
          <a:p>
            <a:pPr algn="l">
              <a:spcAft>
                <a:spcPts val="0"/>
              </a:spcAft>
            </a:pPr>
            <a:r>
              <a:rPr sz="700" b="0" i="0">
                <a:solidFill>
                  <a:srgbClr val="888888"/>
                </a:solidFill>
                <a:latin typeface="Space Grotesk"/>
              </a:rPr>
              <a:t>Sources: Verizon DBIR 2024 · IBM 2024 · Weinz et al. 2025 · Geisler et al. 2024 · Trad &amp; Chehab 2025 · Nejati et al. 2026 (CIC-Trap4Phish)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17320" y="2011680"/>
            <a:ext cx="6309360" cy="1188720"/>
          </a:xfrm>
          <a:prstGeom prst="rect">
            <a:avLst/>
          </a:prstGeom>
          <a:noFill/>
        </p:spPr>
        <p:txBody>
          <a:bodyPr wrap="square" lIns="18288" tIns="0" rIns="18288" bIns="0" anchor="ctr">
            <a:spAutoFit/>
          </a:bodyPr>
          <a:lstStyle/>
          <a:p>
            <a:pPr algn="ctr">
              <a:lnSpc>
                <a:spcPct val="125000"/>
              </a:lnSpc>
              <a:spcAft>
                <a:spcPts val="200"/>
              </a:spcAft>
            </a:pPr>
            <a:r>
              <a:rPr sz="1800" b="1" i="0">
                <a:solidFill>
                  <a:srgbClr val="00BFFF"/>
                </a:solidFill>
                <a:latin typeface="Space Grotesk"/>
              </a:rPr>
              <a:t>“A QR code is a URL you cannot read —
and 4.3% of the time, neither can the scanner.”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Problem Statement</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What exactly is unsolved?</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Problem Statement</a:t>
            </a:r>
          </a:p>
        </p:txBody>
      </p:sp>
      <p:sp>
        <p:nvSpPr>
          <p:cNvPr id="3" name="TextBox 2"/>
          <p:cNvSpPr txBox="1"/>
          <p:nvPr/>
        </p:nvSpPr>
        <p:spPr>
          <a:xfrm>
            <a:off x="429768" y="786384"/>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Two families of defenses, each blind on the other's territory</a:t>
            </a:r>
          </a:p>
        </p:txBody>
      </p:sp>
      <p:sp>
        <p:nvSpPr>
          <p:cNvPr id="4" name="Rounded Rectangle 3"/>
          <p:cNvSpPr/>
          <p:nvPr/>
        </p:nvSpPr>
        <p:spPr>
          <a:xfrm>
            <a:off x="429768" y="1097280"/>
            <a:ext cx="3931920" cy="129844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66928" y="1216152"/>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POST-DECODE  ·  URL-based</a:t>
            </a:r>
          </a:p>
        </p:txBody>
      </p:sp>
      <p:sp>
        <p:nvSpPr>
          <p:cNvPr id="6" name="TextBox 5"/>
          <p:cNvSpPr txBox="1"/>
          <p:nvPr/>
        </p:nvSpPr>
        <p:spPr>
          <a:xfrm>
            <a:off x="566928" y="1536192"/>
            <a:ext cx="3657600" cy="749808"/>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Strong semantic signal from the decoded payload</a:t>
            </a:r>
          </a:p>
          <a:p>
            <a:pPr algn="l">
              <a:spcAft>
                <a:spcPts val="400"/>
              </a:spcAft>
            </a:pPr>
            <a:r>
              <a:rPr sz="900" b="0" i="0">
                <a:solidFill>
                  <a:srgbClr val="1A1A1A"/>
                </a:solidFill>
                <a:latin typeface="Space Grotesk"/>
              </a:rPr>
              <a:t>•  Requires decoding; URL-shaped payloads only</a:t>
            </a:r>
          </a:p>
          <a:p>
            <a:pPr algn="l">
              <a:spcAft>
                <a:spcPts val="400"/>
              </a:spcAft>
            </a:pPr>
            <a:r>
              <a:rPr sz="900" b="0" i="0">
                <a:solidFill>
                  <a:srgbClr val="1A1A1A"/>
                </a:solidFill>
                <a:latin typeface="Space Grotesk"/>
              </a:rPr>
              <a:t>•  Wi-Fi credentials, payment strings and damaged codes fall outside</a:t>
            </a:r>
          </a:p>
        </p:txBody>
      </p:sp>
      <p:sp>
        <p:nvSpPr>
          <p:cNvPr id="7" name="Rounded Rectangle 6"/>
          <p:cNvSpPr/>
          <p:nvPr/>
        </p:nvSpPr>
        <p:spPr>
          <a:xfrm>
            <a:off x="4526280" y="1097280"/>
            <a:ext cx="3931920" cy="129844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63440" y="1216152"/>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PRE-DECODE  ·  image-based</a:t>
            </a:r>
          </a:p>
        </p:txBody>
      </p:sp>
      <p:sp>
        <p:nvSpPr>
          <p:cNvPr id="9" name="TextBox 8"/>
          <p:cNvSpPr txBox="1"/>
          <p:nvPr/>
        </p:nvSpPr>
        <p:spPr>
          <a:xfrm>
            <a:off x="4663440" y="1536192"/>
            <a:ext cx="3657600" cy="749808"/>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Operates on the QR matrix, no decoding needed</a:t>
            </a:r>
          </a:p>
          <a:p>
            <a:pPr algn="l">
              <a:spcAft>
                <a:spcPts val="400"/>
              </a:spcAft>
            </a:pPr>
            <a:r>
              <a:rPr sz="900" b="0" i="0">
                <a:solidFill>
                  <a:srgbClr val="1A1A1A"/>
                </a:solidFill>
                <a:latin typeface="Space Grotesk"/>
              </a:rPr>
              <a:t>•  Available even when the payload cannot be recovered</a:t>
            </a:r>
          </a:p>
          <a:p>
            <a:pPr algn="l">
              <a:spcAft>
                <a:spcPts val="400"/>
              </a:spcAft>
            </a:pPr>
            <a:r>
              <a:rPr sz="900" b="0" i="0">
                <a:solidFill>
                  <a:srgbClr val="1A1A1A"/>
                </a:solidFill>
                <a:latin typeface="Space Grotesk"/>
              </a:rPr>
              <a:t>•  Performance lags behind payload methods on heterogeneous corpora</a:t>
            </a:r>
          </a:p>
        </p:txBody>
      </p:sp>
      <p:sp>
        <p:nvSpPr>
          <p:cNvPr id="10" name="Rounded Rectangle 9"/>
          <p:cNvSpPr/>
          <p:nvPr/>
        </p:nvSpPr>
        <p:spPr>
          <a:xfrm>
            <a:off x="429768" y="2505456"/>
            <a:ext cx="8028431" cy="457200"/>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94360" y="2560320"/>
            <a:ext cx="7699247" cy="347472"/>
          </a:xfrm>
          <a:prstGeom prst="rect">
            <a:avLst/>
          </a:prstGeom>
          <a:noFill/>
        </p:spPr>
        <p:txBody>
          <a:bodyPr wrap="square" lIns="18288" tIns="0" rIns="18288" bIns="0" anchor="ctr">
            <a:spAutoFit/>
          </a:bodyPr>
          <a:lstStyle/>
          <a:p>
            <a:pPr algn="l">
              <a:spcAft>
                <a:spcPts val="200"/>
              </a:spcAft>
            </a:pPr>
            <a:r>
              <a:rPr sz="1050" b="1" i="0">
                <a:solidFill>
                  <a:srgbClr val="1A1A1A"/>
                </a:solidFill>
                <a:latin typeface="Space Grotesk"/>
              </a:rPr>
              <a:t>Treated as alternatives, information is discarded in both directions — and no prior work evaluates generalization across independently collected corpora.</a:t>
            </a:r>
          </a:p>
        </p:txBody>
      </p:sp>
      <p:sp>
        <p:nvSpPr>
          <p:cNvPr id="12" name="TextBox 11"/>
          <p:cNvSpPr txBox="1"/>
          <p:nvPr/>
        </p:nvSpPr>
        <p:spPr>
          <a:xfrm>
            <a:off x="429768" y="3163824"/>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Three open questions this work answers</a:t>
            </a:r>
          </a:p>
        </p:txBody>
      </p:sp>
      <p:sp>
        <p:nvSpPr>
          <p:cNvPr id="13" name="Rounded Rectangle 12"/>
          <p:cNvSpPr/>
          <p:nvPr/>
        </p:nvSpPr>
        <p:spPr>
          <a:xfrm>
            <a:off x="429768" y="3456432"/>
            <a:ext cx="2615184" cy="100584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57784" y="3566160"/>
            <a:ext cx="2359152" cy="402336"/>
          </a:xfrm>
          <a:prstGeom prst="rect">
            <a:avLst/>
          </a:prstGeom>
          <a:noFill/>
        </p:spPr>
        <p:txBody>
          <a:bodyPr wrap="square" lIns="18288" tIns="0" rIns="18288" bIns="0" anchor="t">
            <a:spAutoFit/>
          </a:bodyPr>
          <a:lstStyle/>
          <a:p>
            <a:pPr algn="l">
              <a:spcAft>
                <a:spcPts val="200"/>
              </a:spcAft>
            </a:pPr>
            <a:r>
              <a:rPr sz="1000" b="1" i="0">
                <a:solidFill>
                  <a:srgbClr val="1A1A1A"/>
                </a:solidFill>
                <a:latin typeface="Space Grotesk"/>
              </a:rPr>
              <a:t>Can both signals live in one detector?</a:t>
            </a:r>
          </a:p>
        </p:txBody>
      </p:sp>
      <p:sp>
        <p:nvSpPr>
          <p:cNvPr id="15" name="TextBox 14"/>
          <p:cNvSpPr txBox="1"/>
          <p:nvPr/>
        </p:nvSpPr>
        <p:spPr>
          <a:xfrm>
            <a:off x="557784" y="3986784"/>
            <a:ext cx="2359152" cy="402336"/>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Late fusion over logits, with an explicit undecodability flag</a:t>
            </a:r>
          </a:p>
        </p:txBody>
      </p:sp>
      <p:sp>
        <p:nvSpPr>
          <p:cNvPr id="16" name="Rounded Rectangle 15"/>
          <p:cNvSpPr/>
          <p:nvPr/>
        </p:nvSpPr>
        <p:spPr>
          <a:xfrm>
            <a:off x="3227832" y="3456432"/>
            <a:ext cx="2615184" cy="10058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355848" y="3566160"/>
            <a:ext cx="2359152" cy="402336"/>
          </a:xfrm>
          <a:prstGeom prst="rect">
            <a:avLst/>
          </a:prstGeom>
          <a:noFill/>
        </p:spPr>
        <p:txBody>
          <a:bodyPr wrap="square" lIns="18288" tIns="0" rIns="18288" bIns="0" anchor="t">
            <a:spAutoFit/>
          </a:bodyPr>
          <a:lstStyle/>
          <a:p>
            <a:pPr algn="l">
              <a:spcAft>
                <a:spcPts val="200"/>
              </a:spcAft>
            </a:pPr>
            <a:r>
              <a:rPr sz="1000" b="1" i="0">
                <a:solidFill>
                  <a:srgbClr val="1A1A1A"/>
                </a:solidFill>
                <a:latin typeface="Space Grotesk"/>
              </a:rPr>
              <a:t>Does the visual branch survive a real corpus?</a:t>
            </a:r>
          </a:p>
        </p:txBody>
      </p:sp>
      <p:sp>
        <p:nvSpPr>
          <p:cNvPr id="18" name="TextBox 17"/>
          <p:cNvSpPr txBox="1"/>
          <p:nvPr/>
        </p:nvSpPr>
        <p:spPr>
          <a:xfrm>
            <a:off x="3355848" y="3986784"/>
            <a:ext cx="2359152" cy="402336"/>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Trad 69×69 binary vs CIC 114–582 px renderings</a:t>
            </a:r>
          </a:p>
        </p:txBody>
      </p:sp>
      <p:sp>
        <p:nvSpPr>
          <p:cNvPr id="19" name="Rounded Rectangle 18"/>
          <p:cNvSpPr/>
          <p:nvPr/>
        </p:nvSpPr>
        <p:spPr>
          <a:xfrm>
            <a:off x="6025896" y="3456432"/>
            <a:ext cx="2615184" cy="10058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153912" y="3566160"/>
            <a:ext cx="2359152" cy="402336"/>
          </a:xfrm>
          <a:prstGeom prst="rect">
            <a:avLst/>
          </a:prstGeom>
          <a:noFill/>
        </p:spPr>
        <p:txBody>
          <a:bodyPr wrap="square" lIns="18288" tIns="0" rIns="18288" bIns="0" anchor="t">
            <a:spAutoFit/>
          </a:bodyPr>
          <a:lstStyle/>
          <a:p>
            <a:pPr algn="l">
              <a:spcAft>
                <a:spcPts val="200"/>
              </a:spcAft>
            </a:pPr>
            <a:r>
              <a:rPr sz="1000" b="1" i="0">
                <a:solidFill>
                  <a:srgbClr val="1A1A1A"/>
                </a:solidFill>
                <a:latin typeface="Space Grotesk"/>
              </a:rPr>
              <a:t>Do the learned cues actually transfer?</a:t>
            </a:r>
          </a:p>
        </p:txBody>
      </p:sp>
      <p:sp>
        <p:nvSpPr>
          <p:cNvPr id="21" name="TextBox 20"/>
          <p:cNvSpPr txBox="1"/>
          <p:nvPr/>
        </p:nvSpPr>
        <p:spPr>
          <a:xfrm>
            <a:off x="6153912" y="3986784"/>
            <a:ext cx="2359152" cy="402336"/>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Cross-dataset training and Grad-CAM correlation across corpora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Related Work</a:t>
            </a:r>
          </a:p>
        </p:txBody>
      </p:sp>
      <p:sp>
        <p:nvSpPr>
          <p:cNvPr id="3" name="TextBox 2"/>
          <p:cNvSpPr txBox="1"/>
          <p:nvPr/>
        </p:nvSpPr>
        <p:spPr>
          <a:xfrm>
            <a:off x="429768" y="768096"/>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Five directions, and the seam none of them closes</a:t>
            </a:r>
          </a:p>
        </p:txBody>
      </p:sp>
      <p:graphicFrame>
        <p:nvGraphicFramePr>
          <p:cNvPr id="4" name="Table 3"/>
          <p:cNvGraphicFramePr>
            <a:graphicFrameLocks noGrp="1"/>
          </p:cNvGraphicFramePr>
          <p:nvPr/>
        </p:nvGraphicFramePr>
        <p:xfrm>
          <a:off x="384048" y="1060704"/>
          <a:ext cx="8375902" cy="2615184"/>
        </p:xfrm>
        <a:graphic>
          <a:graphicData uri="http://schemas.openxmlformats.org/drawingml/2006/table">
            <a:tbl>
              <a:tblPr>
                <a:tableStyleId>{5C22544A-7EE6-4342-B048-85BDC9FD1C3A}</a:tableStyleId>
              </a:tblPr>
              <a:tblGrid>
                <a:gridCol w="1527370">
                  <a:extLst>
                    <a:ext uri="{9D8B030D-6E8A-4147-A177-3AD203B41FA5}">
                      <a16:colId xmlns:a16="http://schemas.microsoft.com/office/drawing/2014/main" val="20000"/>
                    </a:ext>
                  </a:extLst>
                </a:gridCol>
                <a:gridCol w="2414231">
                  <a:extLst>
                    <a:ext uri="{9D8B030D-6E8A-4147-A177-3AD203B41FA5}">
                      <a16:colId xmlns:a16="http://schemas.microsoft.com/office/drawing/2014/main" val="20001"/>
                    </a:ext>
                  </a:extLst>
                </a:gridCol>
                <a:gridCol w="1921530">
                  <a:extLst>
                    <a:ext uri="{9D8B030D-6E8A-4147-A177-3AD203B41FA5}">
                      <a16:colId xmlns:a16="http://schemas.microsoft.com/office/drawing/2014/main" val="20002"/>
                    </a:ext>
                  </a:extLst>
                </a:gridCol>
                <a:gridCol w="2512771">
                  <a:extLst>
                    <a:ext uri="{9D8B030D-6E8A-4147-A177-3AD203B41FA5}">
                      <a16:colId xmlns:a16="http://schemas.microsoft.com/office/drawing/2014/main" val="20003"/>
                    </a:ext>
                  </a:extLst>
                </a:gridCol>
              </a:tblGrid>
              <a:tr h="310896">
                <a:tc>
                  <a:txBody>
                    <a:bodyPr/>
                    <a:lstStyle/>
                    <a:p>
                      <a:pPr algn="l"/>
                      <a:r>
                        <a:rPr sz="900" b="1">
                          <a:solidFill>
                            <a:srgbClr val="FFFFFF"/>
                          </a:solidFill>
                          <a:latin typeface="Space Grotesk"/>
                        </a:rPr>
                        <a:t>Direction</a:t>
                      </a:r>
                    </a:p>
                  </a:txBody>
                  <a:tcPr marL="54864" marR="54864" marT="27432" marB="27432" anchor="ctr">
                    <a:solidFill>
                      <a:srgbClr val="1A1A2E"/>
                    </a:solidFill>
                  </a:tcPr>
                </a:tc>
                <a:tc>
                  <a:txBody>
                    <a:bodyPr/>
                    <a:lstStyle/>
                    <a:p>
                      <a:pPr algn="ctr"/>
                      <a:r>
                        <a:rPr sz="900" b="1">
                          <a:solidFill>
                            <a:srgbClr val="FFFFFF"/>
                          </a:solidFill>
                          <a:latin typeface="Space Grotesk"/>
                        </a:rPr>
                        <a:t>Core idea</a:t>
                      </a:r>
                    </a:p>
                  </a:txBody>
                  <a:tcPr marL="54864" marR="54864" marT="27432" marB="27432" anchor="ctr">
                    <a:solidFill>
                      <a:srgbClr val="1A1A2E"/>
                    </a:solidFill>
                  </a:tcPr>
                </a:tc>
                <a:tc>
                  <a:txBody>
                    <a:bodyPr/>
                    <a:lstStyle/>
                    <a:p>
                      <a:pPr algn="ctr"/>
                      <a:r>
                        <a:rPr sz="900" b="1">
                          <a:solidFill>
                            <a:srgbClr val="FFFFFF"/>
                          </a:solidFill>
                          <a:latin typeface="Space Grotesk"/>
                        </a:rPr>
                        <a:t>Strength</a:t>
                      </a:r>
                    </a:p>
                  </a:txBody>
                  <a:tcPr marL="54864" marR="54864" marT="27432" marB="27432" anchor="ctr">
                    <a:solidFill>
                      <a:srgbClr val="1A1A2E"/>
                    </a:solidFill>
                  </a:tcPr>
                </a:tc>
                <a:tc>
                  <a:txBody>
                    <a:bodyPr/>
                    <a:lstStyle/>
                    <a:p>
                      <a:pPr algn="ctr"/>
                      <a:r>
                        <a:rPr sz="900" b="1">
                          <a:solidFill>
                            <a:srgbClr val="FFFFFF"/>
                          </a:solidFill>
                          <a:latin typeface="Space Grotesk"/>
                        </a:rPr>
                        <a:t>Main limitation</a:t>
                      </a:r>
                    </a:p>
                  </a:txBody>
                  <a:tcPr marL="54864" marR="54864" marT="27432" marB="27432" anchor="ctr">
                    <a:solidFill>
                      <a:srgbClr val="1A1A2E"/>
                    </a:solidFill>
                  </a:tcPr>
                </a:tc>
                <a:extLst>
                  <a:ext uri="{0D108BD9-81ED-4DB2-BD59-A6C34878D82A}">
                    <a16:rowId xmlns:a16="http://schemas.microsoft.com/office/drawing/2014/main" val="10000"/>
                  </a:ext>
                </a:extLst>
              </a:tr>
              <a:tr h="384048">
                <a:tc>
                  <a:txBody>
                    <a:bodyPr/>
                    <a:lstStyle/>
                    <a:p>
                      <a:pPr algn="l"/>
                      <a:r>
                        <a:rPr sz="850" b="0">
                          <a:solidFill>
                            <a:srgbClr val="1A1A1A"/>
                          </a:solidFill>
                          <a:latin typeface="Space Grotesk"/>
                        </a:rPr>
                        <a:t>Payload / URL-based</a:t>
                      </a:r>
                    </a:p>
                  </a:txBody>
                  <a:tcPr marL="54864" marR="54864" marT="27432" marB="27432" anchor="ctr">
                    <a:solidFill>
                      <a:srgbClr val="FFFFFF"/>
                    </a:solidFill>
                  </a:tcPr>
                </a:tc>
                <a:tc>
                  <a:txBody>
                    <a:bodyPr/>
                    <a:lstStyle/>
                    <a:p>
                      <a:pPr algn="ctr"/>
                      <a:r>
                        <a:rPr sz="850" b="0">
                          <a:solidFill>
                            <a:srgbClr val="1A1A1A"/>
                          </a:solidFill>
                          <a:latin typeface="Space Grotesk"/>
                        </a:rPr>
                        <a:t>Decode first, then classify the URL</a:t>
                      </a:r>
                    </a:p>
                  </a:txBody>
                  <a:tcPr marL="54864" marR="54864" marT="27432" marB="27432" anchor="ctr">
                    <a:solidFill>
                      <a:srgbClr val="FFFFFF"/>
                    </a:solidFill>
                  </a:tcPr>
                </a:tc>
                <a:tc>
                  <a:txBody>
                    <a:bodyPr/>
                    <a:lstStyle/>
                    <a:p>
                      <a:pPr algn="ctr"/>
                      <a:r>
                        <a:rPr sz="850" b="0">
                          <a:solidFill>
                            <a:srgbClr val="1A1A1A"/>
                          </a:solidFill>
                          <a:latin typeface="Space Grotesk"/>
                        </a:rPr>
                        <a:t>Strong semantic signal</a:t>
                      </a:r>
                    </a:p>
                  </a:txBody>
                  <a:tcPr marL="54864" marR="54864" marT="27432" marB="27432" anchor="ctr">
                    <a:solidFill>
                      <a:srgbClr val="FFFFFF"/>
                    </a:solidFill>
                  </a:tcPr>
                </a:tc>
                <a:tc>
                  <a:txBody>
                    <a:bodyPr/>
                    <a:lstStyle/>
                    <a:p>
                      <a:pPr algn="ctr"/>
                      <a:r>
                        <a:rPr sz="850" b="0">
                          <a:solidFill>
                            <a:srgbClr val="1A1A1A"/>
                          </a:solidFill>
                          <a:latin typeface="Space Grotesk"/>
                        </a:rPr>
                        <a:t>Needs decoding; URL-only payloads</a:t>
                      </a:r>
                    </a:p>
                  </a:txBody>
                  <a:tcPr marL="54864" marR="54864"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sz="850" b="0">
                          <a:solidFill>
                            <a:srgbClr val="1A1A1A"/>
                          </a:solidFill>
                          <a:latin typeface="Space Grotesk"/>
                        </a:rPr>
                        <a:t>Visual / structural</a:t>
                      </a:r>
                    </a:p>
                  </a:txBody>
                  <a:tcPr marL="54864" marR="54864" marT="27432" marB="27432" anchor="ctr">
                    <a:solidFill>
                      <a:srgbClr val="F4F6F8"/>
                    </a:solidFill>
                  </a:tcPr>
                </a:tc>
                <a:tc>
                  <a:txBody>
                    <a:bodyPr/>
                    <a:lstStyle/>
                    <a:p>
                      <a:pPr algn="ctr"/>
                      <a:r>
                        <a:rPr sz="850" b="0">
                          <a:solidFill>
                            <a:srgbClr val="1A1A1A"/>
                          </a:solidFill>
                          <a:latin typeface="Space Grotesk"/>
                        </a:rPr>
                        <a:t>Classify the QR matrix directly</a:t>
                      </a:r>
                    </a:p>
                  </a:txBody>
                  <a:tcPr marL="54864" marR="54864" marT="27432" marB="27432" anchor="ctr">
                    <a:solidFill>
                      <a:srgbClr val="F4F6F8"/>
                    </a:solidFill>
                  </a:tcPr>
                </a:tc>
                <a:tc>
                  <a:txBody>
                    <a:bodyPr/>
                    <a:lstStyle/>
                    <a:p>
                      <a:pPr algn="ctr"/>
                      <a:r>
                        <a:rPr sz="850" b="0">
                          <a:solidFill>
                            <a:srgbClr val="1A1A1A"/>
                          </a:solidFill>
                          <a:latin typeface="Space Grotesk"/>
                        </a:rPr>
                        <a:t>Works before decoding</a:t>
                      </a:r>
                    </a:p>
                  </a:txBody>
                  <a:tcPr marL="54864" marR="54864" marT="27432" marB="27432" anchor="ctr">
                    <a:solidFill>
                      <a:srgbClr val="F4F6F8"/>
                    </a:solidFill>
                  </a:tcPr>
                </a:tc>
                <a:tc>
                  <a:txBody>
                    <a:bodyPr/>
                    <a:lstStyle/>
                    <a:p>
                      <a:pPr algn="ctr"/>
                      <a:r>
                        <a:rPr sz="850" b="0">
                          <a:solidFill>
                            <a:srgbClr val="1A1A1A"/>
                          </a:solidFill>
                          <a:latin typeface="Space Grotesk"/>
                        </a:rPr>
                        <a:t>Weaker on heterogeneous corpora</a:t>
                      </a:r>
                    </a:p>
                  </a:txBody>
                  <a:tcPr marL="54864" marR="54864" marT="27432" marB="27432" anchor="ctr">
                    <a:solidFill>
                      <a:srgbClr val="F4F6F8"/>
                    </a:solidFill>
                  </a:tcPr>
                </a:tc>
                <a:extLst>
                  <a:ext uri="{0D108BD9-81ED-4DB2-BD59-A6C34878D82A}">
                    <a16:rowId xmlns:a16="http://schemas.microsoft.com/office/drawing/2014/main" val="10002"/>
                  </a:ext>
                </a:extLst>
              </a:tr>
              <a:tr h="384048">
                <a:tc>
                  <a:txBody>
                    <a:bodyPr/>
                    <a:lstStyle/>
                    <a:p>
                      <a:pPr algn="l"/>
                      <a:r>
                        <a:rPr sz="850" b="0">
                          <a:solidFill>
                            <a:srgbClr val="1A1A1A"/>
                          </a:solidFill>
                          <a:latin typeface="Space Grotesk"/>
                        </a:rPr>
                        <a:t>Multimodal &amp; benchmarks</a:t>
                      </a:r>
                    </a:p>
                  </a:txBody>
                  <a:tcPr marL="54864" marR="54864" marT="27432" marB="27432" anchor="ctr">
                    <a:solidFill>
                      <a:srgbClr val="FFFFFF"/>
                    </a:solidFill>
                  </a:tcPr>
                </a:tc>
                <a:tc>
                  <a:txBody>
                    <a:bodyPr/>
                    <a:lstStyle/>
                    <a:p>
                      <a:pPr algn="ctr"/>
                      <a:r>
                        <a:rPr sz="850" b="0">
                          <a:solidFill>
                            <a:srgbClr val="1A1A1A"/>
                          </a:solidFill>
                          <a:latin typeface="Space Grotesk"/>
                        </a:rPr>
                        <a:t>Combine image and payload evidence</a:t>
                      </a:r>
                    </a:p>
                  </a:txBody>
                  <a:tcPr marL="54864" marR="54864" marT="27432" marB="27432" anchor="ctr">
                    <a:solidFill>
                      <a:srgbClr val="FFFFFF"/>
                    </a:solidFill>
                  </a:tcPr>
                </a:tc>
                <a:tc>
                  <a:txBody>
                    <a:bodyPr/>
                    <a:lstStyle/>
                    <a:p>
                      <a:pPr algn="ctr"/>
                      <a:r>
                        <a:rPr sz="850" b="0">
                          <a:solidFill>
                            <a:srgbClr val="1A1A1A"/>
                          </a:solidFill>
                          <a:latin typeface="Space Grotesk"/>
                        </a:rPr>
                        <a:t>Recognizes complementarity</a:t>
                      </a:r>
                    </a:p>
                  </a:txBody>
                  <a:tcPr marL="54864" marR="54864" marT="27432" marB="27432" anchor="ctr">
                    <a:solidFill>
                      <a:srgbClr val="FFFFFF"/>
                    </a:solidFill>
                  </a:tcPr>
                </a:tc>
                <a:tc>
                  <a:txBody>
                    <a:bodyPr/>
                    <a:lstStyle/>
                    <a:p>
                      <a:pPr algn="ctr"/>
                      <a:r>
                        <a:rPr sz="850" b="0">
                          <a:solidFill>
                            <a:srgbClr val="1A1A1A"/>
                          </a:solidFill>
                          <a:latin typeface="Space Grotesk"/>
                        </a:rPr>
                        <a:t>Parallel baselines, not one pipeline</a:t>
                      </a:r>
                    </a:p>
                  </a:txBody>
                  <a:tcPr marL="54864" marR="54864" marT="27432" marB="27432" anchor="ctr">
                    <a:solidFill>
                      <a:srgbClr val="FFFFFF"/>
                    </a:solidFill>
                  </a:tcPr>
                </a:tc>
                <a:extLst>
                  <a:ext uri="{0D108BD9-81ED-4DB2-BD59-A6C34878D82A}">
                    <a16:rowId xmlns:a16="http://schemas.microsoft.com/office/drawing/2014/main" val="10003"/>
                  </a:ext>
                </a:extLst>
              </a:tr>
              <a:tr h="384048">
                <a:tc>
                  <a:txBody>
                    <a:bodyPr/>
                    <a:lstStyle/>
                    <a:p>
                      <a:pPr algn="l"/>
                      <a:r>
                        <a:rPr sz="850" b="0">
                          <a:solidFill>
                            <a:srgbClr val="1A1A1A"/>
                          </a:solidFill>
                          <a:latin typeface="Space Grotesk"/>
                        </a:rPr>
                        <a:t>Human-centered</a:t>
                      </a:r>
                    </a:p>
                  </a:txBody>
                  <a:tcPr marL="54864" marR="54864" marT="27432" marB="27432" anchor="ctr">
                    <a:solidFill>
                      <a:srgbClr val="F4F6F8"/>
                    </a:solidFill>
                  </a:tcPr>
                </a:tc>
                <a:tc>
                  <a:txBody>
                    <a:bodyPr/>
                    <a:lstStyle/>
                    <a:p>
                      <a:pPr algn="ctr"/>
                      <a:r>
                        <a:rPr sz="850" b="0">
                          <a:solidFill>
                            <a:srgbClr val="1A1A1A"/>
                          </a:solidFill>
                          <a:latin typeface="Space Grotesk"/>
                        </a:rPr>
                        <a:t>Study how users scrutinize QR codes</a:t>
                      </a:r>
                    </a:p>
                  </a:txBody>
                  <a:tcPr marL="54864" marR="54864" marT="27432" marB="27432" anchor="ctr">
                    <a:solidFill>
                      <a:srgbClr val="F4F6F8"/>
                    </a:solidFill>
                  </a:tcPr>
                </a:tc>
                <a:tc>
                  <a:txBody>
                    <a:bodyPr/>
                    <a:lstStyle/>
                    <a:p>
                      <a:pPr algn="ctr"/>
                      <a:r>
                        <a:rPr sz="850" b="0">
                          <a:solidFill>
                            <a:srgbClr val="1A1A1A"/>
                          </a:solidFill>
                          <a:latin typeface="Space Grotesk"/>
                        </a:rPr>
                        <a:t>Explains why quishing works</a:t>
                      </a:r>
                    </a:p>
                  </a:txBody>
                  <a:tcPr marL="54864" marR="54864" marT="27432" marB="27432" anchor="ctr">
                    <a:solidFill>
                      <a:srgbClr val="F4F6F8"/>
                    </a:solidFill>
                  </a:tcPr>
                </a:tc>
                <a:tc>
                  <a:txBody>
                    <a:bodyPr/>
                    <a:lstStyle/>
                    <a:p>
                      <a:pPr algn="ctr"/>
                      <a:r>
                        <a:rPr sz="850" b="0">
                          <a:solidFill>
                            <a:srgbClr val="1A1A1A"/>
                          </a:solidFill>
                          <a:latin typeface="Space Grotesk"/>
                        </a:rPr>
                        <a:t>No protection at scan time</a:t>
                      </a:r>
                    </a:p>
                  </a:txBody>
                  <a:tcPr marL="54864" marR="54864" marT="27432" marB="27432" anchor="ctr">
                    <a:solidFill>
                      <a:srgbClr val="F4F6F8"/>
                    </a:solidFill>
                  </a:tcPr>
                </a:tc>
                <a:extLst>
                  <a:ext uri="{0D108BD9-81ED-4DB2-BD59-A6C34878D82A}">
                    <a16:rowId xmlns:a16="http://schemas.microsoft.com/office/drawing/2014/main" val="10004"/>
                  </a:ext>
                </a:extLst>
              </a:tr>
              <a:tr h="384048">
                <a:tc>
                  <a:txBody>
                    <a:bodyPr/>
                    <a:lstStyle/>
                    <a:p>
                      <a:pPr algn="l"/>
                      <a:r>
                        <a:rPr sz="850" b="0">
                          <a:solidFill>
                            <a:srgbClr val="1A1A1A"/>
                          </a:solidFill>
                          <a:latin typeface="Space Grotesk"/>
                        </a:rPr>
                        <a:t>Operational defenses</a:t>
                      </a:r>
                    </a:p>
                  </a:txBody>
                  <a:tcPr marL="54864" marR="54864" marT="27432" marB="27432" anchor="ctr">
                    <a:solidFill>
                      <a:srgbClr val="FFFFFF"/>
                    </a:solidFill>
                  </a:tcPr>
                </a:tc>
                <a:tc>
                  <a:txBody>
                    <a:bodyPr/>
                    <a:lstStyle/>
                    <a:p>
                      <a:pPr algn="ctr"/>
                      <a:r>
                        <a:rPr sz="850" b="0">
                          <a:solidFill>
                            <a:srgbClr val="1A1A1A"/>
                          </a:solidFill>
                          <a:latin typeface="Space Grotesk"/>
                        </a:rPr>
                        <a:t>Reputation, blocklists, secure scanners</a:t>
                      </a:r>
                    </a:p>
                  </a:txBody>
                  <a:tcPr marL="54864" marR="54864" marT="27432" marB="27432" anchor="ctr">
                    <a:solidFill>
                      <a:srgbClr val="FFFFFF"/>
                    </a:solidFill>
                  </a:tcPr>
                </a:tc>
                <a:tc>
                  <a:txBody>
                    <a:bodyPr/>
                    <a:lstStyle/>
                    <a:p>
                      <a:pPr algn="ctr"/>
                      <a:r>
                        <a:rPr sz="850" b="0">
                          <a:solidFill>
                            <a:srgbClr val="1A1A1A"/>
                          </a:solidFill>
                          <a:latin typeface="Space Grotesk"/>
                        </a:rPr>
                        <a:t>Deployed at scale</a:t>
                      </a:r>
                    </a:p>
                  </a:txBody>
                  <a:tcPr marL="54864" marR="54864" marT="27432" marB="27432" anchor="ctr">
                    <a:solidFill>
                      <a:srgbClr val="FFFFFF"/>
                    </a:solidFill>
                  </a:tcPr>
                </a:tc>
                <a:tc>
                  <a:txBody>
                    <a:bodyPr/>
                    <a:lstStyle/>
                    <a:p>
                      <a:pPr algn="ctr"/>
                      <a:r>
                        <a:rPr sz="850" b="0">
                          <a:solidFill>
                            <a:srgbClr val="1A1A1A"/>
                          </a:solidFill>
                          <a:latin typeface="Space Grotesk"/>
                        </a:rPr>
                        <a:t>Post-decode; weak on zero-day payloads</a:t>
                      </a:r>
                    </a:p>
                  </a:txBody>
                  <a:tcPr marL="54864" marR="54864" marT="27432" marB="27432" anchor="ctr">
                    <a:solidFill>
                      <a:srgbClr val="FFFFFF"/>
                    </a:solidFill>
                  </a:tcPr>
                </a:tc>
                <a:extLst>
                  <a:ext uri="{0D108BD9-81ED-4DB2-BD59-A6C34878D82A}">
                    <a16:rowId xmlns:a16="http://schemas.microsoft.com/office/drawing/2014/main" val="10005"/>
                  </a:ext>
                </a:extLst>
              </a:tr>
              <a:tr h="384048">
                <a:tc>
                  <a:txBody>
                    <a:bodyPr/>
                    <a:lstStyle/>
                    <a:p>
                      <a:pPr algn="l"/>
                      <a:r>
                        <a:rPr sz="850" b="1">
                          <a:solidFill>
                            <a:srgbClr val="00BFFF"/>
                          </a:solidFill>
                          <a:latin typeface="Space Grotesk"/>
                        </a:rPr>
                        <a:t>Q-Shield (this work)</a:t>
                      </a:r>
                    </a:p>
                  </a:txBody>
                  <a:tcPr marL="54864" marR="54864" marT="27432" marB="27432" anchor="ctr">
                    <a:solidFill>
                      <a:srgbClr val="EAF7FD"/>
                    </a:solidFill>
                  </a:tcPr>
                </a:tc>
                <a:tc>
                  <a:txBody>
                    <a:bodyPr/>
                    <a:lstStyle/>
                    <a:p>
                      <a:pPr algn="ctr"/>
                      <a:r>
                        <a:rPr sz="850" b="1">
                          <a:solidFill>
                            <a:srgbClr val="00BFFF"/>
                          </a:solidFill>
                          <a:latin typeface="Space Grotesk"/>
                        </a:rPr>
                        <a:t>Two-stage pipeline with late fusion</a:t>
                      </a:r>
                    </a:p>
                  </a:txBody>
                  <a:tcPr marL="54864" marR="54864" marT="27432" marB="27432" anchor="ctr">
                    <a:solidFill>
                      <a:srgbClr val="EAF7FD"/>
                    </a:solidFill>
                  </a:tcPr>
                </a:tc>
                <a:tc>
                  <a:txBody>
                    <a:bodyPr/>
                    <a:lstStyle/>
                    <a:p>
                      <a:pPr algn="ctr"/>
                      <a:r>
                        <a:rPr sz="850" b="1">
                          <a:solidFill>
                            <a:srgbClr val="00BFFF"/>
                          </a:solidFill>
                          <a:latin typeface="Space Grotesk"/>
                        </a:rPr>
                        <a:t>Covers both regimes + dual XAI</a:t>
                      </a:r>
                    </a:p>
                  </a:txBody>
                  <a:tcPr marL="54864" marR="54864" marT="27432" marB="27432" anchor="ctr">
                    <a:solidFill>
                      <a:srgbClr val="EAF7FD"/>
                    </a:solidFill>
                  </a:tcPr>
                </a:tc>
                <a:tc>
                  <a:txBody>
                    <a:bodyPr/>
                    <a:lstStyle/>
                    <a:p>
                      <a:pPr algn="ctr"/>
                      <a:r>
                        <a:rPr sz="850" b="1">
                          <a:solidFill>
                            <a:srgbClr val="00BFFF"/>
                          </a:solidFill>
                          <a:latin typeface="Space Grotesk"/>
                        </a:rPr>
                        <a:t>Visual fallback FNR still 0.199</a:t>
                      </a:r>
                    </a:p>
                  </a:txBody>
                  <a:tcPr marL="54864" marR="54864" marT="27432" marB="27432" anchor="ctr">
                    <a:solidFill>
                      <a:srgbClr val="EAF7FD"/>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384048" y="4443984"/>
            <a:ext cx="8001000" cy="182880"/>
          </a:xfrm>
          <a:prstGeom prst="rect">
            <a:avLst/>
          </a:prstGeom>
          <a:noFill/>
        </p:spPr>
        <p:txBody>
          <a:bodyPr wrap="square" lIns="18288" tIns="0" rIns="18288" bIns="0" anchor="t">
            <a:spAutoFit/>
          </a:bodyPr>
          <a:lstStyle/>
          <a:p>
            <a:pPr algn="l">
              <a:spcAft>
                <a:spcPts val="0"/>
              </a:spcAft>
            </a:pPr>
            <a:r>
              <a:rPr sz="700" b="0" i="0">
                <a:solidFill>
                  <a:srgbClr val="888888"/>
                </a:solidFill>
                <a:latin typeface="Space Grotesk"/>
              </a:rPr>
              <a:t>Amoah &amp; Hayfron-Acquah 2022 · Rafsanjani et al. 2023 · Trad &amp; Chehab 2025 · Akram et al. 2025 · Wahid et al. 2026 · Tashtoush et al. 2025 · Khalifa et al. 2025 · Nejati et al.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Contributions</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What does this paper do differently?</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Contributions</a:t>
            </a:r>
          </a:p>
        </p:txBody>
      </p:sp>
      <p:sp>
        <p:nvSpPr>
          <p:cNvPr id="3" name="Rounded Rectangle 2"/>
          <p:cNvSpPr/>
          <p:nvPr/>
        </p:nvSpPr>
        <p:spPr>
          <a:xfrm>
            <a:off x="1828800" y="822960"/>
            <a:ext cx="5486400" cy="658368"/>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993392" y="877824"/>
            <a:ext cx="5157216" cy="548640"/>
          </a:xfrm>
          <a:prstGeom prst="rect">
            <a:avLst/>
          </a:prstGeom>
          <a:noFill/>
        </p:spPr>
        <p:txBody>
          <a:bodyPr wrap="square" lIns="18288" tIns="0" rIns="18288" bIns="0" anchor="ctr">
            <a:spAutoFit/>
          </a:bodyPr>
          <a:lstStyle/>
          <a:p>
            <a:pPr algn="l">
              <a:spcAft>
                <a:spcPts val="200"/>
              </a:spcAft>
            </a:pPr>
            <a:r>
              <a:rPr sz="1400" b="1" i="0">
                <a:solidFill>
                  <a:srgbClr val="1A1A1A"/>
                </a:solidFill>
                <a:latin typeface="Space Grotesk"/>
              </a:rPr>
              <a:t>One detector for both regimes</a:t>
            </a:r>
          </a:p>
        </p:txBody>
      </p:sp>
      <p:sp>
        <p:nvSpPr>
          <p:cNvPr id="5" name="TextBox 4"/>
          <p:cNvSpPr txBox="1"/>
          <p:nvPr/>
        </p:nvSpPr>
        <p:spPr>
          <a:xfrm>
            <a:off x="1828800" y="1243584"/>
            <a:ext cx="5486400" cy="219456"/>
          </a:xfrm>
          <a:prstGeom prst="rect">
            <a:avLst/>
          </a:prstGeom>
          <a:noFill/>
        </p:spPr>
        <p:txBody>
          <a:bodyPr wrap="square" lIns="18288" tIns="0" rIns="18288" bIns="0" anchor="t">
            <a:spAutoFit/>
          </a:bodyPr>
          <a:lstStyle/>
          <a:p>
            <a:pPr algn="ctr">
              <a:spcAft>
                <a:spcPts val="200"/>
              </a:spcAft>
            </a:pPr>
            <a:r>
              <a:rPr sz="850" b="1" i="0">
                <a:solidFill>
                  <a:srgbClr val="00BFFF"/>
                </a:solidFill>
                <a:latin typeface="Space Grotesk"/>
              </a:rPr>
              <a:t>PRE-DECODE  ·  POST-DECODE  ·  EXPLICIT UNDECODABILITY FLAG</a:t>
            </a:r>
          </a:p>
        </p:txBody>
      </p:sp>
      <p:sp>
        <p:nvSpPr>
          <p:cNvPr id="6" name="Rounded Rectangle 5"/>
          <p:cNvSpPr/>
          <p:nvPr/>
        </p:nvSpPr>
        <p:spPr>
          <a:xfrm>
            <a:off x="429768" y="1645920"/>
            <a:ext cx="3931920" cy="859536"/>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66928" y="1764792"/>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Visual branch  ·  pre-decode</a:t>
            </a:r>
          </a:p>
        </p:txBody>
      </p:sp>
      <p:sp>
        <p:nvSpPr>
          <p:cNvPr id="8" name="TextBox 7"/>
          <p:cNvSpPr txBox="1"/>
          <p:nvPr/>
        </p:nvSpPr>
        <p:spPr>
          <a:xfrm>
            <a:off x="566928" y="2084832"/>
            <a:ext cx="3657600" cy="310896"/>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Siamese MobileNetV2, contrastive pretraining, 3.08 M parameters</a:t>
            </a:r>
          </a:p>
        </p:txBody>
      </p:sp>
      <p:sp>
        <p:nvSpPr>
          <p:cNvPr id="9" name="Rounded Rectangle 8"/>
          <p:cNvSpPr/>
          <p:nvPr/>
        </p:nvSpPr>
        <p:spPr>
          <a:xfrm>
            <a:off x="4526280" y="1645920"/>
            <a:ext cx="3931920" cy="859536"/>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63440" y="1764792"/>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Text branch  ·  post-decode</a:t>
            </a:r>
          </a:p>
        </p:txBody>
      </p:sp>
      <p:sp>
        <p:nvSpPr>
          <p:cNvPr id="11" name="TextBox 10"/>
          <p:cNvSpPr txBox="1"/>
          <p:nvPr/>
        </p:nvSpPr>
        <p:spPr>
          <a:xfrm>
            <a:off x="4663440" y="2084832"/>
            <a:ext cx="3657600" cy="310896"/>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DistilBERT over offline-decoded URLs — no network call, ever</a:t>
            </a:r>
          </a:p>
        </p:txBody>
      </p:sp>
      <p:sp>
        <p:nvSpPr>
          <p:cNvPr id="12" name="TextBox 11"/>
          <p:cNvSpPr txBox="1"/>
          <p:nvPr/>
        </p:nvSpPr>
        <p:spPr>
          <a:xfrm>
            <a:off x="429768" y="2670048"/>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Four contributions</a:t>
            </a:r>
          </a:p>
        </p:txBody>
      </p:sp>
      <p:sp>
        <p:nvSpPr>
          <p:cNvPr id="13" name="Rounded Rectangle 12"/>
          <p:cNvSpPr/>
          <p:nvPr/>
        </p:nvSpPr>
        <p:spPr>
          <a:xfrm>
            <a:off x="429768" y="2962656"/>
            <a:ext cx="1920240" cy="1243584"/>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48640" y="3072384"/>
            <a:ext cx="1682496" cy="182880"/>
          </a:xfrm>
          <a:prstGeom prst="rect">
            <a:avLst/>
          </a:prstGeom>
          <a:noFill/>
        </p:spPr>
        <p:txBody>
          <a:bodyPr wrap="square" lIns="18288" tIns="0" rIns="18288" bIns="0" anchor="t">
            <a:spAutoFit/>
          </a:bodyPr>
          <a:lstStyle/>
          <a:p>
            <a:pPr algn="l">
              <a:spcAft>
                <a:spcPts val="200"/>
              </a:spcAft>
            </a:pPr>
            <a:r>
              <a:rPr sz="900" b="1" i="0">
                <a:solidFill>
                  <a:srgbClr val="00BFFF"/>
                </a:solidFill>
                <a:latin typeface="Space Grotesk"/>
              </a:rPr>
              <a:t>01</a:t>
            </a:r>
          </a:p>
        </p:txBody>
      </p:sp>
      <p:sp>
        <p:nvSpPr>
          <p:cNvPr id="15" name="TextBox 14"/>
          <p:cNvSpPr txBox="1"/>
          <p:nvPr/>
        </p:nvSpPr>
        <p:spPr>
          <a:xfrm>
            <a:off x="548640" y="3255264"/>
            <a:ext cx="1682496" cy="384048"/>
          </a:xfrm>
          <a:prstGeom prst="rect">
            <a:avLst/>
          </a:prstGeom>
          <a:noFill/>
        </p:spPr>
        <p:txBody>
          <a:bodyPr wrap="square" lIns="18288" tIns="0" rIns="18288" bIns="0" anchor="t">
            <a:spAutoFit/>
          </a:bodyPr>
          <a:lstStyle/>
          <a:p>
            <a:pPr algn="l">
              <a:spcAft>
                <a:spcPts val="200"/>
              </a:spcAft>
            </a:pPr>
            <a:r>
              <a:rPr sz="1050" b="1" i="0">
                <a:solidFill>
                  <a:srgbClr val="1A1A1A"/>
                </a:solidFill>
                <a:latin typeface="Space Grotesk"/>
              </a:rPr>
              <a:t>Two-stage fusion</a:t>
            </a:r>
          </a:p>
        </p:txBody>
      </p:sp>
      <p:sp>
        <p:nvSpPr>
          <p:cNvPr id="16" name="TextBox 15"/>
          <p:cNvSpPr txBox="1"/>
          <p:nvPr/>
        </p:nvSpPr>
        <p:spPr>
          <a:xfrm>
            <a:off x="548640" y="3675887"/>
            <a:ext cx="1682496" cy="475488"/>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Logit-level late fusion with an explicit decode-success flag</a:t>
            </a:r>
          </a:p>
        </p:txBody>
      </p:sp>
      <p:sp>
        <p:nvSpPr>
          <p:cNvPr id="17" name="Rounded Rectangle 16"/>
          <p:cNvSpPr/>
          <p:nvPr/>
        </p:nvSpPr>
        <p:spPr>
          <a:xfrm>
            <a:off x="2496312" y="2962656"/>
            <a:ext cx="1920240" cy="124358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2615184" y="3072384"/>
            <a:ext cx="1682496" cy="182880"/>
          </a:xfrm>
          <a:prstGeom prst="rect">
            <a:avLst/>
          </a:prstGeom>
          <a:noFill/>
        </p:spPr>
        <p:txBody>
          <a:bodyPr wrap="square" lIns="18288" tIns="0" rIns="18288" bIns="0" anchor="t">
            <a:spAutoFit/>
          </a:bodyPr>
          <a:lstStyle/>
          <a:p>
            <a:pPr algn="l">
              <a:spcAft>
                <a:spcPts val="200"/>
              </a:spcAft>
            </a:pPr>
            <a:r>
              <a:rPr sz="900" b="1" i="0">
                <a:solidFill>
                  <a:srgbClr val="00BFFF"/>
                </a:solidFill>
                <a:latin typeface="Space Grotesk"/>
              </a:rPr>
              <a:t>02</a:t>
            </a:r>
          </a:p>
        </p:txBody>
      </p:sp>
      <p:sp>
        <p:nvSpPr>
          <p:cNvPr id="19" name="TextBox 18"/>
          <p:cNvSpPr txBox="1"/>
          <p:nvPr/>
        </p:nvSpPr>
        <p:spPr>
          <a:xfrm>
            <a:off x="2615184" y="3255264"/>
            <a:ext cx="1682496" cy="384048"/>
          </a:xfrm>
          <a:prstGeom prst="rect">
            <a:avLst/>
          </a:prstGeom>
          <a:noFill/>
        </p:spPr>
        <p:txBody>
          <a:bodyPr wrap="square" lIns="18288" tIns="0" rIns="18288" bIns="0" anchor="t">
            <a:spAutoFit/>
          </a:bodyPr>
          <a:lstStyle/>
          <a:p>
            <a:pPr algn="l">
              <a:spcAft>
                <a:spcPts val="200"/>
              </a:spcAft>
            </a:pPr>
            <a:r>
              <a:rPr sz="1050" b="1" i="0">
                <a:solidFill>
                  <a:srgbClr val="1A1A1A"/>
                </a:solidFill>
                <a:latin typeface="Space Grotesk"/>
              </a:rPr>
              <a:t>Heterogeneous benchmark</a:t>
            </a:r>
          </a:p>
        </p:txBody>
      </p:sp>
      <p:sp>
        <p:nvSpPr>
          <p:cNvPr id="20" name="TextBox 19"/>
          <p:cNvSpPr txBox="1"/>
          <p:nvPr/>
        </p:nvSpPr>
        <p:spPr>
          <a:xfrm>
            <a:off x="2615184" y="3675887"/>
            <a:ext cx="1682496" cy="475488"/>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21,998 validation samples drawn from two independent corpora</a:t>
            </a:r>
          </a:p>
        </p:txBody>
      </p:sp>
      <p:sp>
        <p:nvSpPr>
          <p:cNvPr id="21" name="Rounded Rectangle 20"/>
          <p:cNvSpPr/>
          <p:nvPr/>
        </p:nvSpPr>
        <p:spPr>
          <a:xfrm>
            <a:off x="4562856" y="2962656"/>
            <a:ext cx="1920240" cy="124358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681728" y="3072384"/>
            <a:ext cx="1682496" cy="182880"/>
          </a:xfrm>
          <a:prstGeom prst="rect">
            <a:avLst/>
          </a:prstGeom>
          <a:noFill/>
        </p:spPr>
        <p:txBody>
          <a:bodyPr wrap="square" lIns="18288" tIns="0" rIns="18288" bIns="0" anchor="t">
            <a:spAutoFit/>
          </a:bodyPr>
          <a:lstStyle/>
          <a:p>
            <a:pPr algn="l">
              <a:spcAft>
                <a:spcPts val="200"/>
              </a:spcAft>
            </a:pPr>
            <a:r>
              <a:rPr sz="900" b="1" i="0">
                <a:solidFill>
                  <a:srgbClr val="00BFFF"/>
                </a:solidFill>
                <a:latin typeface="Space Grotesk"/>
              </a:rPr>
              <a:t>03</a:t>
            </a:r>
          </a:p>
        </p:txBody>
      </p:sp>
      <p:sp>
        <p:nvSpPr>
          <p:cNvPr id="23" name="TextBox 22"/>
          <p:cNvSpPr txBox="1"/>
          <p:nvPr/>
        </p:nvSpPr>
        <p:spPr>
          <a:xfrm>
            <a:off x="4681728" y="3255264"/>
            <a:ext cx="1682496" cy="384048"/>
          </a:xfrm>
          <a:prstGeom prst="rect">
            <a:avLst/>
          </a:prstGeom>
          <a:noFill/>
        </p:spPr>
        <p:txBody>
          <a:bodyPr wrap="square" lIns="18288" tIns="0" rIns="18288" bIns="0" anchor="t">
            <a:spAutoFit/>
          </a:bodyPr>
          <a:lstStyle/>
          <a:p>
            <a:pPr algn="l">
              <a:spcAft>
                <a:spcPts val="200"/>
              </a:spcAft>
            </a:pPr>
            <a:r>
              <a:rPr sz="1050" b="1" i="0">
                <a:solidFill>
                  <a:srgbClr val="1A1A1A"/>
                </a:solidFill>
                <a:latin typeface="Space Grotesk"/>
              </a:rPr>
              <a:t>Cross-dataset evidence</a:t>
            </a:r>
          </a:p>
        </p:txBody>
      </p:sp>
      <p:sp>
        <p:nvSpPr>
          <p:cNvPr id="24" name="TextBox 23"/>
          <p:cNvSpPr txBox="1"/>
          <p:nvPr/>
        </p:nvSpPr>
        <p:spPr>
          <a:xfrm>
            <a:off x="4681728" y="3675887"/>
            <a:ext cx="1682496" cy="475488"/>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Single-corpus training collapses to AUC 0.52 under domain shift</a:t>
            </a:r>
          </a:p>
        </p:txBody>
      </p:sp>
      <p:sp>
        <p:nvSpPr>
          <p:cNvPr id="25" name="Rounded Rectangle 24"/>
          <p:cNvSpPr/>
          <p:nvPr/>
        </p:nvSpPr>
        <p:spPr>
          <a:xfrm>
            <a:off x="6629400" y="2962656"/>
            <a:ext cx="1920240" cy="124358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48272" y="3072384"/>
            <a:ext cx="1682496" cy="182880"/>
          </a:xfrm>
          <a:prstGeom prst="rect">
            <a:avLst/>
          </a:prstGeom>
          <a:noFill/>
        </p:spPr>
        <p:txBody>
          <a:bodyPr wrap="square" lIns="18288" tIns="0" rIns="18288" bIns="0" anchor="t">
            <a:spAutoFit/>
          </a:bodyPr>
          <a:lstStyle/>
          <a:p>
            <a:pPr algn="l">
              <a:spcAft>
                <a:spcPts val="200"/>
              </a:spcAft>
            </a:pPr>
            <a:r>
              <a:rPr sz="900" b="1" i="0">
                <a:solidFill>
                  <a:srgbClr val="00BFFF"/>
                </a:solidFill>
                <a:latin typeface="Space Grotesk"/>
              </a:rPr>
              <a:t>04</a:t>
            </a:r>
          </a:p>
        </p:txBody>
      </p:sp>
      <p:sp>
        <p:nvSpPr>
          <p:cNvPr id="27" name="TextBox 26"/>
          <p:cNvSpPr txBox="1"/>
          <p:nvPr/>
        </p:nvSpPr>
        <p:spPr>
          <a:xfrm>
            <a:off x="6748272" y="3255264"/>
            <a:ext cx="1682496" cy="384048"/>
          </a:xfrm>
          <a:prstGeom prst="rect">
            <a:avLst/>
          </a:prstGeom>
          <a:noFill/>
        </p:spPr>
        <p:txBody>
          <a:bodyPr wrap="square" lIns="18288" tIns="0" rIns="18288" bIns="0" anchor="t">
            <a:spAutoFit/>
          </a:bodyPr>
          <a:lstStyle/>
          <a:p>
            <a:pPr algn="l">
              <a:spcAft>
                <a:spcPts val="200"/>
              </a:spcAft>
            </a:pPr>
            <a:r>
              <a:rPr sz="1050" b="1" i="0">
                <a:solidFill>
                  <a:srgbClr val="1A1A1A"/>
                </a:solidFill>
                <a:latin typeface="Space Grotesk"/>
              </a:rPr>
              <a:t>Dual-layer XAI</a:t>
            </a:r>
          </a:p>
        </p:txBody>
      </p:sp>
      <p:sp>
        <p:nvSpPr>
          <p:cNvPr id="28" name="TextBox 27"/>
          <p:cNvSpPr txBox="1"/>
          <p:nvPr/>
        </p:nvSpPr>
        <p:spPr>
          <a:xfrm>
            <a:off x="6748272" y="3675887"/>
            <a:ext cx="1682496" cy="475488"/>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Grad-CAM in pixel space and SHAP over the 128-d embedding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Methodology</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How the two stages fit together</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Methodology Overview</a:t>
            </a:r>
          </a:p>
        </p:txBody>
      </p:sp>
      <p:pic>
        <p:nvPicPr>
          <p:cNvPr id="3" name="Picture 2" descr="methodology.png"/>
          <p:cNvPicPr>
            <a:picLocks noChangeAspect="1"/>
          </p:cNvPicPr>
          <p:nvPr/>
        </p:nvPicPr>
        <p:blipFill>
          <a:blip r:embed="rId3"/>
          <a:stretch>
            <a:fillRect/>
          </a:stretch>
        </p:blipFill>
        <p:spPr>
          <a:xfrm>
            <a:off x="868680" y="877824"/>
            <a:ext cx="7406640" cy="3033519"/>
          </a:xfrm>
          <a:prstGeom prst="rect">
            <a:avLst/>
          </a:prstGeom>
        </p:spPr>
      </p:pic>
      <p:sp>
        <p:nvSpPr>
          <p:cNvPr id="4" name="Rounded Rectangle 3"/>
          <p:cNvSpPr/>
          <p:nvPr/>
        </p:nvSpPr>
        <p:spPr>
          <a:xfrm>
            <a:off x="868680" y="3968496"/>
            <a:ext cx="7406640" cy="512064"/>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33272" y="4023360"/>
            <a:ext cx="7077456" cy="402336"/>
          </a:xfrm>
          <a:prstGeom prst="rect">
            <a:avLst/>
          </a:prstGeom>
          <a:noFill/>
        </p:spPr>
        <p:txBody>
          <a:bodyPr wrap="square" lIns="18288" tIns="0" rIns="18288" bIns="0" anchor="ctr">
            <a:spAutoFit/>
          </a:bodyPr>
          <a:lstStyle/>
          <a:p>
            <a:pPr algn="l">
              <a:spcAft>
                <a:spcPts val="200"/>
              </a:spcAft>
            </a:pPr>
            <a:r>
              <a:rPr sz="1250" b="1" i="0">
                <a:solidFill>
                  <a:srgbClr val="1A1A1A"/>
                </a:solidFill>
                <a:latin typeface="Space Grotesk"/>
              </a:rPr>
              <a:t>p(phishing | x)  =  σ (  fuse ( visual logit ,  text logit ,  decoding-success flag )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Visual branch — two-phase training</a:t>
            </a:r>
          </a:p>
        </p:txBody>
      </p:sp>
      <p:sp>
        <p:nvSpPr>
          <p:cNvPr id="3" name="TextBox 2"/>
          <p:cNvSpPr txBox="1"/>
          <p:nvPr/>
        </p:nvSpPr>
        <p:spPr>
          <a:xfrm>
            <a:off x="429768" y="768096"/>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MobileNetV2 adapted to grayscale → 128-d L2-normalized embedding</a:t>
            </a:r>
          </a:p>
        </p:txBody>
      </p:sp>
      <p:sp>
        <p:nvSpPr>
          <p:cNvPr id="4" name="Rounded Rectangle 3"/>
          <p:cNvSpPr/>
          <p:nvPr/>
        </p:nvSpPr>
        <p:spPr>
          <a:xfrm>
            <a:off x="429768" y="1060704"/>
            <a:ext cx="3931920" cy="1335024"/>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66928" y="1179576"/>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Phase 1  ·  contrastive pretraining</a:t>
            </a:r>
          </a:p>
        </p:txBody>
      </p:sp>
      <p:sp>
        <p:nvSpPr>
          <p:cNvPr id="6" name="TextBox 5"/>
          <p:cNvSpPr txBox="1"/>
          <p:nvPr/>
        </p:nvSpPr>
        <p:spPr>
          <a:xfrm>
            <a:off x="566928" y="1499616"/>
            <a:ext cx="3657600" cy="786384"/>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Siamese configuration, margin-based contrastive loss (m = 1.5)</a:t>
            </a:r>
          </a:p>
          <a:p>
            <a:pPr algn="l">
              <a:spcAft>
                <a:spcPts val="400"/>
              </a:spcAft>
            </a:pPr>
            <a:r>
              <a:rPr sz="900" b="0" i="0">
                <a:solidFill>
                  <a:srgbClr val="1A1A1A"/>
                </a:solidFill>
                <a:latin typeface="Space Grotesk"/>
              </a:rPr>
              <a:t>•  AdamW + cosine annealing, ≤ 40 epochs, early stopping</a:t>
            </a:r>
          </a:p>
          <a:p>
            <a:pPr algn="l">
              <a:spcAft>
                <a:spcPts val="400"/>
              </a:spcAft>
            </a:pPr>
            <a:r>
              <a:rPr sz="900" b="0" i="0">
                <a:solidFill>
                  <a:srgbClr val="1A1A1A"/>
                </a:solidFill>
                <a:latin typeface="Space Grotesk"/>
              </a:rPr>
              <a:t>•  Horizontal flip only — rotation would break QR orientation semantics</a:t>
            </a:r>
          </a:p>
        </p:txBody>
      </p:sp>
      <p:sp>
        <p:nvSpPr>
          <p:cNvPr id="7" name="Rounded Rectangle 6"/>
          <p:cNvSpPr/>
          <p:nvPr/>
        </p:nvSpPr>
        <p:spPr>
          <a:xfrm>
            <a:off x="4526280" y="1060704"/>
            <a:ext cx="3931920" cy="133502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63440" y="1179576"/>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Phase 2  ·  supervised fine-tuning</a:t>
            </a:r>
          </a:p>
        </p:txBody>
      </p:sp>
      <p:sp>
        <p:nvSpPr>
          <p:cNvPr id="9" name="TextBox 8"/>
          <p:cNvSpPr txBox="1"/>
          <p:nvPr/>
        </p:nvSpPr>
        <p:spPr>
          <a:xfrm>
            <a:off x="4663440" y="1499616"/>
            <a:ext cx="3657600" cy="786384"/>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Four-layer head, focal loss (γ = 2, α = 0.5)</a:t>
            </a:r>
          </a:p>
          <a:p>
            <a:pPr algn="l">
              <a:spcAft>
                <a:spcPts val="400"/>
              </a:spcAft>
            </a:pPr>
            <a:r>
              <a:rPr sz="900" b="0" i="0">
                <a:solidFill>
                  <a:srgbClr val="1A1A1A"/>
                </a:solidFill>
                <a:latin typeface="Space Grotesk"/>
              </a:rPr>
              <a:t>•  Backbone frozen 5 epochs, then end-to-end</a:t>
            </a:r>
          </a:p>
          <a:p>
            <a:pPr algn="l">
              <a:spcAft>
                <a:spcPts val="400"/>
              </a:spcAft>
            </a:pPr>
            <a:r>
              <a:rPr sz="900" b="0" i="0">
                <a:solidFill>
                  <a:srgbClr val="1A1A1A"/>
                </a:solidFill>
                <a:latin typeface="Space Grotesk"/>
              </a:rPr>
              <a:t>•  Checkpoint chosen by early stopping at epoch 8 — the overfitting control</a:t>
            </a:r>
          </a:p>
        </p:txBody>
      </p:sp>
      <p:pic>
        <p:nvPicPr>
          <p:cNvPr id="10" name="Picture 9" descr="fig_phase2_curves.png"/>
          <p:cNvPicPr>
            <a:picLocks noChangeAspect="1"/>
          </p:cNvPicPr>
          <p:nvPr/>
        </p:nvPicPr>
        <p:blipFill>
          <a:blip r:embed="rId3"/>
          <a:stretch>
            <a:fillRect/>
          </a:stretch>
        </p:blipFill>
        <p:spPr>
          <a:xfrm>
            <a:off x="548640" y="2542032"/>
            <a:ext cx="5074920" cy="1814133"/>
          </a:xfrm>
          <a:prstGeom prst="rect">
            <a:avLst/>
          </a:prstGeom>
        </p:spPr>
      </p:pic>
      <p:sp>
        <p:nvSpPr>
          <p:cNvPr id="11" name="TextBox 10"/>
          <p:cNvSpPr txBox="1"/>
          <p:nvPr/>
        </p:nvSpPr>
        <p:spPr>
          <a:xfrm>
            <a:off x="548640" y="4370832"/>
            <a:ext cx="5074920" cy="201168"/>
          </a:xfrm>
          <a:prstGeom prst="rect">
            <a:avLst/>
          </a:prstGeom>
          <a:noFill/>
        </p:spPr>
        <p:txBody>
          <a:bodyPr wrap="square" lIns="18288" tIns="0" rIns="18288" bIns="0" anchor="t">
            <a:spAutoFit/>
          </a:bodyPr>
          <a:lstStyle/>
          <a:p>
            <a:pPr algn="l">
              <a:spcAft>
                <a:spcPts val="200"/>
              </a:spcAft>
            </a:pPr>
            <a:r>
              <a:rPr sz="800" b="0" i="0">
                <a:solidFill>
                  <a:srgbClr val="888888"/>
                </a:solidFill>
                <a:latin typeface="Space Grotesk"/>
              </a:rPr>
              <a:t>Phase 2 dynamics: validation loss minimum and validation AUC peak coincide at epoch 8.</a:t>
            </a:r>
          </a:p>
        </p:txBody>
      </p:sp>
      <p:sp>
        <p:nvSpPr>
          <p:cNvPr id="12" name="Rounded Rectangle 11"/>
          <p:cNvSpPr/>
          <p:nvPr/>
        </p:nvSpPr>
        <p:spPr>
          <a:xfrm>
            <a:off x="5852160" y="2542032"/>
            <a:ext cx="2606040" cy="179222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989320" y="2660904"/>
            <a:ext cx="233172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At inference</a:t>
            </a:r>
          </a:p>
        </p:txBody>
      </p:sp>
      <p:sp>
        <p:nvSpPr>
          <p:cNvPr id="14" name="TextBox 13"/>
          <p:cNvSpPr txBox="1"/>
          <p:nvPr/>
        </p:nvSpPr>
        <p:spPr>
          <a:xfrm>
            <a:off x="5989320" y="2980944"/>
            <a:ext cx="2331720" cy="1243584"/>
          </a:xfrm>
          <a:prstGeom prst="rect">
            <a:avLst/>
          </a:prstGeom>
          <a:noFill/>
        </p:spPr>
        <p:txBody>
          <a:bodyPr wrap="square" lIns="18288" tIns="0" rIns="18288" bIns="0" anchor="t">
            <a:spAutoFit/>
          </a:bodyPr>
          <a:lstStyle/>
          <a:p>
            <a:pPr algn="l">
              <a:spcAft>
                <a:spcPts val="400"/>
              </a:spcAft>
            </a:pPr>
            <a:r>
              <a:rPr sz="950" b="0" i="0">
                <a:solidFill>
                  <a:srgbClr val="1A1A1A"/>
                </a:solidFill>
                <a:latin typeface="Space Grotesk"/>
              </a:rPr>
              <a:t>•  Horizontal-flip TTA</a:t>
            </a:r>
          </a:p>
          <a:p>
            <a:pPr algn="l">
              <a:spcAft>
                <a:spcPts val="400"/>
              </a:spcAft>
            </a:pPr>
            <a:r>
              <a:rPr sz="950" b="0" i="0">
                <a:solidFill>
                  <a:srgbClr val="1A1A1A"/>
                </a:solidFill>
                <a:latin typeface="Space Grotesk"/>
              </a:rPr>
              <a:t>•  Two-seed ensemble</a:t>
            </a:r>
          </a:p>
          <a:p>
            <a:pPr algn="l">
              <a:spcAft>
                <a:spcPts val="400"/>
              </a:spcAft>
            </a:pPr>
            <a:r>
              <a:rPr sz="950" b="0" i="0">
                <a:solidFill>
                  <a:srgbClr val="1A1A1A"/>
                </a:solidFill>
                <a:latin typeface="Space Grotesk"/>
              </a:rPr>
              <a:t>•  No parameter changes</a:t>
            </a:r>
          </a:p>
          <a:p>
            <a:pPr algn="l">
              <a:spcAft>
                <a:spcPts val="400"/>
              </a:spcAft>
            </a:pPr>
            <a:r>
              <a:rPr sz="950" b="0" i="0">
                <a:solidFill>
                  <a:srgbClr val="1A1A1A"/>
                </a:solidFill>
                <a:latin typeface="Space Grotesk"/>
              </a:rPr>
              <a:t>→  AUC 0.8962 → 0.9146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Text branch and fusion module</a:t>
            </a:r>
          </a:p>
        </p:txBody>
      </p:sp>
      <p:sp>
        <p:nvSpPr>
          <p:cNvPr id="3" name="Rounded Rectangle 2"/>
          <p:cNvSpPr/>
          <p:nvPr/>
        </p:nvSpPr>
        <p:spPr>
          <a:xfrm>
            <a:off x="429768" y="768096"/>
            <a:ext cx="8028431" cy="694944"/>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94360" y="822960"/>
            <a:ext cx="7699248" cy="292608"/>
          </a:xfrm>
          <a:prstGeom prst="rect">
            <a:avLst/>
          </a:prstGeom>
          <a:noFill/>
        </p:spPr>
        <p:txBody>
          <a:bodyPr wrap="square" lIns="18288" tIns="0" rIns="18288" bIns="0" anchor="t">
            <a:spAutoFit/>
          </a:bodyPr>
          <a:lstStyle/>
          <a:p>
            <a:pPr algn="ctr">
              <a:spcAft>
                <a:spcPts val="200"/>
              </a:spcAft>
            </a:pPr>
            <a:r>
              <a:rPr sz="1500" b="1" i="0">
                <a:solidFill>
                  <a:srgbClr val="1A1A1A"/>
                </a:solidFill>
                <a:latin typeface="Space Grotesk"/>
              </a:rPr>
              <a:t>p(x)  =  σ (  MLP₁₆ ( [ ℓv(x) ,  ℓt(x) ,  f ] )  )</a:t>
            </a:r>
          </a:p>
        </p:txBody>
      </p:sp>
      <p:sp>
        <p:nvSpPr>
          <p:cNvPr id="5" name="TextBox 4"/>
          <p:cNvSpPr txBox="1"/>
          <p:nvPr/>
        </p:nvSpPr>
        <p:spPr>
          <a:xfrm>
            <a:off x="594360" y="1152144"/>
            <a:ext cx="7699248" cy="237744"/>
          </a:xfrm>
          <a:prstGeom prst="rect">
            <a:avLst/>
          </a:prstGeom>
          <a:noFill/>
        </p:spPr>
        <p:txBody>
          <a:bodyPr wrap="square" lIns="18288" tIns="0" rIns="18288" bIns="0" anchor="t">
            <a:spAutoFit/>
          </a:bodyPr>
          <a:lstStyle/>
          <a:p>
            <a:pPr algn="ctr">
              <a:spcAft>
                <a:spcPts val="200"/>
              </a:spcAft>
            </a:pPr>
            <a:r>
              <a:rPr sz="900" b="0" i="0">
                <a:solidFill>
                  <a:srgbClr val="595959"/>
                </a:solidFill>
                <a:latin typeface="Space Grotesk"/>
              </a:rPr>
              <a:t>ℓv  visual logit        ℓt  text logit        f  undecodability flag</a:t>
            </a:r>
          </a:p>
        </p:txBody>
      </p:sp>
      <p:sp>
        <p:nvSpPr>
          <p:cNvPr id="6" name="Rounded Rectangle 5"/>
          <p:cNvSpPr/>
          <p:nvPr/>
        </p:nvSpPr>
        <p:spPr>
          <a:xfrm>
            <a:off x="429768" y="1517904"/>
            <a:ext cx="3931920" cy="173736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66928" y="1636776"/>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TEXT BRANCH  ·  post-decode</a:t>
            </a:r>
          </a:p>
        </p:txBody>
      </p:sp>
      <p:sp>
        <p:nvSpPr>
          <p:cNvPr id="8" name="TextBox 7"/>
          <p:cNvSpPr txBox="1"/>
          <p:nvPr/>
        </p:nvSpPr>
        <p:spPr>
          <a:xfrm>
            <a:off x="566928" y="1956816"/>
            <a:ext cx="3657600" cy="1188720"/>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pyzbar decodes locally — no network call, no DNS, no URL fetch</a:t>
            </a:r>
          </a:p>
          <a:p>
            <a:pPr algn="l">
              <a:spcAft>
                <a:spcPts val="400"/>
              </a:spcAft>
            </a:pPr>
            <a:r>
              <a:rPr sz="900" b="0" i="0">
                <a:solidFill>
                  <a:srgbClr val="1A1A1A"/>
                </a:solidFill>
                <a:latin typeface="Space Grotesk"/>
              </a:rPr>
              <a:t>•  DistilBERT encoder, 96-token maximum length</a:t>
            </a:r>
          </a:p>
          <a:p>
            <a:pPr algn="l">
              <a:spcAft>
                <a:spcPts val="400"/>
              </a:spcAft>
            </a:pPr>
            <a:r>
              <a:rPr sz="900" b="0" i="0">
                <a:solidFill>
                  <a:srgbClr val="1A1A1A"/>
                </a:solidFill>
                <a:latin typeface="Space Grotesk"/>
              </a:rPr>
              <a:t>•  Decoding failure maps to an &lt;UNDECODABLE&gt; sentinel, so the model learns failure itself as a feature</a:t>
            </a:r>
          </a:p>
        </p:txBody>
      </p:sp>
      <p:sp>
        <p:nvSpPr>
          <p:cNvPr id="9" name="Rounded Rectangle 8"/>
          <p:cNvSpPr/>
          <p:nvPr/>
        </p:nvSpPr>
        <p:spPr>
          <a:xfrm>
            <a:off x="4526280" y="1517904"/>
            <a:ext cx="3931920" cy="173736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63440" y="1636776"/>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FUSION MODULE  ·  late fusion</a:t>
            </a:r>
          </a:p>
        </p:txBody>
      </p:sp>
      <p:sp>
        <p:nvSpPr>
          <p:cNvPr id="11" name="TextBox 10"/>
          <p:cNvSpPr txBox="1"/>
          <p:nvPr/>
        </p:nvSpPr>
        <p:spPr>
          <a:xfrm>
            <a:off x="4663440" y="1956816"/>
            <a:ext cx="3657600" cy="1188720"/>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MLP 3 → 16 → 1 with ReLU: 81 trainable parameters</a:t>
            </a:r>
          </a:p>
          <a:p>
            <a:pPr algn="l">
              <a:spcAft>
                <a:spcPts val="400"/>
              </a:spcAft>
            </a:pPr>
            <a:r>
              <a:rPr sz="900" b="0" i="0">
                <a:solidFill>
                  <a:srgbClr val="1A1A1A"/>
                </a:solidFill>
                <a:latin typeface="Space Grotesk"/>
              </a:rPr>
              <a:t>•  Trained on cached logits with both encoders frozen</a:t>
            </a:r>
          </a:p>
          <a:p>
            <a:pPr algn="l">
              <a:spcAft>
                <a:spcPts val="400"/>
              </a:spcAft>
            </a:pPr>
            <a:r>
              <a:rPr sz="900" b="0" i="0">
                <a:solidFill>
                  <a:srgbClr val="1A1A1A"/>
                </a:solidFill>
                <a:latin typeface="Space Grotesk"/>
              </a:rPr>
              <a:t>•  Focal loss (γ = 2, α = 0.5), AdamW lr 1e-3, 20 epochs, under a minute on CPU</a:t>
            </a:r>
          </a:p>
          <a:p>
            <a:pPr algn="l">
              <a:spcAft>
                <a:spcPts val="400"/>
              </a:spcAft>
            </a:pPr>
            <a:r>
              <a:rPr sz="900" b="0" i="0">
                <a:solidFill>
                  <a:srgbClr val="1A1A1A"/>
                </a:solidFill>
                <a:latin typeface="Space Grotesk"/>
              </a:rPr>
              <a:t>•  Logit-level chosen over feature-level: exposes each modality's contribution</a:t>
            </a:r>
          </a:p>
        </p:txBody>
      </p:sp>
      <p:sp>
        <p:nvSpPr>
          <p:cNvPr id="12" name="TextBox 11"/>
          <p:cNvSpPr txBox="1"/>
          <p:nvPr/>
        </p:nvSpPr>
        <p:spPr>
          <a:xfrm>
            <a:off x="429768" y="3401568"/>
            <a:ext cx="8229600" cy="237744"/>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What the decode flag buys us</a:t>
            </a:r>
          </a:p>
        </p:txBody>
      </p:sp>
      <p:sp>
        <p:nvSpPr>
          <p:cNvPr id="13" name="Rounded Rectangle 12"/>
          <p:cNvSpPr/>
          <p:nvPr/>
        </p:nvSpPr>
        <p:spPr>
          <a:xfrm>
            <a:off x="429768" y="3675887"/>
            <a:ext cx="3931920" cy="78638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3794759"/>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Decoding succeeds  ·  f = 0</a:t>
            </a:r>
          </a:p>
        </p:txBody>
      </p:sp>
      <p:sp>
        <p:nvSpPr>
          <p:cNvPr id="15" name="TextBox 14"/>
          <p:cNvSpPr txBox="1"/>
          <p:nvPr/>
        </p:nvSpPr>
        <p:spPr>
          <a:xfrm>
            <a:off x="566928" y="4114799"/>
            <a:ext cx="3657600" cy="237744"/>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The text logit dominates — the strongest single signal</a:t>
            </a:r>
          </a:p>
        </p:txBody>
      </p:sp>
      <p:sp>
        <p:nvSpPr>
          <p:cNvPr id="16" name="Rounded Rectangle 15"/>
          <p:cNvSpPr/>
          <p:nvPr/>
        </p:nvSpPr>
        <p:spPr>
          <a:xfrm>
            <a:off x="4526280" y="3675887"/>
            <a:ext cx="3931920" cy="786384"/>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663440" y="3794759"/>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Decoding fails  ·  f = 1</a:t>
            </a:r>
          </a:p>
        </p:txBody>
      </p:sp>
      <p:sp>
        <p:nvSpPr>
          <p:cNvPr id="18" name="TextBox 17"/>
          <p:cNvSpPr txBox="1"/>
          <p:nvPr/>
        </p:nvSpPr>
        <p:spPr>
          <a:xfrm>
            <a:off x="4663440" y="4114799"/>
            <a:ext cx="3657600" cy="237744"/>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The fusion learns to lean on the visual logit — no hand-written rules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Experimentation</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Two corpora, one joint benchmark</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Datasets</a:t>
            </a:r>
          </a:p>
        </p:txBody>
      </p:sp>
      <p:sp>
        <p:nvSpPr>
          <p:cNvPr id="3" name="TextBox 2"/>
          <p:cNvSpPr txBox="1"/>
          <p:nvPr/>
        </p:nvSpPr>
        <p:spPr>
          <a:xfrm>
            <a:off x="429768" y="768096"/>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Deliberately different in structure and rendering</a:t>
            </a:r>
          </a:p>
        </p:txBody>
      </p:sp>
      <p:graphicFrame>
        <p:nvGraphicFramePr>
          <p:cNvPr id="4" name="Table 3"/>
          <p:cNvGraphicFramePr>
            <a:graphicFrameLocks noGrp="1"/>
          </p:cNvGraphicFramePr>
          <p:nvPr/>
        </p:nvGraphicFramePr>
        <p:xfrm>
          <a:off x="429768" y="1060704"/>
          <a:ext cx="4846318" cy="1773936"/>
        </p:xfrm>
        <a:graphic>
          <a:graphicData uri="http://schemas.openxmlformats.org/drawingml/2006/table">
            <a:tbl>
              <a:tblPr>
                <a:tableStyleId>{5C22544A-7EE6-4342-B048-85BDC9FD1C3A}</a:tableStyleId>
              </a:tblPr>
              <a:tblGrid>
                <a:gridCol w="1771772">
                  <a:extLst>
                    <a:ext uri="{9D8B030D-6E8A-4147-A177-3AD203B41FA5}">
                      <a16:colId xmlns:a16="http://schemas.microsoft.com/office/drawing/2014/main" val="20000"/>
                    </a:ext>
                  </a:extLst>
                </a:gridCol>
                <a:gridCol w="1406996">
                  <a:extLst>
                    <a:ext uri="{9D8B030D-6E8A-4147-A177-3AD203B41FA5}">
                      <a16:colId xmlns:a16="http://schemas.microsoft.com/office/drawing/2014/main" val="20001"/>
                    </a:ext>
                  </a:extLst>
                </a:gridCol>
                <a:gridCol w="1667550">
                  <a:extLst>
                    <a:ext uri="{9D8B030D-6E8A-4147-A177-3AD203B41FA5}">
                      <a16:colId xmlns:a16="http://schemas.microsoft.com/office/drawing/2014/main" val="20002"/>
                    </a:ext>
                  </a:extLst>
                </a:gridCol>
              </a:tblGrid>
              <a:tr h="310896">
                <a:tc>
                  <a:txBody>
                    <a:bodyPr/>
                    <a:lstStyle/>
                    <a:p>
                      <a:pPr algn="l"/>
                      <a:r>
                        <a:rPr sz="900" b="1">
                          <a:solidFill>
                            <a:srgbClr val="FFFFFF"/>
                          </a:solidFill>
                          <a:latin typeface="Space Grotesk"/>
                        </a:rPr>
                        <a:t>Property</a:t>
                      </a:r>
                    </a:p>
                  </a:txBody>
                  <a:tcPr marL="54864" marR="54864" marT="27432" marB="27432" anchor="ctr">
                    <a:solidFill>
                      <a:srgbClr val="1A1A2E"/>
                    </a:solidFill>
                  </a:tcPr>
                </a:tc>
                <a:tc>
                  <a:txBody>
                    <a:bodyPr/>
                    <a:lstStyle/>
                    <a:p>
                      <a:pPr algn="ctr"/>
                      <a:r>
                        <a:rPr sz="900" b="1">
                          <a:solidFill>
                            <a:srgbClr val="FFFFFF"/>
                          </a:solidFill>
                          <a:latin typeface="Space Grotesk"/>
                        </a:rPr>
                        <a:t>Trad et al. 2025</a:t>
                      </a:r>
                    </a:p>
                  </a:txBody>
                  <a:tcPr marL="54864" marR="54864" marT="27432" marB="27432" anchor="ctr">
                    <a:solidFill>
                      <a:srgbClr val="1A1A2E"/>
                    </a:solidFill>
                  </a:tcPr>
                </a:tc>
                <a:tc>
                  <a:txBody>
                    <a:bodyPr/>
                    <a:lstStyle/>
                    <a:p>
                      <a:pPr algn="ctr"/>
                      <a:r>
                        <a:rPr sz="900" b="1">
                          <a:solidFill>
                            <a:srgbClr val="FFFFFF"/>
                          </a:solidFill>
                          <a:latin typeface="Space Grotesk"/>
                        </a:rPr>
                        <a:t>CIC-Trap4Phish 2025</a:t>
                      </a:r>
                    </a:p>
                  </a:txBody>
                  <a:tcPr marL="54864" marR="54864" marT="27432" marB="27432" anchor="ctr">
                    <a:solidFill>
                      <a:srgbClr val="1A1A2E"/>
                    </a:solidFill>
                  </a:tcPr>
                </a:tc>
                <a:extLst>
                  <a:ext uri="{0D108BD9-81ED-4DB2-BD59-A6C34878D82A}">
                    <a16:rowId xmlns:a16="http://schemas.microsoft.com/office/drawing/2014/main" val="10000"/>
                  </a:ext>
                </a:extLst>
              </a:tr>
              <a:tr h="292608">
                <a:tc>
                  <a:txBody>
                    <a:bodyPr/>
                    <a:lstStyle/>
                    <a:p>
                      <a:pPr algn="l"/>
                      <a:r>
                        <a:rPr sz="900" b="0">
                          <a:solidFill>
                            <a:srgbClr val="1A1A1A"/>
                          </a:solidFill>
                          <a:latin typeface="Space Grotesk"/>
                        </a:rPr>
                        <a:t>Total samples</a:t>
                      </a:r>
                    </a:p>
                  </a:txBody>
                  <a:tcPr marL="54864" marR="54864" marT="27432" marB="27432" anchor="ctr">
                    <a:solidFill>
                      <a:srgbClr val="FFFFFF"/>
                    </a:solidFill>
                  </a:tcPr>
                </a:tc>
                <a:tc>
                  <a:txBody>
                    <a:bodyPr/>
                    <a:lstStyle/>
                    <a:p>
                      <a:pPr algn="ctr"/>
                      <a:r>
                        <a:rPr sz="900" b="0">
                          <a:solidFill>
                            <a:srgbClr val="1A1A1A"/>
                          </a:solidFill>
                          <a:latin typeface="Space Grotesk"/>
                        </a:rPr>
                        <a:t>9,987</a:t>
                      </a:r>
                    </a:p>
                  </a:txBody>
                  <a:tcPr marL="54864" marR="54864" marT="27432" marB="27432" anchor="ctr">
                    <a:solidFill>
                      <a:srgbClr val="FFFFFF"/>
                    </a:solidFill>
                  </a:tcPr>
                </a:tc>
                <a:tc>
                  <a:txBody>
                    <a:bodyPr/>
                    <a:lstStyle/>
                    <a:p>
                      <a:pPr algn="ctr"/>
                      <a:r>
                        <a:rPr sz="900" b="0">
                          <a:solidFill>
                            <a:srgbClr val="1A1A1A"/>
                          </a:solidFill>
                          <a:latin typeface="Space Grotesk"/>
                        </a:rPr>
                        <a:t>1,005,738</a:t>
                      </a:r>
                    </a:p>
                  </a:txBody>
                  <a:tcPr marL="54864" marR="54864" marT="27432" marB="27432" anchor="ctr">
                    <a:solidFill>
                      <a:srgbClr val="FFFFFF"/>
                    </a:solidFill>
                  </a:tcPr>
                </a:tc>
                <a:extLst>
                  <a:ext uri="{0D108BD9-81ED-4DB2-BD59-A6C34878D82A}">
                    <a16:rowId xmlns:a16="http://schemas.microsoft.com/office/drawing/2014/main" val="10001"/>
                  </a:ext>
                </a:extLst>
              </a:tr>
              <a:tr h="292608">
                <a:tc>
                  <a:txBody>
                    <a:bodyPr/>
                    <a:lstStyle/>
                    <a:p>
                      <a:pPr algn="l"/>
                      <a:r>
                        <a:rPr sz="900" b="0">
                          <a:solidFill>
                            <a:srgbClr val="1A1A1A"/>
                          </a:solidFill>
                          <a:latin typeface="Space Grotesk"/>
                        </a:rPr>
                        <a:t>Format</a:t>
                      </a:r>
                    </a:p>
                  </a:txBody>
                  <a:tcPr marL="54864" marR="54864" marT="27432" marB="27432" anchor="ctr">
                    <a:solidFill>
                      <a:srgbClr val="F4F6F8"/>
                    </a:solidFill>
                  </a:tcPr>
                </a:tc>
                <a:tc>
                  <a:txBody>
                    <a:bodyPr/>
                    <a:lstStyle/>
                    <a:p>
                      <a:pPr algn="ctr"/>
                      <a:r>
                        <a:rPr sz="900" b="0">
                          <a:solidFill>
                            <a:srgbClr val="1A1A1A"/>
                          </a:solidFill>
                          <a:latin typeface="Space Grotesk"/>
                        </a:rPr>
                        <a:t>Binary matrix</a:t>
                      </a:r>
                    </a:p>
                  </a:txBody>
                  <a:tcPr marL="54864" marR="54864" marT="27432" marB="27432" anchor="ctr">
                    <a:solidFill>
                      <a:srgbClr val="F4F6F8"/>
                    </a:solidFill>
                  </a:tcPr>
                </a:tc>
                <a:tc>
                  <a:txBody>
                    <a:bodyPr/>
                    <a:lstStyle/>
                    <a:p>
                      <a:pPr algn="ctr"/>
                      <a:r>
                        <a:rPr sz="900" b="0">
                          <a:solidFill>
                            <a:srgbClr val="1A1A1A"/>
                          </a:solidFill>
                          <a:latin typeface="Space Grotesk"/>
                        </a:rPr>
                        <a:t>Grayscale PNG</a:t>
                      </a:r>
                    </a:p>
                  </a:txBody>
                  <a:tcPr marL="54864" marR="54864" marT="27432" marB="27432" anchor="ctr">
                    <a:solidFill>
                      <a:srgbClr val="F4F6F8"/>
                    </a:solidFill>
                  </a:tcPr>
                </a:tc>
                <a:extLst>
                  <a:ext uri="{0D108BD9-81ED-4DB2-BD59-A6C34878D82A}">
                    <a16:rowId xmlns:a16="http://schemas.microsoft.com/office/drawing/2014/main" val="10002"/>
                  </a:ext>
                </a:extLst>
              </a:tr>
              <a:tr h="292608">
                <a:tc>
                  <a:txBody>
                    <a:bodyPr/>
                    <a:lstStyle/>
                    <a:p>
                      <a:pPr algn="l"/>
                      <a:r>
                        <a:rPr sz="900" b="0">
                          <a:solidFill>
                            <a:srgbClr val="1A1A1A"/>
                          </a:solidFill>
                          <a:latin typeface="Space Grotesk"/>
                        </a:rPr>
                        <a:t>Resolution</a:t>
                      </a:r>
                    </a:p>
                  </a:txBody>
                  <a:tcPr marL="54864" marR="54864" marT="27432" marB="27432" anchor="ctr">
                    <a:solidFill>
                      <a:srgbClr val="FFFFFF"/>
                    </a:solidFill>
                  </a:tcPr>
                </a:tc>
                <a:tc>
                  <a:txBody>
                    <a:bodyPr/>
                    <a:lstStyle/>
                    <a:p>
                      <a:pPr algn="ctr"/>
                      <a:r>
                        <a:rPr sz="900" b="0">
                          <a:solidFill>
                            <a:srgbClr val="1A1A1A"/>
                          </a:solidFill>
                          <a:latin typeface="Space Grotesk"/>
                        </a:rPr>
                        <a:t>69 × 69</a:t>
                      </a:r>
                    </a:p>
                  </a:txBody>
                  <a:tcPr marL="54864" marR="54864" marT="27432" marB="27432" anchor="ctr">
                    <a:solidFill>
                      <a:srgbClr val="FFFFFF"/>
                    </a:solidFill>
                  </a:tcPr>
                </a:tc>
                <a:tc>
                  <a:txBody>
                    <a:bodyPr/>
                    <a:lstStyle/>
                    <a:p>
                      <a:pPr algn="ctr"/>
                      <a:r>
                        <a:rPr sz="900" b="0">
                          <a:solidFill>
                            <a:srgbClr val="1A1A1A"/>
                          </a:solidFill>
                          <a:latin typeface="Space Grotesk"/>
                        </a:rPr>
                        <a:t>114 – 582 px</a:t>
                      </a:r>
                    </a:p>
                  </a:txBody>
                  <a:tcPr marL="54864" marR="54864" marT="27432" marB="27432" anchor="ctr">
                    <a:solidFill>
                      <a:srgbClr val="FFFFFF"/>
                    </a:solidFill>
                  </a:tcPr>
                </a:tc>
                <a:extLst>
                  <a:ext uri="{0D108BD9-81ED-4DB2-BD59-A6C34878D82A}">
                    <a16:rowId xmlns:a16="http://schemas.microsoft.com/office/drawing/2014/main" val="10003"/>
                  </a:ext>
                </a:extLst>
              </a:tr>
              <a:tr h="292608">
                <a:tc>
                  <a:txBody>
                    <a:bodyPr/>
                    <a:lstStyle/>
                    <a:p>
                      <a:pPr algn="l"/>
                      <a:r>
                        <a:rPr sz="900" b="0">
                          <a:solidFill>
                            <a:srgbClr val="1A1A1A"/>
                          </a:solidFill>
                          <a:latin typeface="Space Grotesk"/>
                        </a:rPr>
                        <a:t>QR versions</a:t>
                      </a:r>
                    </a:p>
                  </a:txBody>
                  <a:tcPr marL="54864" marR="54864" marT="27432" marB="27432" anchor="ctr">
                    <a:solidFill>
                      <a:srgbClr val="F4F6F8"/>
                    </a:solidFill>
                  </a:tcPr>
                </a:tc>
                <a:tc>
                  <a:txBody>
                    <a:bodyPr/>
                    <a:lstStyle/>
                    <a:p>
                      <a:pPr algn="ctr"/>
                      <a:r>
                        <a:rPr sz="900" b="0">
                          <a:solidFill>
                            <a:srgbClr val="1A1A1A"/>
                          </a:solidFill>
                          <a:latin typeface="Space Grotesk"/>
                        </a:rPr>
                        <a:t>V13</a:t>
                      </a:r>
                    </a:p>
                  </a:txBody>
                  <a:tcPr marL="54864" marR="54864" marT="27432" marB="27432" anchor="ctr">
                    <a:solidFill>
                      <a:srgbClr val="F4F6F8"/>
                    </a:solidFill>
                  </a:tcPr>
                </a:tc>
                <a:tc>
                  <a:txBody>
                    <a:bodyPr/>
                    <a:lstStyle/>
                    <a:p>
                      <a:pPr algn="ctr"/>
                      <a:r>
                        <a:rPr sz="900" b="0">
                          <a:solidFill>
                            <a:srgbClr val="1A1A1A"/>
                          </a:solidFill>
                          <a:latin typeface="Space Grotesk"/>
                        </a:rPr>
                        <a:t>V5 – V30</a:t>
                      </a:r>
                    </a:p>
                  </a:txBody>
                  <a:tcPr marL="54864" marR="54864" marT="27432" marB="27432" anchor="ctr">
                    <a:solidFill>
                      <a:srgbClr val="F4F6F8"/>
                    </a:solidFill>
                  </a:tcPr>
                </a:tc>
                <a:extLst>
                  <a:ext uri="{0D108BD9-81ED-4DB2-BD59-A6C34878D82A}">
                    <a16:rowId xmlns:a16="http://schemas.microsoft.com/office/drawing/2014/main" val="10004"/>
                  </a:ext>
                </a:extLst>
              </a:tr>
              <a:tr h="292608">
                <a:tc>
                  <a:txBody>
                    <a:bodyPr/>
                    <a:lstStyle/>
                    <a:p>
                      <a:pPr algn="l"/>
                      <a:r>
                        <a:rPr sz="900" b="1">
                          <a:solidFill>
                            <a:srgbClr val="00BFFF"/>
                          </a:solidFill>
                          <a:latin typeface="Space Grotesk"/>
                        </a:rPr>
                        <a:t>Offline decode rate</a:t>
                      </a:r>
                    </a:p>
                  </a:txBody>
                  <a:tcPr marL="54864" marR="54864" marT="27432" marB="27432" anchor="ctr">
                    <a:solidFill>
                      <a:srgbClr val="EAF7FD"/>
                    </a:solidFill>
                  </a:tcPr>
                </a:tc>
                <a:tc>
                  <a:txBody>
                    <a:bodyPr/>
                    <a:lstStyle/>
                    <a:p>
                      <a:pPr algn="ctr"/>
                      <a:r>
                        <a:rPr sz="900" b="1">
                          <a:solidFill>
                            <a:srgbClr val="00BFFF"/>
                          </a:solidFill>
                          <a:latin typeface="Space Grotesk"/>
                        </a:rPr>
                        <a:t>100 %</a:t>
                      </a:r>
                    </a:p>
                  </a:txBody>
                  <a:tcPr marL="54864" marR="54864" marT="27432" marB="27432" anchor="ctr">
                    <a:solidFill>
                      <a:srgbClr val="EAF7FD"/>
                    </a:solidFill>
                  </a:tcPr>
                </a:tc>
                <a:tc>
                  <a:txBody>
                    <a:bodyPr/>
                    <a:lstStyle/>
                    <a:p>
                      <a:pPr algn="ctr"/>
                      <a:r>
                        <a:rPr sz="900" b="1">
                          <a:solidFill>
                            <a:srgbClr val="00BFFF"/>
                          </a:solidFill>
                          <a:latin typeface="Space Grotesk"/>
                        </a:rPr>
                        <a:t>95.7 %</a:t>
                      </a:r>
                    </a:p>
                  </a:txBody>
                  <a:tcPr marL="54864" marR="54864" marT="27432" marB="27432" anchor="ctr">
                    <a:solidFill>
                      <a:srgbClr val="EAF7FD"/>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5468112" y="1060704"/>
            <a:ext cx="2990088" cy="1883664"/>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605272" y="1179576"/>
            <a:ext cx="2715768"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Joint benchmark</a:t>
            </a:r>
          </a:p>
        </p:txBody>
      </p:sp>
      <p:sp>
        <p:nvSpPr>
          <p:cNvPr id="7" name="TextBox 6"/>
          <p:cNvSpPr txBox="1"/>
          <p:nvPr/>
        </p:nvSpPr>
        <p:spPr>
          <a:xfrm>
            <a:off x="5605272" y="1499616"/>
            <a:ext cx="2715768" cy="1335024"/>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50,000 samples per class drawn from CIC, stratified</a:t>
            </a:r>
          </a:p>
          <a:p>
            <a:pPr algn="l">
              <a:spcAft>
                <a:spcPts val="400"/>
              </a:spcAft>
            </a:pPr>
            <a:r>
              <a:rPr sz="900" b="0" i="0">
                <a:solidFill>
                  <a:srgbClr val="1A1A1A"/>
                </a:solidFill>
                <a:latin typeface="Space Grotesk"/>
              </a:rPr>
              <a:t>•  80 / 20 split on each corpus</a:t>
            </a:r>
          </a:p>
          <a:p>
            <a:pPr algn="l">
              <a:spcAft>
                <a:spcPts val="400"/>
              </a:spcAft>
            </a:pPr>
            <a:r>
              <a:rPr sz="900" b="0" i="0">
                <a:solidFill>
                  <a:srgbClr val="1A1A1A"/>
                </a:solidFill>
                <a:latin typeface="Space Grotesk"/>
              </a:rPr>
              <a:t>•  Validation splits merged: n = 21,998</a:t>
            </a:r>
          </a:p>
          <a:p>
            <a:pPr algn="l">
              <a:spcAft>
                <a:spcPts val="400"/>
              </a:spcAft>
            </a:pPr>
            <a:r>
              <a:rPr sz="900" b="0" i="0">
                <a:solidFill>
                  <a:srgbClr val="1A1A1A"/>
                </a:solidFill>
                <a:latin typeface="Space Grotesk"/>
              </a:rPr>
              <a:t>•  Training on the combined splits</a:t>
            </a:r>
          </a:p>
        </p:txBody>
      </p:sp>
      <p:sp>
        <p:nvSpPr>
          <p:cNvPr id="8" name="Rounded Rectangle 7"/>
          <p:cNvSpPr/>
          <p:nvPr/>
        </p:nvSpPr>
        <p:spPr>
          <a:xfrm>
            <a:off x="429768" y="3127248"/>
            <a:ext cx="8028431" cy="731520"/>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3182112"/>
            <a:ext cx="7699247" cy="621792"/>
          </a:xfrm>
          <a:prstGeom prst="rect">
            <a:avLst/>
          </a:prstGeom>
          <a:noFill/>
        </p:spPr>
        <p:txBody>
          <a:bodyPr wrap="square" lIns="18288" tIns="0" rIns="18288" bIns="0" anchor="ctr">
            <a:spAutoFit/>
          </a:bodyPr>
          <a:lstStyle/>
          <a:p>
            <a:pPr algn="l">
              <a:spcAft>
                <a:spcPts val="200"/>
              </a:spcAft>
            </a:pPr>
            <a:r>
              <a:rPr sz="1100" b="1" i="0">
                <a:solidFill>
                  <a:srgbClr val="1A1A1A"/>
                </a:solidFill>
                <a:latin typeface="Space Grotesk"/>
              </a:rPr>
              <a:t>The 4.3% of CIC that pyzbar cannot decode is not an edge case to discard — it is the regime in which the visual branch is the only discriminative signal the system has.</a:t>
            </a:r>
          </a:p>
        </p:txBody>
      </p:sp>
      <p:sp>
        <p:nvSpPr>
          <p:cNvPr id="10" name="TextBox 9"/>
          <p:cNvSpPr txBox="1"/>
          <p:nvPr/>
        </p:nvSpPr>
        <p:spPr>
          <a:xfrm>
            <a:off x="429768" y="3986784"/>
            <a:ext cx="8028431" cy="402336"/>
          </a:xfrm>
          <a:prstGeom prst="rect">
            <a:avLst/>
          </a:prstGeom>
          <a:noFill/>
        </p:spPr>
        <p:txBody>
          <a:bodyPr wrap="square" lIns="18288" tIns="0" rIns="18288" bIns="0" anchor="t">
            <a:spAutoFit/>
          </a:bodyPr>
          <a:lstStyle/>
          <a:p>
            <a:pPr algn="l">
              <a:spcAft>
                <a:spcPts val="200"/>
              </a:spcAft>
            </a:pPr>
            <a:r>
              <a:rPr sz="900" b="0" i="0">
                <a:solidFill>
                  <a:srgbClr val="595959"/>
                </a:solidFill>
                <a:latin typeface="Space Grotesk"/>
              </a:rPr>
              <a:t>Fixed across all experiments: grayscale input resized to 224 × 224, 128-d projection head with dropout, four-layer classification head, DistilBERT at 96 tokens.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Results</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Six experiments on n = 21,998</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Experiment 1 — the visual fallback</a:t>
            </a:r>
          </a:p>
        </p:txBody>
      </p:sp>
      <p:sp>
        <p:nvSpPr>
          <p:cNvPr id="3" name="TextBox 2"/>
          <p:cNvSpPr txBox="1"/>
          <p:nvPr/>
        </p:nvSpPr>
        <p:spPr>
          <a:xfrm>
            <a:off x="429768" y="768096"/>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How good is the system when the QR code cannot be decoded at all?</a:t>
            </a:r>
          </a:p>
        </p:txBody>
      </p:sp>
      <p:graphicFrame>
        <p:nvGraphicFramePr>
          <p:cNvPr id="4" name="Table 3"/>
          <p:cNvGraphicFramePr>
            <a:graphicFrameLocks noGrp="1"/>
          </p:cNvGraphicFramePr>
          <p:nvPr/>
        </p:nvGraphicFramePr>
        <p:xfrm>
          <a:off x="429768" y="1078992"/>
          <a:ext cx="8028427" cy="1554480"/>
        </p:xfrm>
        <a:graphic>
          <a:graphicData uri="http://schemas.openxmlformats.org/drawingml/2006/table">
            <a:tbl>
              <a:tblPr>
                <a:tableStyleId>{5C22544A-7EE6-4342-B048-85BDC9FD1C3A}</a:tableStyleId>
              </a:tblPr>
              <a:tblGrid>
                <a:gridCol w="2784426">
                  <a:extLst>
                    <a:ext uri="{9D8B030D-6E8A-4147-A177-3AD203B41FA5}">
                      <a16:colId xmlns:a16="http://schemas.microsoft.com/office/drawing/2014/main" val="20000"/>
                    </a:ext>
                  </a:extLst>
                </a:gridCol>
                <a:gridCol w="1067363">
                  <a:extLst>
                    <a:ext uri="{9D8B030D-6E8A-4147-A177-3AD203B41FA5}">
                      <a16:colId xmlns:a16="http://schemas.microsoft.com/office/drawing/2014/main" val="20001"/>
                    </a:ext>
                  </a:extLst>
                </a:gridCol>
                <a:gridCol w="1160177">
                  <a:extLst>
                    <a:ext uri="{9D8B030D-6E8A-4147-A177-3AD203B41FA5}">
                      <a16:colId xmlns:a16="http://schemas.microsoft.com/office/drawing/2014/main" val="20002"/>
                    </a:ext>
                  </a:extLst>
                </a:gridCol>
                <a:gridCol w="1067363">
                  <a:extLst>
                    <a:ext uri="{9D8B030D-6E8A-4147-A177-3AD203B41FA5}">
                      <a16:colId xmlns:a16="http://schemas.microsoft.com/office/drawing/2014/main" val="20003"/>
                    </a:ext>
                  </a:extLst>
                </a:gridCol>
                <a:gridCol w="974549">
                  <a:extLst>
                    <a:ext uri="{9D8B030D-6E8A-4147-A177-3AD203B41FA5}">
                      <a16:colId xmlns:a16="http://schemas.microsoft.com/office/drawing/2014/main" val="20004"/>
                    </a:ext>
                  </a:extLst>
                </a:gridCol>
                <a:gridCol w="974549">
                  <a:extLst>
                    <a:ext uri="{9D8B030D-6E8A-4147-A177-3AD203B41FA5}">
                      <a16:colId xmlns:a16="http://schemas.microsoft.com/office/drawing/2014/main" val="20005"/>
                    </a:ext>
                  </a:extLst>
                </a:gridCol>
              </a:tblGrid>
              <a:tr h="310896">
                <a:tc>
                  <a:txBody>
                    <a:bodyPr/>
                    <a:lstStyle/>
                    <a:p>
                      <a:pPr algn="l"/>
                      <a:r>
                        <a:rPr sz="900" b="1">
                          <a:solidFill>
                            <a:srgbClr val="FFFFFF"/>
                          </a:solidFill>
                          <a:latin typeface="Space Grotesk"/>
                        </a:rPr>
                        <a:t>Method</a:t>
                      </a:r>
                    </a:p>
                  </a:txBody>
                  <a:tcPr marL="54864" marR="54864" marT="27432" marB="27432" anchor="ctr">
                    <a:solidFill>
                      <a:srgbClr val="1A1A2E"/>
                    </a:solidFill>
                  </a:tcPr>
                </a:tc>
                <a:tc>
                  <a:txBody>
                    <a:bodyPr/>
                    <a:lstStyle/>
                    <a:p>
                      <a:pPr algn="ctr"/>
                      <a:r>
                        <a:rPr sz="900" b="1">
                          <a:solidFill>
                            <a:srgbClr val="FFFFFF"/>
                          </a:solidFill>
                          <a:latin typeface="Space Grotesk"/>
                        </a:rPr>
                        <a:t>AUC</a:t>
                      </a:r>
                    </a:p>
                  </a:txBody>
                  <a:tcPr marL="54864" marR="54864" marT="27432" marB="27432" anchor="ctr">
                    <a:solidFill>
                      <a:srgbClr val="1A1A2E"/>
                    </a:solidFill>
                  </a:tcPr>
                </a:tc>
                <a:tc>
                  <a:txBody>
                    <a:bodyPr/>
                    <a:lstStyle/>
                    <a:p>
                      <a:pPr algn="ctr"/>
                      <a:r>
                        <a:rPr sz="900" b="1">
                          <a:solidFill>
                            <a:srgbClr val="FFFFFF"/>
                          </a:solidFill>
                          <a:latin typeface="Space Grotesk"/>
                        </a:rPr>
                        <a:t>Precision</a:t>
                      </a:r>
                    </a:p>
                  </a:txBody>
                  <a:tcPr marL="54864" marR="54864" marT="27432" marB="27432" anchor="ctr">
                    <a:solidFill>
                      <a:srgbClr val="1A1A2E"/>
                    </a:solidFill>
                  </a:tcPr>
                </a:tc>
                <a:tc>
                  <a:txBody>
                    <a:bodyPr/>
                    <a:lstStyle/>
                    <a:p>
                      <a:pPr algn="ctr"/>
                      <a:r>
                        <a:rPr sz="900" b="1">
                          <a:solidFill>
                            <a:srgbClr val="FFFFFF"/>
                          </a:solidFill>
                          <a:latin typeface="Space Grotesk"/>
                        </a:rPr>
                        <a:t>Recall</a:t>
                      </a:r>
                    </a:p>
                  </a:txBody>
                  <a:tcPr marL="54864" marR="54864" marT="27432" marB="27432" anchor="ctr">
                    <a:solidFill>
                      <a:srgbClr val="1A1A2E"/>
                    </a:solidFill>
                  </a:tcPr>
                </a:tc>
                <a:tc>
                  <a:txBody>
                    <a:bodyPr/>
                    <a:lstStyle/>
                    <a:p>
                      <a:pPr algn="ctr"/>
                      <a:r>
                        <a:rPr sz="900" b="1">
                          <a:solidFill>
                            <a:srgbClr val="FFFFFF"/>
                          </a:solidFill>
                          <a:latin typeface="Space Grotesk"/>
                        </a:rPr>
                        <a:t>F1</a:t>
                      </a:r>
                    </a:p>
                  </a:txBody>
                  <a:tcPr marL="54864" marR="54864" marT="27432" marB="27432" anchor="ctr">
                    <a:solidFill>
                      <a:srgbClr val="1A1A2E"/>
                    </a:solidFill>
                  </a:tcPr>
                </a:tc>
                <a:tc>
                  <a:txBody>
                    <a:bodyPr/>
                    <a:lstStyle/>
                    <a:p>
                      <a:pPr algn="ctr"/>
                      <a:r>
                        <a:rPr sz="900" b="1">
                          <a:solidFill>
                            <a:srgbClr val="FFFFFF"/>
                          </a:solidFill>
                          <a:latin typeface="Space Grotesk"/>
                        </a:rPr>
                        <a:t>FNR</a:t>
                      </a:r>
                    </a:p>
                  </a:txBody>
                  <a:tcPr marL="54864" marR="54864" marT="27432" marB="27432" anchor="ctr">
                    <a:solidFill>
                      <a:srgbClr val="1A1A2E"/>
                    </a:solidFill>
                  </a:tcPr>
                </a:tc>
                <a:extLst>
                  <a:ext uri="{0D108BD9-81ED-4DB2-BD59-A6C34878D82A}">
                    <a16:rowId xmlns:a16="http://schemas.microsoft.com/office/drawing/2014/main" val="10000"/>
                  </a:ext>
                </a:extLst>
              </a:tr>
              <a:tr h="310896">
                <a:tc>
                  <a:txBody>
                    <a:bodyPr/>
                    <a:lstStyle/>
                    <a:p>
                      <a:pPr algn="l"/>
                      <a:r>
                        <a:rPr sz="950" b="0">
                          <a:solidFill>
                            <a:srgbClr val="1A1A1A"/>
                          </a:solidFill>
                          <a:latin typeface="Space Grotesk"/>
                        </a:rPr>
                        <a:t>Random Forest baseline</a:t>
                      </a:r>
                    </a:p>
                  </a:txBody>
                  <a:tcPr marL="54864" marR="54864" marT="27432" marB="27432" anchor="ctr">
                    <a:solidFill>
                      <a:srgbClr val="FFFFFF"/>
                    </a:solidFill>
                  </a:tcPr>
                </a:tc>
                <a:tc>
                  <a:txBody>
                    <a:bodyPr/>
                    <a:lstStyle/>
                    <a:p>
                      <a:pPr algn="ctr"/>
                      <a:r>
                        <a:rPr sz="950" b="0">
                          <a:solidFill>
                            <a:srgbClr val="1A1A1A"/>
                          </a:solidFill>
                          <a:latin typeface="Space Grotesk"/>
                        </a:rPr>
                        <a:t>0.813</a:t>
                      </a:r>
                    </a:p>
                  </a:txBody>
                  <a:tcPr marL="54864" marR="54864" marT="27432" marB="27432" anchor="ctr">
                    <a:solidFill>
                      <a:srgbClr val="FFFFFF"/>
                    </a:solidFill>
                  </a:tcPr>
                </a:tc>
                <a:tc>
                  <a:txBody>
                    <a:bodyPr/>
                    <a:lstStyle/>
                    <a:p>
                      <a:pPr algn="ctr"/>
                      <a:r>
                        <a:rPr sz="950" b="0">
                          <a:solidFill>
                            <a:srgbClr val="1A1A1A"/>
                          </a:solidFill>
                          <a:latin typeface="Space Grotesk"/>
                        </a:rPr>
                        <a:t>0.794</a:t>
                      </a:r>
                    </a:p>
                  </a:txBody>
                  <a:tcPr marL="54864" marR="54864" marT="27432" marB="27432" anchor="ctr">
                    <a:solidFill>
                      <a:srgbClr val="FFFFFF"/>
                    </a:solidFill>
                  </a:tcPr>
                </a:tc>
                <a:tc>
                  <a:txBody>
                    <a:bodyPr/>
                    <a:lstStyle/>
                    <a:p>
                      <a:pPr algn="ctr"/>
                      <a:r>
                        <a:rPr sz="950" b="0">
                          <a:solidFill>
                            <a:srgbClr val="1A1A1A"/>
                          </a:solidFill>
                          <a:latin typeface="Space Grotesk"/>
                        </a:rPr>
                        <a:t>0.660</a:t>
                      </a:r>
                    </a:p>
                  </a:txBody>
                  <a:tcPr marL="54864" marR="54864" marT="27432" marB="27432" anchor="ctr">
                    <a:solidFill>
                      <a:srgbClr val="FFFFFF"/>
                    </a:solidFill>
                  </a:tcPr>
                </a:tc>
                <a:tc>
                  <a:txBody>
                    <a:bodyPr/>
                    <a:lstStyle/>
                    <a:p>
                      <a:pPr algn="ctr"/>
                      <a:r>
                        <a:rPr sz="950" b="0">
                          <a:solidFill>
                            <a:srgbClr val="1A1A1A"/>
                          </a:solidFill>
                          <a:latin typeface="Space Grotesk"/>
                        </a:rPr>
                        <a:t>0.720</a:t>
                      </a:r>
                    </a:p>
                  </a:txBody>
                  <a:tcPr marL="54864" marR="54864" marT="27432" marB="27432" anchor="ctr">
                    <a:solidFill>
                      <a:srgbClr val="FFFFFF"/>
                    </a:solidFill>
                  </a:tcPr>
                </a:tc>
                <a:tc>
                  <a:txBody>
                    <a:bodyPr/>
                    <a:lstStyle/>
                    <a:p>
                      <a:pPr algn="ctr"/>
                      <a:r>
                        <a:rPr sz="950" b="0">
                          <a:solidFill>
                            <a:srgbClr val="1A1A1A"/>
                          </a:solidFill>
                          <a:latin typeface="Space Grotesk"/>
                        </a:rPr>
                        <a:t>0.340</a:t>
                      </a:r>
                    </a:p>
                  </a:txBody>
                  <a:tcPr marL="54864" marR="54864" marT="27432" marB="27432" anchor="ctr">
                    <a:solidFill>
                      <a:srgbClr val="FFFFFF"/>
                    </a:solidFill>
                  </a:tcPr>
                </a:tc>
                <a:extLst>
                  <a:ext uri="{0D108BD9-81ED-4DB2-BD59-A6C34878D82A}">
                    <a16:rowId xmlns:a16="http://schemas.microsoft.com/office/drawing/2014/main" val="10001"/>
                  </a:ext>
                </a:extLst>
              </a:tr>
              <a:tr h="310896">
                <a:tc>
                  <a:txBody>
                    <a:bodyPr/>
                    <a:lstStyle/>
                    <a:p>
                      <a:pPr algn="l"/>
                      <a:r>
                        <a:rPr sz="950" b="0">
                          <a:solidFill>
                            <a:srgbClr val="1A1A1A"/>
                          </a:solidFill>
                          <a:latin typeface="Space Grotesk"/>
                        </a:rPr>
                        <a:t>XGBoost baseline</a:t>
                      </a:r>
                    </a:p>
                  </a:txBody>
                  <a:tcPr marL="54864" marR="54864" marT="27432" marB="27432" anchor="ctr">
                    <a:solidFill>
                      <a:srgbClr val="F4F6F8"/>
                    </a:solidFill>
                  </a:tcPr>
                </a:tc>
                <a:tc>
                  <a:txBody>
                    <a:bodyPr/>
                    <a:lstStyle/>
                    <a:p>
                      <a:pPr algn="ctr"/>
                      <a:r>
                        <a:rPr sz="950" b="0">
                          <a:solidFill>
                            <a:srgbClr val="1A1A1A"/>
                          </a:solidFill>
                          <a:latin typeface="Space Grotesk"/>
                        </a:rPr>
                        <a:t>0.810</a:t>
                      </a:r>
                    </a:p>
                  </a:txBody>
                  <a:tcPr marL="54864" marR="54864" marT="27432" marB="27432" anchor="ctr">
                    <a:solidFill>
                      <a:srgbClr val="F4F6F8"/>
                    </a:solidFill>
                  </a:tcPr>
                </a:tc>
                <a:tc>
                  <a:txBody>
                    <a:bodyPr/>
                    <a:lstStyle/>
                    <a:p>
                      <a:pPr algn="ctr"/>
                      <a:r>
                        <a:rPr sz="950" b="0">
                          <a:solidFill>
                            <a:srgbClr val="1A1A1A"/>
                          </a:solidFill>
                          <a:latin typeface="Space Grotesk"/>
                        </a:rPr>
                        <a:t>0.785</a:t>
                      </a:r>
                    </a:p>
                  </a:txBody>
                  <a:tcPr marL="54864" marR="54864" marT="27432" marB="27432" anchor="ctr">
                    <a:solidFill>
                      <a:srgbClr val="F4F6F8"/>
                    </a:solidFill>
                  </a:tcPr>
                </a:tc>
                <a:tc>
                  <a:txBody>
                    <a:bodyPr/>
                    <a:lstStyle/>
                    <a:p>
                      <a:pPr algn="ctr"/>
                      <a:r>
                        <a:rPr sz="950" b="0">
                          <a:solidFill>
                            <a:srgbClr val="1A1A1A"/>
                          </a:solidFill>
                          <a:latin typeface="Space Grotesk"/>
                        </a:rPr>
                        <a:t>0.664</a:t>
                      </a:r>
                    </a:p>
                  </a:txBody>
                  <a:tcPr marL="54864" marR="54864" marT="27432" marB="27432" anchor="ctr">
                    <a:solidFill>
                      <a:srgbClr val="F4F6F8"/>
                    </a:solidFill>
                  </a:tcPr>
                </a:tc>
                <a:tc>
                  <a:txBody>
                    <a:bodyPr/>
                    <a:lstStyle/>
                    <a:p>
                      <a:pPr algn="ctr"/>
                      <a:r>
                        <a:rPr sz="950" b="0">
                          <a:solidFill>
                            <a:srgbClr val="1A1A1A"/>
                          </a:solidFill>
                          <a:latin typeface="Space Grotesk"/>
                        </a:rPr>
                        <a:t>0.720</a:t>
                      </a:r>
                    </a:p>
                  </a:txBody>
                  <a:tcPr marL="54864" marR="54864" marT="27432" marB="27432" anchor="ctr">
                    <a:solidFill>
                      <a:srgbClr val="F4F6F8"/>
                    </a:solidFill>
                  </a:tcPr>
                </a:tc>
                <a:tc>
                  <a:txBody>
                    <a:bodyPr/>
                    <a:lstStyle/>
                    <a:p>
                      <a:pPr algn="ctr"/>
                      <a:r>
                        <a:rPr sz="950" b="0">
                          <a:solidFill>
                            <a:srgbClr val="1A1A1A"/>
                          </a:solidFill>
                          <a:latin typeface="Space Grotesk"/>
                        </a:rPr>
                        <a:t>0.336</a:t>
                      </a:r>
                    </a:p>
                  </a:txBody>
                  <a:tcPr marL="54864" marR="54864" marT="27432" marB="27432" anchor="ctr">
                    <a:solidFill>
                      <a:srgbClr val="F4F6F8"/>
                    </a:solidFill>
                  </a:tcPr>
                </a:tc>
                <a:extLst>
                  <a:ext uri="{0D108BD9-81ED-4DB2-BD59-A6C34878D82A}">
                    <a16:rowId xmlns:a16="http://schemas.microsoft.com/office/drawing/2014/main" val="10002"/>
                  </a:ext>
                </a:extLst>
              </a:tr>
              <a:tr h="310896">
                <a:tc>
                  <a:txBody>
                    <a:bodyPr/>
                    <a:lstStyle/>
                    <a:p>
                      <a:pPr algn="l"/>
                      <a:r>
                        <a:rPr sz="950" b="0">
                          <a:solidFill>
                            <a:srgbClr val="1A1A1A"/>
                          </a:solidFill>
                          <a:latin typeface="Space Grotesk"/>
                        </a:rPr>
                        <a:t>Q-Shield visual (single seed)</a:t>
                      </a:r>
                    </a:p>
                  </a:txBody>
                  <a:tcPr marL="54864" marR="54864" marT="27432" marB="27432" anchor="ctr">
                    <a:solidFill>
                      <a:srgbClr val="FFFFFF"/>
                    </a:solidFill>
                  </a:tcPr>
                </a:tc>
                <a:tc>
                  <a:txBody>
                    <a:bodyPr/>
                    <a:lstStyle/>
                    <a:p>
                      <a:pPr algn="ctr"/>
                      <a:r>
                        <a:rPr sz="950" b="0">
                          <a:solidFill>
                            <a:srgbClr val="1A1A1A"/>
                          </a:solidFill>
                          <a:latin typeface="Space Grotesk"/>
                        </a:rPr>
                        <a:t>0.8962</a:t>
                      </a:r>
                    </a:p>
                  </a:txBody>
                  <a:tcPr marL="54864" marR="54864" marT="27432" marB="27432" anchor="ctr">
                    <a:solidFill>
                      <a:srgbClr val="FFFFFF"/>
                    </a:solidFill>
                  </a:tcPr>
                </a:tc>
                <a:tc>
                  <a:txBody>
                    <a:bodyPr/>
                    <a:lstStyle/>
                    <a:p>
                      <a:pPr algn="ctr"/>
                      <a:r>
                        <a:rPr sz="950" b="0">
                          <a:solidFill>
                            <a:srgbClr val="1A1A1A"/>
                          </a:solidFill>
                          <a:latin typeface="Space Grotesk"/>
                        </a:rPr>
                        <a:t>0.844</a:t>
                      </a:r>
                    </a:p>
                  </a:txBody>
                  <a:tcPr marL="54864" marR="54864" marT="27432" marB="27432" anchor="ctr">
                    <a:solidFill>
                      <a:srgbClr val="FFFFFF"/>
                    </a:solidFill>
                  </a:tcPr>
                </a:tc>
                <a:tc>
                  <a:txBody>
                    <a:bodyPr/>
                    <a:lstStyle/>
                    <a:p>
                      <a:pPr algn="ctr"/>
                      <a:r>
                        <a:rPr sz="950" b="0">
                          <a:solidFill>
                            <a:srgbClr val="1A1A1A"/>
                          </a:solidFill>
                          <a:latin typeface="Space Grotesk"/>
                        </a:rPr>
                        <a:t>0.798</a:t>
                      </a:r>
                    </a:p>
                  </a:txBody>
                  <a:tcPr marL="54864" marR="54864" marT="27432" marB="27432" anchor="ctr">
                    <a:solidFill>
                      <a:srgbClr val="FFFFFF"/>
                    </a:solidFill>
                  </a:tcPr>
                </a:tc>
                <a:tc>
                  <a:txBody>
                    <a:bodyPr/>
                    <a:lstStyle/>
                    <a:p>
                      <a:pPr algn="ctr"/>
                      <a:r>
                        <a:rPr sz="950" b="0">
                          <a:solidFill>
                            <a:srgbClr val="1A1A1A"/>
                          </a:solidFill>
                          <a:latin typeface="Space Grotesk"/>
                        </a:rPr>
                        <a:t>0.821</a:t>
                      </a:r>
                    </a:p>
                  </a:txBody>
                  <a:tcPr marL="54864" marR="54864" marT="27432" marB="27432" anchor="ctr">
                    <a:solidFill>
                      <a:srgbClr val="FFFFFF"/>
                    </a:solidFill>
                  </a:tcPr>
                </a:tc>
                <a:tc>
                  <a:txBody>
                    <a:bodyPr/>
                    <a:lstStyle/>
                    <a:p>
                      <a:pPr algn="ctr"/>
                      <a:r>
                        <a:rPr sz="950" b="0">
                          <a:solidFill>
                            <a:srgbClr val="1A1A1A"/>
                          </a:solidFill>
                          <a:latin typeface="Space Grotesk"/>
                        </a:rPr>
                        <a:t>0.202</a:t>
                      </a:r>
                    </a:p>
                  </a:txBody>
                  <a:tcPr marL="54864" marR="54864" marT="27432" marB="27432" anchor="ctr">
                    <a:solidFill>
                      <a:srgbClr val="FFFFFF"/>
                    </a:solidFill>
                  </a:tcPr>
                </a:tc>
                <a:extLst>
                  <a:ext uri="{0D108BD9-81ED-4DB2-BD59-A6C34878D82A}">
                    <a16:rowId xmlns:a16="http://schemas.microsoft.com/office/drawing/2014/main" val="10003"/>
                  </a:ext>
                </a:extLst>
              </a:tr>
              <a:tr h="310896">
                <a:tc>
                  <a:txBody>
                    <a:bodyPr/>
                    <a:lstStyle/>
                    <a:p>
                      <a:pPr algn="l"/>
                      <a:r>
                        <a:rPr sz="950" b="1">
                          <a:solidFill>
                            <a:srgbClr val="00BFFF"/>
                          </a:solidFill>
                          <a:latin typeface="Space Grotesk"/>
                        </a:rPr>
                        <a:t>Q-Shield visual (2-seed ensemble + TTA)</a:t>
                      </a:r>
                    </a:p>
                  </a:txBody>
                  <a:tcPr marL="54864" marR="54864" marT="27432" marB="27432" anchor="ctr">
                    <a:solidFill>
                      <a:srgbClr val="EAF7FD"/>
                    </a:solidFill>
                  </a:tcPr>
                </a:tc>
                <a:tc>
                  <a:txBody>
                    <a:bodyPr/>
                    <a:lstStyle/>
                    <a:p>
                      <a:pPr algn="ctr"/>
                      <a:r>
                        <a:rPr sz="950" b="1">
                          <a:solidFill>
                            <a:srgbClr val="00BFFF"/>
                          </a:solidFill>
                          <a:latin typeface="Space Grotesk"/>
                        </a:rPr>
                        <a:t>0.9146</a:t>
                      </a:r>
                    </a:p>
                  </a:txBody>
                  <a:tcPr marL="54864" marR="54864" marT="27432" marB="27432" anchor="ctr">
                    <a:solidFill>
                      <a:srgbClr val="EAF7FD"/>
                    </a:solidFill>
                  </a:tcPr>
                </a:tc>
                <a:tc>
                  <a:txBody>
                    <a:bodyPr/>
                    <a:lstStyle/>
                    <a:p>
                      <a:pPr algn="ctr"/>
                      <a:r>
                        <a:rPr sz="950" b="1">
                          <a:solidFill>
                            <a:srgbClr val="00BFFF"/>
                          </a:solidFill>
                          <a:latin typeface="Space Grotesk"/>
                        </a:rPr>
                        <a:t>0.872</a:t>
                      </a:r>
                    </a:p>
                  </a:txBody>
                  <a:tcPr marL="54864" marR="54864" marT="27432" marB="27432" anchor="ctr">
                    <a:solidFill>
                      <a:srgbClr val="EAF7FD"/>
                    </a:solidFill>
                  </a:tcPr>
                </a:tc>
                <a:tc>
                  <a:txBody>
                    <a:bodyPr/>
                    <a:lstStyle/>
                    <a:p>
                      <a:pPr algn="ctr"/>
                      <a:r>
                        <a:rPr sz="950" b="1">
                          <a:solidFill>
                            <a:srgbClr val="00BFFF"/>
                          </a:solidFill>
                          <a:latin typeface="Space Grotesk"/>
                        </a:rPr>
                        <a:t>0.801</a:t>
                      </a:r>
                    </a:p>
                  </a:txBody>
                  <a:tcPr marL="54864" marR="54864" marT="27432" marB="27432" anchor="ctr">
                    <a:solidFill>
                      <a:srgbClr val="EAF7FD"/>
                    </a:solidFill>
                  </a:tcPr>
                </a:tc>
                <a:tc>
                  <a:txBody>
                    <a:bodyPr/>
                    <a:lstStyle/>
                    <a:p>
                      <a:pPr algn="ctr"/>
                      <a:r>
                        <a:rPr sz="950" b="1">
                          <a:solidFill>
                            <a:srgbClr val="00BFFF"/>
                          </a:solidFill>
                          <a:latin typeface="Space Grotesk"/>
                        </a:rPr>
                        <a:t>0.835</a:t>
                      </a:r>
                    </a:p>
                  </a:txBody>
                  <a:tcPr marL="54864" marR="54864" marT="27432" marB="27432" anchor="ctr">
                    <a:solidFill>
                      <a:srgbClr val="EAF7FD"/>
                    </a:solidFill>
                  </a:tcPr>
                </a:tc>
                <a:tc>
                  <a:txBody>
                    <a:bodyPr/>
                    <a:lstStyle/>
                    <a:p>
                      <a:pPr algn="ctr"/>
                      <a:r>
                        <a:rPr sz="950" b="1">
                          <a:solidFill>
                            <a:srgbClr val="00BFFF"/>
                          </a:solidFill>
                          <a:latin typeface="Space Grotesk"/>
                        </a:rPr>
                        <a:t>0.199</a:t>
                      </a:r>
                    </a:p>
                  </a:txBody>
                  <a:tcPr marL="54864" marR="54864" marT="27432" marB="27432" anchor="ctr">
                    <a:solidFill>
                      <a:srgbClr val="EAF7FD"/>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429768" y="2926080"/>
            <a:ext cx="2615184" cy="9144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21208" y="3017520"/>
            <a:ext cx="2432304"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+0.10 AUC</a:t>
            </a:r>
          </a:p>
        </p:txBody>
      </p:sp>
      <p:sp>
        <p:nvSpPr>
          <p:cNvPr id="7" name="TextBox 6"/>
          <p:cNvSpPr txBox="1"/>
          <p:nvPr/>
        </p:nvSpPr>
        <p:spPr>
          <a:xfrm>
            <a:off x="502920" y="3401568"/>
            <a:ext cx="2468880"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over handcrafted feature baselines</a:t>
            </a:r>
          </a:p>
        </p:txBody>
      </p:sp>
      <p:sp>
        <p:nvSpPr>
          <p:cNvPr id="8" name="Rounded Rectangle 7"/>
          <p:cNvSpPr/>
          <p:nvPr/>
        </p:nvSpPr>
        <p:spPr>
          <a:xfrm>
            <a:off x="3227832" y="2926080"/>
            <a:ext cx="2615184" cy="91440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319272" y="3017520"/>
            <a:ext cx="2432304"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 prior SOTA</a:t>
            </a:r>
          </a:p>
        </p:txBody>
      </p:sp>
      <p:sp>
        <p:nvSpPr>
          <p:cNvPr id="10" name="TextBox 9"/>
          <p:cNvSpPr txBox="1"/>
          <p:nvPr/>
        </p:nvSpPr>
        <p:spPr>
          <a:xfrm>
            <a:off x="3300984" y="3401568"/>
            <a:ext cx="2468880"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matches Trad 0.9133 on a benchmark 11× larger</a:t>
            </a:r>
          </a:p>
        </p:txBody>
      </p:sp>
      <p:sp>
        <p:nvSpPr>
          <p:cNvPr id="11" name="Rounded Rectangle 10"/>
          <p:cNvSpPr/>
          <p:nvPr/>
        </p:nvSpPr>
        <p:spPr>
          <a:xfrm>
            <a:off x="6025896" y="2926080"/>
            <a:ext cx="2615184" cy="9144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117336" y="3017520"/>
            <a:ext cx="2432304"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25 ms / image</a:t>
            </a:r>
          </a:p>
        </p:txBody>
      </p:sp>
      <p:sp>
        <p:nvSpPr>
          <p:cNvPr id="13" name="TextBox 12"/>
          <p:cNvSpPr txBox="1"/>
          <p:nvPr/>
        </p:nvSpPr>
        <p:spPr>
          <a:xfrm>
            <a:off x="6099048" y="3401568"/>
            <a:ext cx="2468880"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single-seed configuration on CPU</a:t>
            </a:r>
          </a:p>
        </p:txBody>
      </p:sp>
      <p:sp>
        <p:nvSpPr>
          <p:cNvPr id="14" name="TextBox 13"/>
          <p:cNvSpPr txBox="1"/>
          <p:nvPr/>
        </p:nvSpPr>
        <p:spPr>
          <a:xfrm>
            <a:off x="429768" y="4005072"/>
            <a:ext cx="8028431" cy="384048"/>
          </a:xfrm>
          <a:prstGeom prst="rect">
            <a:avLst/>
          </a:prstGeom>
          <a:noFill/>
        </p:spPr>
        <p:txBody>
          <a:bodyPr wrap="square" lIns="18288" tIns="0" rIns="18288" bIns="0" anchor="t">
            <a:spAutoFit/>
          </a:bodyPr>
          <a:lstStyle/>
          <a:p>
            <a:pPr algn="l">
              <a:spcAft>
                <a:spcPts val="200"/>
              </a:spcAft>
            </a:pPr>
            <a:r>
              <a:rPr sz="1000" b="0" i="1">
                <a:solidFill>
                  <a:srgbClr val="595959"/>
                </a:solidFill>
                <a:latin typeface="Space Grotesk"/>
              </a:rPr>
              <a:t>This is the lower bound of the system: what Q-Shield still delivers when the payload is unavailable. It is a fallback, not the operating point.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Experiment 2 — multimodal fusion</a:t>
            </a:r>
          </a:p>
        </p:txBody>
      </p:sp>
      <p:sp>
        <p:nvSpPr>
          <p:cNvPr id="3" name="TextBox 2"/>
          <p:cNvSpPr txBox="1"/>
          <p:nvPr/>
        </p:nvSpPr>
        <p:spPr>
          <a:xfrm>
            <a:off x="429768" y="768096"/>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The headline result: visual vs text vs fusion on n = 21,998</a:t>
            </a:r>
          </a:p>
        </p:txBody>
      </p:sp>
      <p:graphicFrame>
        <p:nvGraphicFramePr>
          <p:cNvPr id="4" name="Table 3"/>
          <p:cNvGraphicFramePr>
            <a:graphicFrameLocks noGrp="1"/>
          </p:cNvGraphicFramePr>
          <p:nvPr/>
        </p:nvGraphicFramePr>
        <p:xfrm>
          <a:off x="429768" y="1060704"/>
          <a:ext cx="4434840" cy="1298448"/>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10896">
                <a:tc>
                  <a:txBody>
                    <a:bodyPr/>
                    <a:lstStyle/>
                    <a:p>
                      <a:pPr algn="l"/>
                      <a:r>
                        <a:rPr sz="900" b="1">
                          <a:solidFill>
                            <a:srgbClr val="FFFFFF"/>
                          </a:solidFill>
                          <a:latin typeface="Space Grotesk"/>
                        </a:rPr>
                        <a:t>Branch</a:t>
                      </a:r>
                    </a:p>
                  </a:txBody>
                  <a:tcPr marL="54864" marR="54864" marT="27432" marB="27432" anchor="ctr">
                    <a:solidFill>
                      <a:srgbClr val="1A1A2E"/>
                    </a:solidFill>
                  </a:tcPr>
                </a:tc>
                <a:tc>
                  <a:txBody>
                    <a:bodyPr/>
                    <a:lstStyle/>
                    <a:p>
                      <a:pPr algn="ctr"/>
                      <a:r>
                        <a:rPr sz="900" b="1">
                          <a:solidFill>
                            <a:srgbClr val="FFFFFF"/>
                          </a:solidFill>
                          <a:latin typeface="Space Grotesk"/>
                        </a:rPr>
                        <a:t>AUC</a:t>
                      </a:r>
                    </a:p>
                  </a:txBody>
                  <a:tcPr marL="54864" marR="54864" marT="27432" marB="27432" anchor="ctr">
                    <a:solidFill>
                      <a:srgbClr val="1A1A2E"/>
                    </a:solidFill>
                  </a:tcPr>
                </a:tc>
                <a:tc>
                  <a:txBody>
                    <a:bodyPr/>
                    <a:lstStyle/>
                    <a:p>
                      <a:pPr algn="ctr"/>
                      <a:r>
                        <a:rPr sz="900" b="1">
                          <a:solidFill>
                            <a:srgbClr val="FFFFFF"/>
                          </a:solidFill>
                          <a:latin typeface="Space Grotesk"/>
                        </a:rPr>
                        <a:t>F1</a:t>
                      </a:r>
                    </a:p>
                  </a:txBody>
                  <a:tcPr marL="54864" marR="54864" marT="27432" marB="27432" anchor="ctr">
                    <a:solidFill>
                      <a:srgbClr val="1A1A2E"/>
                    </a:solidFill>
                  </a:tcPr>
                </a:tc>
                <a:tc>
                  <a:txBody>
                    <a:bodyPr/>
                    <a:lstStyle/>
                    <a:p>
                      <a:pPr algn="ctr"/>
                      <a:r>
                        <a:rPr sz="900" b="1">
                          <a:solidFill>
                            <a:srgbClr val="FFFFFF"/>
                          </a:solidFill>
                          <a:latin typeface="Space Grotesk"/>
                        </a:rPr>
                        <a:t>FNR</a:t>
                      </a:r>
                    </a:p>
                  </a:txBody>
                  <a:tcPr marL="54864" marR="54864" marT="27432" marB="27432" anchor="ctr">
                    <a:solidFill>
                      <a:srgbClr val="1A1A2E"/>
                    </a:solidFill>
                  </a:tcPr>
                </a:tc>
                <a:extLst>
                  <a:ext uri="{0D108BD9-81ED-4DB2-BD59-A6C34878D82A}">
                    <a16:rowId xmlns:a16="http://schemas.microsoft.com/office/drawing/2014/main" val="10000"/>
                  </a:ext>
                </a:extLst>
              </a:tr>
              <a:tr h="329184">
                <a:tc>
                  <a:txBody>
                    <a:bodyPr/>
                    <a:lstStyle/>
                    <a:p>
                      <a:pPr algn="l"/>
                      <a:r>
                        <a:rPr sz="1000" b="0">
                          <a:solidFill>
                            <a:srgbClr val="1A1A1A"/>
                          </a:solidFill>
                          <a:latin typeface="Space Grotesk"/>
                        </a:rPr>
                        <a:t>Visual only</a:t>
                      </a:r>
                    </a:p>
                  </a:txBody>
                  <a:tcPr marL="54864" marR="54864" marT="27432" marB="27432" anchor="ctr">
                    <a:solidFill>
                      <a:srgbClr val="FFFFFF"/>
                    </a:solidFill>
                  </a:tcPr>
                </a:tc>
                <a:tc>
                  <a:txBody>
                    <a:bodyPr/>
                    <a:lstStyle/>
                    <a:p>
                      <a:pPr algn="ctr"/>
                      <a:r>
                        <a:rPr sz="1000" b="0">
                          <a:solidFill>
                            <a:srgbClr val="1A1A1A"/>
                          </a:solidFill>
                          <a:latin typeface="Space Grotesk"/>
                        </a:rPr>
                        <a:t>0.8962</a:t>
                      </a:r>
                    </a:p>
                  </a:txBody>
                  <a:tcPr marL="54864" marR="54864" marT="27432" marB="27432" anchor="ctr">
                    <a:solidFill>
                      <a:srgbClr val="FFFFFF"/>
                    </a:solidFill>
                  </a:tcPr>
                </a:tc>
                <a:tc>
                  <a:txBody>
                    <a:bodyPr/>
                    <a:lstStyle/>
                    <a:p>
                      <a:pPr algn="ctr"/>
                      <a:r>
                        <a:rPr sz="1000" b="0">
                          <a:solidFill>
                            <a:srgbClr val="1A1A1A"/>
                          </a:solidFill>
                          <a:latin typeface="Space Grotesk"/>
                        </a:rPr>
                        <a:t>0.821</a:t>
                      </a:r>
                    </a:p>
                  </a:txBody>
                  <a:tcPr marL="54864" marR="54864" marT="27432" marB="27432" anchor="ctr">
                    <a:solidFill>
                      <a:srgbClr val="FFFFFF"/>
                    </a:solidFill>
                  </a:tcPr>
                </a:tc>
                <a:tc>
                  <a:txBody>
                    <a:bodyPr/>
                    <a:lstStyle/>
                    <a:p>
                      <a:pPr algn="ctr"/>
                      <a:r>
                        <a:rPr sz="1000" b="0">
                          <a:solidFill>
                            <a:srgbClr val="1A1A1A"/>
                          </a:solidFill>
                          <a:latin typeface="Space Grotesk"/>
                        </a:rPr>
                        <a:t>0.202</a:t>
                      </a:r>
                    </a:p>
                  </a:txBody>
                  <a:tcPr marL="54864"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000" b="0">
                          <a:solidFill>
                            <a:srgbClr val="1A1A1A"/>
                          </a:solidFill>
                          <a:latin typeface="Space Grotesk"/>
                        </a:rPr>
                        <a:t>Text only</a:t>
                      </a:r>
                    </a:p>
                  </a:txBody>
                  <a:tcPr marL="54864" marR="54864" marT="27432" marB="27432" anchor="ctr">
                    <a:solidFill>
                      <a:srgbClr val="F4F6F8"/>
                    </a:solidFill>
                  </a:tcPr>
                </a:tc>
                <a:tc>
                  <a:txBody>
                    <a:bodyPr/>
                    <a:lstStyle/>
                    <a:p>
                      <a:pPr algn="ctr"/>
                      <a:r>
                        <a:rPr sz="1000" b="0">
                          <a:solidFill>
                            <a:srgbClr val="1A1A1A"/>
                          </a:solidFill>
                          <a:latin typeface="Space Grotesk"/>
                        </a:rPr>
                        <a:t>0.9592</a:t>
                      </a:r>
                    </a:p>
                  </a:txBody>
                  <a:tcPr marL="54864" marR="54864" marT="27432" marB="27432" anchor="ctr">
                    <a:solidFill>
                      <a:srgbClr val="F4F6F8"/>
                    </a:solidFill>
                  </a:tcPr>
                </a:tc>
                <a:tc>
                  <a:txBody>
                    <a:bodyPr/>
                    <a:lstStyle/>
                    <a:p>
                      <a:pPr algn="ctr"/>
                      <a:r>
                        <a:rPr sz="1000" b="0">
                          <a:solidFill>
                            <a:srgbClr val="1A1A1A"/>
                          </a:solidFill>
                          <a:latin typeface="Space Grotesk"/>
                        </a:rPr>
                        <a:t>0.927</a:t>
                      </a:r>
                    </a:p>
                  </a:txBody>
                  <a:tcPr marL="54864" marR="54864" marT="27432" marB="27432" anchor="ctr">
                    <a:solidFill>
                      <a:srgbClr val="F4F6F8"/>
                    </a:solidFill>
                  </a:tcPr>
                </a:tc>
                <a:tc>
                  <a:txBody>
                    <a:bodyPr/>
                    <a:lstStyle/>
                    <a:p>
                      <a:pPr algn="ctr"/>
                      <a:r>
                        <a:rPr sz="1000" b="0">
                          <a:solidFill>
                            <a:srgbClr val="1A1A1A"/>
                          </a:solidFill>
                          <a:latin typeface="Space Grotesk"/>
                        </a:rPr>
                        <a:t>0.069</a:t>
                      </a:r>
                    </a:p>
                  </a:txBody>
                  <a:tcPr marL="54864" marR="54864" marT="27432" marB="27432" anchor="ctr">
                    <a:solidFill>
                      <a:srgbClr val="F4F6F8"/>
                    </a:solidFill>
                  </a:tcPr>
                </a:tc>
                <a:extLst>
                  <a:ext uri="{0D108BD9-81ED-4DB2-BD59-A6C34878D82A}">
                    <a16:rowId xmlns:a16="http://schemas.microsoft.com/office/drawing/2014/main" val="10002"/>
                  </a:ext>
                </a:extLst>
              </a:tr>
              <a:tr h="329184">
                <a:tc>
                  <a:txBody>
                    <a:bodyPr/>
                    <a:lstStyle/>
                    <a:p>
                      <a:pPr algn="l"/>
                      <a:r>
                        <a:rPr sz="1000" b="1">
                          <a:solidFill>
                            <a:srgbClr val="00BFFF"/>
                          </a:solidFill>
                          <a:latin typeface="Space Grotesk"/>
                        </a:rPr>
                        <a:t>Fusion</a:t>
                      </a:r>
                    </a:p>
                  </a:txBody>
                  <a:tcPr marL="54864" marR="54864" marT="27432" marB="27432" anchor="ctr">
                    <a:solidFill>
                      <a:srgbClr val="EAF7FD"/>
                    </a:solidFill>
                  </a:tcPr>
                </a:tc>
                <a:tc>
                  <a:txBody>
                    <a:bodyPr/>
                    <a:lstStyle/>
                    <a:p>
                      <a:pPr algn="ctr"/>
                      <a:r>
                        <a:rPr sz="1000" b="1">
                          <a:solidFill>
                            <a:srgbClr val="00BFFF"/>
                          </a:solidFill>
                          <a:latin typeface="Space Grotesk"/>
                        </a:rPr>
                        <a:t>0.9749</a:t>
                      </a:r>
                    </a:p>
                  </a:txBody>
                  <a:tcPr marL="54864" marR="54864" marT="27432" marB="27432" anchor="ctr">
                    <a:solidFill>
                      <a:srgbClr val="EAF7FD"/>
                    </a:solidFill>
                  </a:tcPr>
                </a:tc>
                <a:tc>
                  <a:txBody>
                    <a:bodyPr/>
                    <a:lstStyle/>
                    <a:p>
                      <a:pPr algn="ctr"/>
                      <a:r>
                        <a:rPr sz="1000" b="1">
                          <a:solidFill>
                            <a:srgbClr val="00BFFF"/>
                          </a:solidFill>
                          <a:latin typeface="Space Grotesk"/>
                        </a:rPr>
                        <a:t>0.936</a:t>
                      </a:r>
                    </a:p>
                  </a:txBody>
                  <a:tcPr marL="54864" marR="54864" marT="27432" marB="27432" anchor="ctr">
                    <a:solidFill>
                      <a:srgbClr val="EAF7FD"/>
                    </a:solidFill>
                  </a:tcPr>
                </a:tc>
                <a:tc>
                  <a:txBody>
                    <a:bodyPr/>
                    <a:lstStyle/>
                    <a:p>
                      <a:pPr algn="ctr"/>
                      <a:r>
                        <a:rPr sz="1000" b="1">
                          <a:solidFill>
                            <a:srgbClr val="00BFFF"/>
                          </a:solidFill>
                          <a:latin typeface="Space Grotesk"/>
                        </a:rPr>
                        <a:t>0.057</a:t>
                      </a:r>
                    </a:p>
                  </a:txBody>
                  <a:tcPr marL="54864" marR="54864" marT="27432" marB="27432" anchor="ctr">
                    <a:solidFill>
                      <a:srgbClr val="EAF7FD"/>
                    </a:solidFill>
                  </a:tcPr>
                </a:tc>
                <a:extLst>
                  <a:ext uri="{0D108BD9-81ED-4DB2-BD59-A6C34878D82A}">
                    <a16:rowId xmlns:a16="http://schemas.microsoft.com/office/drawing/2014/main" val="10003"/>
                  </a:ext>
                </a:extLst>
              </a:tr>
            </a:tbl>
          </a:graphicData>
        </a:graphic>
      </p:graphicFrame>
      <p:pic>
        <p:nvPicPr>
          <p:cNvPr id="5" name="Picture 4" descr="fig_confusion_roc.png"/>
          <p:cNvPicPr>
            <a:picLocks noChangeAspect="1"/>
          </p:cNvPicPr>
          <p:nvPr/>
        </p:nvPicPr>
        <p:blipFill>
          <a:blip r:embed="rId3"/>
          <a:stretch>
            <a:fillRect/>
          </a:stretch>
        </p:blipFill>
        <p:spPr>
          <a:xfrm>
            <a:off x="5047488" y="1060704"/>
            <a:ext cx="3410712" cy="1457938"/>
          </a:xfrm>
          <a:prstGeom prst="rect">
            <a:avLst/>
          </a:prstGeom>
        </p:spPr>
      </p:pic>
      <p:sp>
        <p:nvSpPr>
          <p:cNvPr id="6" name="Rounded Rectangle 5"/>
          <p:cNvSpPr/>
          <p:nvPr/>
        </p:nvSpPr>
        <p:spPr>
          <a:xfrm>
            <a:off x="429768" y="2615184"/>
            <a:ext cx="1024128" cy="84124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21208" y="2706624"/>
            <a:ext cx="841248"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0.9749</a:t>
            </a:r>
          </a:p>
        </p:txBody>
      </p:sp>
      <p:sp>
        <p:nvSpPr>
          <p:cNvPr id="8" name="TextBox 7"/>
          <p:cNvSpPr txBox="1"/>
          <p:nvPr/>
        </p:nvSpPr>
        <p:spPr>
          <a:xfrm>
            <a:off x="502920" y="3090672"/>
            <a:ext cx="877824"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AUC</a:t>
            </a:r>
          </a:p>
        </p:txBody>
      </p:sp>
      <p:sp>
        <p:nvSpPr>
          <p:cNvPr id="9" name="Rounded Rectangle 8"/>
          <p:cNvSpPr/>
          <p:nvPr/>
        </p:nvSpPr>
        <p:spPr>
          <a:xfrm>
            <a:off x="1545336" y="2615184"/>
            <a:ext cx="1024128" cy="84124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636776" y="2706624"/>
            <a:ext cx="841248"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0.936</a:t>
            </a:r>
          </a:p>
        </p:txBody>
      </p:sp>
      <p:sp>
        <p:nvSpPr>
          <p:cNvPr id="11" name="TextBox 10"/>
          <p:cNvSpPr txBox="1"/>
          <p:nvPr/>
        </p:nvSpPr>
        <p:spPr>
          <a:xfrm>
            <a:off x="1618488" y="3090672"/>
            <a:ext cx="877824"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F1</a:t>
            </a:r>
          </a:p>
        </p:txBody>
      </p:sp>
      <p:sp>
        <p:nvSpPr>
          <p:cNvPr id="12" name="Rounded Rectangle 11"/>
          <p:cNvSpPr/>
          <p:nvPr/>
        </p:nvSpPr>
        <p:spPr>
          <a:xfrm>
            <a:off x="2660904" y="2615184"/>
            <a:ext cx="1024128" cy="841248"/>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752344" y="2706624"/>
            <a:ext cx="841248"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0.057</a:t>
            </a:r>
          </a:p>
        </p:txBody>
      </p:sp>
      <p:sp>
        <p:nvSpPr>
          <p:cNvPr id="14" name="TextBox 13"/>
          <p:cNvSpPr txBox="1"/>
          <p:nvPr/>
        </p:nvSpPr>
        <p:spPr>
          <a:xfrm>
            <a:off x="2734056" y="3090672"/>
            <a:ext cx="877824"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FNR</a:t>
            </a:r>
          </a:p>
        </p:txBody>
      </p:sp>
      <p:sp>
        <p:nvSpPr>
          <p:cNvPr id="15" name="Rounded Rectangle 14"/>
          <p:cNvSpPr/>
          <p:nvPr/>
        </p:nvSpPr>
        <p:spPr>
          <a:xfrm>
            <a:off x="3776472" y="2615184"/>
            <a:ext cx="1024128" cy="84124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867912" y="2706624"/>
            <a:ext cx="841248"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3.5×</a:t>
            </a:r>
          </a:p>
        </p:txBody>
      </p:sp>
      <p:sp>
        <p:nvSpPr>
          <p:cNvPr id="17" name="TextBox 16"/>
          <p:cNvSpPr txBox="1"/>
          <p:nvPr/>
        </p:nvSpPr>
        <p:spPr>
          <a:xfrm>
            <a:off x="3849624" y="3090672"/>
            <a:ext cx="877824"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fewer false negatives</a:t>
            </a:r>
          </a:p>
        </p:txBody>
      </p:sp>
      <p:sp>
        <p:nvSpPr>
          <p:cNvPr id="18" name="Rounded Rectangle 17"/>
          <p:cNvSpPr/>
          <p:nvPr/>
        </p:nvSpPr>
        <p:spPr>
          <a:xfrm>
            <a:off x="429768" y="3621024"/>
            <a:ext cx="8028431" cy="786384"/>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3675888"/>
            <a:ext cx="7699247" cy="676656"/>
          </a:xfrm>
          <a:prstGeom prst="rect">
            <a:avLst/>
          </a:prstGeom>
          <a:noFill/>
        </p:spPr>
        <p:txBody>
          <a:bodyPr wrap="square" lIns="18288" tIns="0" rIns="18288" bIns="0" anchor="ctr">
            <a:spAutoFit/>
          </a:bodyPr>
          <a:lstStyle/>
          <a:p>
            <a:pPr algn="l">
              <a:spcAft>
                <a:spcPts val="200"/>
              </a:spcAft>
            </a:pPr>
            <a:r>
              <a:rPr sz="1050" b="1" i="0">
                <a:solidFill>
                  <a:srgbClr val="1A1A1A"/>
                </a:solidFill>
                <a:latin typeface="Space Grotesk"/>
              </a:rPr>
              <a:t>The aggregate gain over text-only is modest (+0.0157 AUC) — but it is concentrated in the 4.3% undecodable regime, where text-only prediction collapses to a constant embedding and the visual branch is all that is left.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Experiments 3 &amp; 4 — ablation and domain shift</a:t>
            </a:r>
          </a:p>
        </p:txBody>
      </p:sp>
      <p:sp>
        <p:nvSpPr>
          <p:cNvPr id="3" name="TextBox 2"/>
          <p:cNvSpPr txBox="1"/>
          <p:nvPr/>
        </p:nvSpPr>
        <p:spPr>
          <a:xfrm>
            <a:off x="429768" y="768096"/>
            <a:ext cx="3931920" cy="237744"/>
          </a:xfrm>
          <a:prstGeom prst="rect">
            <a:avLst/>
          </a:prstGeom>
          <a:noFill/>
        </p:spPr>
        <p:txBody>
          <a:bodyPr wrap="square" lIns="18288" tIns="0" rIns="18288" bIns="0" anchor="t">
            <a:spAutoFit/>
          </a:bodyPr>
          <a:lstStyle/>
          <a:p>
            <a:pPr algn="l">
              <a:spcAft>
                <a:spcPts val="200"/>
              </a:spcAft>
            </a:pPr>
            <a:r>
              <a:rPr sz="1100" b="1" i="0">
                <a:solidFill>
                  <a:srgbClr val="00BFFF"/>
                </a:solidFill>
                <a:latin typeface="Space Grotesk"/>
              </a:rPr>
              <a:t>What each design choice is worth</a:t>
            </a:r>
          </a:p>
        </p:txBody>
      </p:sp>
      <p:sp>
        <p:nvSpPr>
          <p:cNvPr id="4" name="TextBox 3"/>
          <p:cNvSpPr txBox="1"/>
          <p:nvPr/>
        </p:nvSpPr>
        <p:spPr>
          <a:xfrm>
            <a:off x="4526280" y="768096"/>
            <a:ext cx="3931920" cy="237744"/>
          </a:xfrm>
          <a:prstGeom prst="rect">
            <a:avLst/>
          </a:prstGeom>
          <a:noFill/>
        </p:spPr>
        <p:txBody>
          <a:bodyPr wrap="square" lIns="18288" tIns="0" rIns="18288" bIns="0" anchor="t">
            <a:spAutoFit/>
          </a:bodyPr>
          <a:lstStyle/>
          <a:p>
            <a:pPr algn="l">
              <a:spcAft>
                <a:spcPts val="200"/>
              </a:spcAft>
            </a:pPr>
            <a:r>
              <a:rPr sz="1100" b="1" i="0">
                <a:solidFill>
                  <a:srgbClr val="00BFFF"/>
                </a:solidFill>
                <a:latin typeface="Space Grotesk"/>
              </a:rPr>
              <a:t>What happens across corpora</a:t>
            </a:r>
          </a:p>
        </p:txBody>
      </p:sp>
      <p:graphicFrame>
        <p:nvGraphicFramePr>
          <p:cNvPr id="5" name="Table 4"/>
          <p:cNvGraphicFramePr>
            <a:graphicFrameLocks noGrp="1"/>
          </p:cNvGraphicFramePr>
          <p:nvPr/>
        </p:nvGraphicFramePr>
        <p:xfrm>
          <a:off x="429768" y="1042415"/>
          <a:ext cx="3931918" cy="1243584"/>
        </p:xfrm>
        <a:graphic>
          <a:graphicData uri="http://schemas.openxmlformats.org/drawingml/2006/table">
            <a:tbl>
              <a:tblPr>
                <a:tableStyleId>{5C22544A-7EE6-4342-B048-85BDC9FD1C3A}</a:tableStyleId>
              </a:tblPr>
              <a:tblGrid>
                <a:gridCol w="1717390">
                  <a:extLst>
                    <a:ext uri="{9D8B030D-6E8A-4147-A177-3AD203B41FA5}">
                      <a16:colId xmlns:a16="http://schemas.microsoft.com/office/drawing/2014/main" val="20000"/>
                    </a:ext>
                  </a:extLst>
                </a:gridCol>
                <a:gridCol w="768306">
                  <a:extLst>
                    <a:ext uri="{9D8B030D-6E8A-4147-A177-3AD203B41FA5}">
                      <a16:colId xmlns:a16="http://schemas.microsoft.com/office/drawing/2014/main" val="20001"/>
                    </a:ext>
                  </a:extLst>
                </a:gridCol>
                <a:gridCol w="723111">
                  <a:extLst>
                    <a:ext uri="{9D8B030D-6E8A-4147-A177-3AD203B41FA5}">
                      <a16:colId xmlns:a16="http://schemas.microsoft.com/office/drawing/2014/main" val="20002"/>
                    </a:ext>
                  </a:extLst>
                </a:gridCol>
                <a:gridCol w="723111">
                  <a:extLst>
                    <a:ext uri="{9D8B030D-6E8A-4147-A177-3AD203B41FA5}">
                      <a16:colId xmlns:a16="http://schemas.microsoft.com/office/drawing/2014/main" val="20003"/>
                    </a:ext>
                  </a:extLst>
                </a:gridCol>
              </a:tblGrid>
              <a:tr h="310896">
                <a:tc>
                  <a:txBody>
                    <a:bodyPr/>
                    <a:lstStyle/>
                    <a:p>
                      <a:pPr algn="l"/>
                      <a:r>
                        <a:rPr sz="900" b="1">
                          <a:solidFill>
                            <a:srgbClr val="FFFFFF"/>
                          </a:solidFill>
                          <a:latin typeface="Space Grotesk"/>
                        </a:rPr>
                        <a:t>Configuration</a:t>
                      </a:r>
                    </a:p>
                  </a:txBody>
                  <a:tcPr marL="54864" marR="54864" marT="27432" marB="27432" anchor="ctr">
                    <a:solidFill>
                      <a:srgbClr val="1A1A2E"/>
                    </a:solidFill>
                  </a:tcPr>
                </a:tc>
                <a:tc>
                  <a:txBody>
                    <a:bodyPr/>
                    <a:lstStyle/>
                    <a:p>
                      <a:pPr algn="ctr"/>
                      <a:r>
                        <a:rPr sz="900" b="1">
                          <a:solidFill>
                            <a:srgbClr val="FFFFFF"/>
                          </a:solidFill>
                          <a:latin typeface="Space Grotesk"/>
                        </a:rPr>
                        <a:t>AUC</a:t>
                      </a:r>
                    </a:p>
                  </a:txBody>
                  <a:tcPr marL="54864" marR="54864" marT="27432" marB="27432" anchor="ctr">
                    <a:solidFill>
                      <a:srgbClr val="1A1A2E"/>
                    </a:solidFill>
                  </a:tcPr>
                </a:tc>
                <a:tc>
                  <a:txBody>
                    <a:bodyPr/>
                    <a:lstStyle/>
                    <a:p>
                      <a:pPr algn="ctr"/>
                      <a:r>
                        <a:rPr sz="900" b="1">
                          <a:solidFill>
                            <a:srgbClr val="FFFFFF"/>
                          </a:solidFill>
                          <a:latin typeface="Space Grotesk"/>
                        </a:rPr>
                        <a:t>F1</a:t>
                      </a:r>
                    </a:p>
                  </a:txBody>
                  <a:tcPr marL="54864" marR="54864" marT="27432" marB="27432" anchor="ctr">
                    <a:solidFill>
                      <a:srgbClr val="1A1A2E"/>
                    </a:solidFill>
                  </a:tcPr>
                </a:tc>
                <a:tc>
                  <a:txBody>
                    <a:bodyPr/>
                    <a:lstStyle/>
                    <a:p>
                      <a:pPr algn="ctr"/>
                      <a:r>
                        <a:rPr sz="900" b="1">
                          <a:solidFill>
                            <a:srgbClr val="FFFFFF"/>
                          </a:solidFill>
                          <a:latin typeface="Space Grotesk"/>
                        </a:rPr>
                        <a:t>FNR</a:t>
                      </a:r>
                    </a:p>
                  </a:txBody>
                  <a:tcPr marL="54864" marR="54864" marT="27432" marB="27432" anchor="ctr">
                    <a:solidFill>
                      <a:srgbClr val="1A1A2E"/>
                    </a:solidFill>
                  </a:tcPr>
                </a:tc>
                <a:extLst>
                  <a:ext uri="{0D108BD9-81ED-4DB2-BD59-A6C34878D82A}">
                    <a16:rowId xmlns:a16="http://schemas.microsoft.com/office/drawing/2014/main" val="10000"/>
                  </a:ext>
                </a:extLst>
              </a:tr>
              <a:tr h="310896">
                <a:tc>
                  <a:txBody>
                    <a:bodyPr/>
                    <a:lstStyle/>
                    <a:p>
                      <a:pPr algn="l"/>
                      <a:r>
                        <a:rPr sz="900" b="1">
                          <a:solidFill>
                            <a:srgbClr val="00BFFF"/>
                          </a:solidFill>
                          <a:latin typeface="Space Grotesk"/>
                        </a:rPr>
                        <a:t>Full model</a:t>
                      </a:r>
                    </a:p>
                  </a:txBody>
                  <a:tcPr marL="54864" marR="54864" marT="27432" marB="27432" anchor="ctr">
                    <a:solidFill>
                      <a:srgbClr val="EAF7FD"/>
                    </a:solidFill>
                  </a:tcPr>
                </a:tc>
                <a:tc>
                  <a:txBody>
                    <a:bodyPr/>
                    <a:lstStyle/>
                    <a:p>
                      <a:pPr algn="ctr"/>
                      <a:r>
                        <a:rPr sz="900" b="1">
                          <a:solidFill>
                            <a:srgbClr val="00BFFF"/>
                          </a:solidFill>
                          <a:latin typeface="Space Grotesk"/>
                        </a:rPr>
                        <a:t>0.8962</a:t>
                      </a:r>
                    </a:p>
                  </a:txBody>
                  <a:tcPr marL="54864" marR="54864" marT="27432" marB="27432" anchor="ctr">
                    <a:solidFill>
                      <a:srgbClr val="EAF7FD"/>
                    </a:solidFill>
                  </a:tcPr>
                </a:tc>
                <a:tc>
                  <a:txBody>
                    <a:bodyPr/>
                    <a:lstStyle/>
                    <a:p>
                      <a:pPr algn="ctr"/>
                      <a:r>
                        <a:rPr sz="900" b="1">
                          <a:solidFill>
                            <a:srgbClr val="00BFFF"/>
                          </a:solidFill>
                          <a:latin typeface="Space Grotesk"/>
                        </a:rPr>
                        <a:t>0.821</a:t>
                      </a:r>
                    </a:p>
                  </a:txBody>
                  <a:tcPr marL="54864" marR="54864" marT="27432" marB="27432" anchor="ctr">
                    <a:solidFill>
                      <a:srgbClr val="EAF7FD"/>
                    </a:solidFill>
                  </a:tcPr>
                </a:tc>
                <a:tc>
                  <a:txBody>
                    <a:bodyPr/>
                    <a:lstStyle/>
                    <a:p>
                      <a:pPr algn="ctr"/>
                      <a:r>
                        <a:rPr sz="900" b="1">
                          <a:solidFill>
                            <a:srgbClr val="00BFFF"/>
                          </a:solidFill>
                          <a:latin typeface="Space Grotesk"/>
                        </a:rPr>
                        <a:t>0.202</a:t>
                      </a:r>
                    </a:p>
                  </a:txBody>
                  <a:tcPr marL="54864" marR="54864" marT="27432" marB="27432" anchor="ctr">
                    <a:solidFill>
                      <a:srgbClr val="EAF7FD"/>
                    </a:solidFill>
                  </a:tcPr>
                </a:tc>
                <a:extLst>
                  <a:ext uri="{0D108BD9-81ED-4DB2-BD59-A6C34878D82A}">
                    <a16:rowId xmlns:a16="http://schemas.microsoft.com/office/drawing/2014/main" val="10001"/>
                  </a:ext>
                </a:extLst>
              </a:tr>
              <a:tr h="310896">
                <a:tc>
                  <a:txBody>
                    <a:bodyPr/>
                    <a:lstStyle/>
                    <a:p>
                      <a:pPr algn="l"/>
                      <a:r>
                        <a:rPr sz="900" b="0">
                          <a:solidFill>
                            <a:srgbClr val="1A1A1A"/>
                          </a:solidFill>
                          <a:latin typeface="Space Grotesk"/>
                        </a:rPr>
                        <a:t>No Siamese pretraining</a:t>
                      </a:r>
                    </a:p>
                  </a:txBody>
                  <a:tcPr marL="54864" marR="54864" marT="27432" marB="27432" anchor="ctr">
                    <a:solidFill>
                      <a:srgbClr val="F4F6F8"/>
                    </a:solidFill>
                  </a:tcPr>
                </a:tc>
                <a:tc>
                  <a:txBody>
                    <a:bodyPr/>
                    <a:lstStyle/>
                    <a:p>
                      <a:pPr algn="ctr"/>
                      <a:r>
                        <a:rPr sz="900" b="0">
                          <a:solidFill>
                            <a:srgbClr val="1A1A1A"/>
                          </a:solidFill>
                          <a:latin typeface="Space Grotesk"/>
                        </a:rPr>
                        <a:t>0.8764</a:t>
                      </a:r>
                    </a:p>
                  </a:txBody>
                  <a:tcPr marL="54864" marR="54864" marT="27432" marB="27432" anchor="ctr">
                    <a:solidFill>
                      <a:srgbClr val="F4F6F8"/>
                    </a:solidFill>
                  </a:tcPr>
                </a:tc>
                <a:tc>
                  <a:txBody>
                    <a:bodyPr/>
                    <a:lstStyle/>
                    <a:p>
                      <a:pPr algn="ctr"/>
                      <a:r>
                        <a:rPr sz="900" b="0">
                          <a:solidFill>
                            <a:srgbClr val="1A1A1A"/>
                          </a:solidFill>
                          <a:latin typeface="Space Grotesk"/>
                        </a:rPr>
                        <a:t>0.785</a:t>
                      </a:r>
                    </a:p>
                  </a:txBody>
                  <a:tcPr marL="54864" marR="54864" marT="27432" marB="27432" anchor="ctr">
                    <a:solidFill>
                      <a:srgbClr val="F4F6F8"/>
                    </a:solidFill>
                  </a:tcPr>
                </a:tc>
                <a:tc>
                  <a:txBody>
                    <a:bodyPr/>
                    <a:lstStyle/>
                    <a:p>
                      <a:pPr algn="ctr"/>
                      <a:r>
                        <a:rPr sz="900" b="0">
                          <a:solidFill>
                            <a:srgbClr val="1A1A1A"/>
                          </a:solidFill>
                          <a:latin typeface="Space Grotesk"/>
                        </a:rPr>
                        <a:t>0.267</a:t>
                      </a:r>
                    </a:p>
                  </a:txBody>
                  <a:tcPr marL="54864" marR="54864" marT="27432" marB="27432" anchor="ctr">
                    <a:solidFill>
                      <a:srgbClr val="F4F6F8"/>
                    </a:solidFill>
                  </a:tcPr>
                </a:tc>
                <a:extLst>
                  <a:ext uri="{0D108BD9-81ED-4DB2-BD59-A6C34878D82A}">
                    <a16:rowId xmlns:a16="http://schemas.microsoft.com/office/drawing/2014/main" val="10002"/>
                  </a:ext>
                </a:extLst>
              </a:tr>
              <a:tr h="310896">
                <a:tc>
                  <a:txBody>
                    <a:bodyPr/>
                    <a:lstStyle/>
                    <a:p>
                      <a:pPr algn="l"/>
                      <a:r>
                        <a:rPr sz="900" b="0">
                          <a:solidFill>
                            <a:srgbClr val="1A1A1A"/>
                          </a:solidFill>
                          <a:latin typeface="Space Grotesk"/>
                        </a:rPr>
                        <a:t>No focal loss (BCE)</a:t>
                      </a:r>
                    </a:p>
                  </a:txBody>
                  <a:tcPr marL="54864" marR="54864" marT="27432" marB="27432" anchor="ctr">
                    <a:solidFill>
                      <a:srgbClr val="FFFFFF"/>
                    </a:solidFill>
                  </a:tcPr>
                </a:tc>
                <a:tc>
                  <a:txBody>
                    <a:bodyPr/>
                    <a:lstStyle/>
                    <a:p>
                      <a:pPr algn="ctr"/>
                      <a:r>
                        <a:rPr sz="900" b="0">
                          <a:solidFill>
                            <a:srgbClr val="1A1A1A"/>
                          </a:solidFill>
                          <a:latin typeface="Space Grotesk"/>
                        </a:rPr>
                        <a:t>0.8771</a:t>
                      </a:r>
                    </a:p>
                  </a:txBody>
                  <a:tcPr marL="54864" marR="54864" marT="27432" marB="27432" anchor="ctr">
                    <a:solidFill>
                      <a:srgbClr val="FFFFFF"/>
                    </a:solidFill>
                  </a:tcPr>
                </a:tc>
                <a:tc>
                  <a:txBody>
                    <a:bodyPr/>
                    <a:lstStyle/>
                    <a:p>
                      <a:pPr algn="ctr"/>
                      <a:r>
                        <a:rPr sz="900" b="0">
                          <a:solidFill>
                            <a:srgbClr val="1A1A1A"/>
                          </a:solidFill>
                          <a:latin typeface="Space Grotesk"/>
                        </a:rPr>
                        <a:t>0.786</a:t>
                      </a:r>
                    </a:p>
                  </a:txBody>
                  <a:tcPr marL="54864" marR="54864" marT="27432" marB="27432" anchor="ctr">
                    <a:solidFill>
                      <a:srgbClr val="FFFFFF"/>
                    </a:solidFill>
                  </a:tcPr>
                </a:tc>
                <a:tc>
                  <a:txBody>
                    <a:bodyPr/>
                    <a:lstStyle/>
                    <a:p>
                      <a:pPr algn="ctr"/>
                      <a:r>
                        <a:rPr sz="900" b="0">
                          <a:solidFill>
                            <a:srgbClr val="1A1A1A"/>
                          </a:solidFill>
                          <a:latin typeface="Space Grotesk"/>
                        </a:rPr>
                        <a:t>0.271</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nvGraphicFramePr>
        <p:xfrm>
          <a:off x="4526280" y="1042415"/>
          <a:ext cx="3931918" cy="1243584"/>
        </p:xfrm>
        <a:graphic>
          <a:graphicData uri="http://schemas.openxmlformats.org/drawingml/2006/table">
            <a:tbl>
              <a:tblPr>
                <a:tableStyleId>{5C22544A-7EE6-4342-B048-85BDC9FD1C3A}</a:tableStyleId>
              </a:tblPr>
              <a:tblGrid>
                <a:gridCol w="1717390">
                  <a:extLst>
                    <a:ext uri="{9D8B030D-6E8A-4147-A177-3AD203B41FA5}">
                      <a16:colId xmlns:a16="http://schemas.microsoft.com/office/drawing/2014/main" val="20000"/>
                    </a:ext>
                  </a:extLst>
                </a:gridCol>
                <a:gridCol w="768306">
                  <a:extLst>
                    <a:ext uri="{9D8B030D-6E8A-4147-A177-3AD203B41FA5}">
                      <a16:colId xmlns:a16="http://schemas.microsoft.com/office/drawing/2014/main" val="20001"/>
                    </a:ext>
                  </a:extLst>
                </a:gridCol>
                <a:gridCol w="723111">
                  <a:extLst>
                    <a:ext uri="{9D8B030D-6E8A-4147-A177-3AD203B41FA5}">
                      <a16:colId xmlns:a16="http://schemas.microsoft.com/office/drawing/2014/main" val="20002"/>
                    </a:ext>
                  </a:extLst>
                </a:gridCol>
                <a:gridCol w="723111">
                  <a:extLst>
                    <a:ext uri="{9D8B030D-6E8A-4147-A177-3AD203B41FA5}">
                      <a16:colId xmlns:a16="http://schemas.microsoft.com/office/drawing/2014/main" val="20003"/>
                    </a:ext>
                  </a:extLst>
                </a:gridCol>
              </a:tblGrid>
              <a:tr h="310896">
                <a:tc>
                  <a:txBody>
                    <a:bodyPr/>
                    <a:lstStyle/>
                    <a:p>
                      <a:pPr algn="l"/>
                      <a:r>
                        <a:rPr sz="900" b="1">
                          <a:solidFill>
                            <a:srgbClr val="FFFFFF"/>
                          </a:solidFill>
                          <a:latin typeface="Space Grotesk"/>
                        </a:rPr>
                        <a:t>Train → Test</a:t>
                      </a:r>
                    </a:p>
                  </a:txBody>
                  <a:tcPr marL="54864" marR="54864" marT="27432" marB="27432" anchor="ctr">
                    <a:solidFill>
                      <a:srgbClr val="1A1A2E"/>
                    </a:solidFill>
                  </a:tcPr>
                </a:tc>
                <a:tc>
                  <a:txBody>
                    <a:bodyPr/>
                    <a:lstStyle/>
                    <a:p>
                      <a:pPr algn="ctr"/>
                      <a:r>
                        <a:rPr sz="900" b="1">
                          <a:solidFill>
                            <a:srgbClr val="FFFFFF"/>
                          </a:solidFill>
                          <a:latin typeface="Space Grotesk"/>
                        </a:rPr>
                        <a:t>AUC</a:t>
                      </a:r>
                    </a:p>
                  </a:txBody>
                  <a:tcPr marL="54864" marR="54864" marT="27432" marB="27432" anchor="ctr">
                    <a:solidFill>
                      <a:srgbClr val="1A1A2E"/>
                    </a:solidFill>
                  </a:tcPr>
                </a:tc>
                <a:tc>
                  <a:txBody>
                    <a:bodyPr/>
                    <a:lstStyle/>
                    <a:p>
                      <a:pPr algn="ctr"/>
                      <a:r>
                        <a:rPr sz="900" b="1">
                          <a:solidFill>
                            <a:srgbClr val="FFFFFF"/>
                          </a:solidFill>
                          <a:latin typeface="Space Grotesk"/>
                        </a:rPr>
                        <a:t>Recall</a:t>
                      </a:r>
                    </a:p>
                  </a:txBody>
                  <a:tcPr marL="54864" marR="54864" marT="27432" marB="27432" anchor="ctr">
                    <a:solidFill>
                      <a:srgbClr val="1A1A2E"/>
                    </a:solidFill>
                  </a:tcPr>
                </a:tc>
                <a:tc>
                  <a:txBody>
                    <a:bodyPr/>
                    <a:lstStyle/>
                    <a:p>
                      <a:pPr algn="ctr"/>
                      <a:r>
                        <a:rPr sz="900" b="1">
                          <a:solidFill>
                            <a:srgbClr val="FFFFFF"/>
                          </a:solidFill>
                          <a:latin typeface="Space Grotesk"/>
                        </a:rPr>
                        <a:t>F1</a:t>
                      </a:r>
                    </a:p>
                  </a:txBody>
                  <a:tcPr marL="54864" marR="54864" marT="27432" marB="27432" anchor="ctr">
                    <a:solidFill>
                      <a:srgbClr val="1A1A2E"/>
                    </a:solidFill>
                  </a:tcPr>
                </a:tc>
                <a:extLst>
                  <a:ext uri="{0D108BD9-81ED-4DB2-BD59-A6C34878D82A}">
                    <a16:rowId xmlns:a16="http://schemas.microsoft.com/office/drawing/2014/main" val="10000"/>
                  </a:ext>
                </a:extLst>
              </a:tr>
              <a:tr h="310896">
                <a:tc>
                  <a:txBody>
                    <a:bodyPr/>
                    <a:lstStyle/>
                    <a:p>
                      <a:pPr algn="l"/>
                      <a:r>
                        <a:rPr sz="900" b="0">
                          <a:solidFill>
                            <a:srgbClr val="1A1A1A"/>
                          </a:solidFill>
                          <a:latin typeface="Space Grotesk"/>
                        </a:rPr>
                        <a:t>CIC → Trad</a:t>
                      </a:r>
                    </a:p>
                  </a:txBody>
                  <a:tcPr marL="54864" marR="54864" marT="27432" marB="27432" anchor="ctr">
                    <a:solidFill>
                      <a:srgbClr val="FFFFFF"/>
                    </a:solidFill>
                  </a:tcPr>
                </a:tc>
                <a:tc>
                  <a:txBody>
                    <a:bodyPr/>
                    <a:lstStyle/>
                    <a:p>
                      <a:pPr algn="ctr"/>
                      <a:r>
                        <a:rPr sz="900" b="0">
                          <a:solidFill>
                            <a:srgbClr val="1A1A1A"/>
                          </a:solidFill>
                          <a:latin typeface="Space Grotesk"/>
                        </a:rPr>
                        <a:t>0.7178</a:t>
                      </a:r>
                    </a:p>
                  </a:txBody>
                  <a:tcPr marL="54864" marR="54864" marT="27432" marB="27432" anchor="ctr">
                    <a:solidFill>
                      <a:srgbClr val="FFFFFF"/>
                    </a:solidFill>
                  </a:tcPr>
                </a:tc>
                <a:tc>
                  <a:txBody>
                    <a:bodyPr/>
                    <a:lstStyle/>
                    <a:p>
                      <a:pPr algn="ctr"/>
                      <a:r>
                        <a:rPr sz="900" b="0">
                          <a:solidFill>
                            <a:srgbClr val="1A1A1A"/>
                          </a:solidFill>
                          <a:latin typeface="Space Grotesk"/>
                        </a:rPr>
                        <a:t>1.000</a:t>
                      </a:r>
                    </a:p>
                  </a:txBody>
                  <a:tcPr marL="54864" marR="54864" marT="27432" marB="27432" anchor="ctr">
                    <a:solidFill>
                      <a:srgbClr val="FFFFFF"/>
                    </a:solidFill>
                  </a:tcPr>
                </a:tc>
                <a:tc>
                  <a:txBody>
                    <a:bodyPr/>
                    <a:lstStyle/>
                    <a:p>
                      <a:pPr algn="ctr"/>
                      <a:r>
                        <a:rPr sz="900" b="0">
                          <a:solidFill>
                            <a:srgbClr val="1A1A1A"/>
                          </a:solidFill>
                          <a:latin typeface="Space Grotesk"/>
                        </a:rPr>
                        <a:t>0.666</a:t>
                      </a:r>
                    </a:p>
                  </a:txBody>
                  <a:tcPr marL="54864" marR="54864" marT="27432" marB="27432" anchor="ctr">
                    <a:solidFill>
                      <a:srgbClr val="FFFFFF"/>
                    </a:solidFill>
                  </a:tcPr>
                </a:tc>
                <a:extLst>
                  <a:ext uri="{0D108BD9-81ED-4DB2-BD59-A6C34878D82A}">
                    <a16:rowId xmlns:a16="http://schemas.microsoft.com/office/drawing/2014/main" val="10001"/>
                  </a:ext>
                </a:extLst>
              </a:tr>
              <a:tr h="310896">
                <a:tc>
                  <a:txBody>
                    <a:bodyPr/>
                    <a:lstStyle/>
                    <a:p>
                      <a:pPr algn="l"/>
                      <a:r>
                        <a:rPr sz="900" b="0">
                          <a:solidFill>
                            <a:srgbClr val="1A1A1A"/>
                          </a:solidFill>
                          <a:latin typeface="Space Grotesk"/>
                        </a:rPr>
                        <a:t>Trad → CIC</a:t>
                      </a:r>
                    </a:p>
                  </a:txBody>
                  <a:tcPr marL="54864" marR="54864" marT="27432" marB="27432" anchor="ctr">
                    <a:solidFill>
                      <a:srgbClr val="F4F6F8"/>
                    </a:solidFill>
                  </a:tcPr>
                </a:tc>
                <a:tc>
                  <a:txBody>
                    <a:bodyPr/>
                    <a:lstStyle/>
                    <a:p>
                      <a:pPr algn="ctr"/>
                      <a:r>
                        <a:rPr sz="900" b="0">
                          <a:solidFill>
                            <a:srgbClr val="1A1A1A"/>
                          </a:solidFill>
                          <a:latin typeface="Space Grotesk"/>
                        </a:rPr>
                        <a:t>0.5181</a:t>
                      </a:r>
                    </a:p>
                  </a:txBody>
                  <a:tcPr marL="54864" marR="54864" marT="27432" marB="27432" anchor="ctr">
                    <a:solidFill>
                      <a:srgbClr val="F4F6F8"/>
                    </a:solidFill>
                  </a:tcPr>
                </a:tc>
                <a:tc>
                  <a:txBody>
                    <a:bodyPr/>
                    <a:lstStyle/>
                    <a:p>
                      <a:pPr algn="ctr"/>
                      <a:r>
                        <a:rPr sz="900" b="0">
                          <a:solidFill>
                            <a:srgbClr val="1A1A1A"/>
                          </a:solidFill>
                          <a:latin typeface="Space Grotesk"/>
                        </a:rPr>
                        <a:t>0.508</a:t>
                      </a:r>
                    </a:p>
                  </a:txBody>
                  <a:tcPr marL="54864" marR="54864" marT="27432" marB="27432" anchor="ctr">
                    <a:solidFill>
                      <a:srgbClr val="F4F6F8"/>
                    </a:solidFill>
                  </a:tcPr>
                </a:tc>
                <a:tc>
                  <a:txBody>
                    <a:bodyPr/>
                    <a:lstStyle/>
                    <a:p>
                      <a:pPr algn="ctr"/>
                      <a:r>
                        <a:rPr sz="900" b="0">
                          <a:solidFill>
                            <a:srgbClr val="1A1A1A"/>
                          </a:solidFill>
                          <a:latin typeface="Space Grotesk"/>
                        </a:rPr>
                        <a:t>0.517</a:t>
                      </a:r>
                    </a:p>
                  </a:txBody>
                  <a:tcPr marL="54864" marR="54864" marT="27432" marB="27432" anchor="ctr">
                    <a:solidFill>
                      <a:srgbClr val="F4F6F8"/>
                    </a:solidFill>
                  </a:tcPr>
                </a:tc>
                <a:extLst>
                  <a:ext uri="{0D108BD9-81ED-4DB2-BD59-A6C34878D82A}">
                    <a16:rowId xmlns:a16="http://schemas.microsoft.com/office/drawing/2014/main" val="10002"/>
                  </a:ext>
                </a:extLst>
              </a:tr>
              <a:tr h="310896">
                <a:tc>
                  <a:txBody>
                    <a:bodyPr/>
                    <a:lstStyle/>
                    <a:p>
                      <a:pPr algn="l"/>
                      <a:r>
                        <a:rPr sz="900" b="1">
                          <a:solidFill>
                            <a:srgbClr val="00BFFF"/>
                          </a:solidFill>
                          <a:latin typeface="Space Grotesk"/>
                        </a:rPr>
                        <a:t>Combined</a:t>
                      </a:r>
                    </a:p>
                  </a:txBody>
                  <a:tcPr marL="54864" marR="54864" marT="27432" marB="27432" anchor="ctr">
                    <a:solidFill>
                      <a:srgbClr val="EAF7FD"/>
                    </a:solidFill>
                  </a:tcPr>
                </a:tc>
                <a:tc>
                  <a:txBody>
                    <a:bodyPr/>
                    <a:lstStyle/>
                    <a:p>
                      <a:pPr algn="ctr"/>
                      <a:r>
                        <a:rPr sz="900" b="1">
                          <a:solidFill>
                            <a:srgbClr val="00BFFF"/>
                          </a:solidFill>
                          <a:latin typeface="Space Grotesk"/>
                        </a:rPr>
                        <a:t>0.8962</a:t>
                      </a:r>
                    </a:p>
                  </a:txBody>
                  <a:tcPr marL="54864" marR="54864" marT="27432" marB="27432" anchor="ctr">
                    <a:solidFill>
                      <a:srgbClr val="EAF7FD"/>
                    </a:solidFill>
                  </a:tcPr>
                </a:tc>
                <a:tc>
                  <a:txBody>
                    <a:bodyPr/>
                    <a:lstStyle/>
                    <a:p>
                      <a:pPr algn="ctr"/>
                      <a:r>
                        <a:rPr sz="900" b="1">
                          <a:solidFill>
                            <a:srgbClr val="00BFFF"/>
                          </a:solidFill>
                          <a:latin typeface="Space Grotesk"/>
                        </a:rPr>
                        <a:t>0.798</a:t>
                      </a:r>
                    </a:p>
                  </a:txBody>
                  <a:tcPr marL="54864" marR="54864" marT="27432" marB="27432" anchor="ctr">
                    <a:solidFill>
                      <a:srgbClr val="EAF7FD"/>
                    </a:solidFill>
                  </a:tcPr>
                </a:tc>
                <a:tc>
                  <a:txBody>
                    <a:bodyPr/>
                    <a:lstStyle/>
                    <a:p>
                      <a:pPr algn="ctr"/>
                      <a:r>
                        <a:rPr sz="900" b="1">
                          <a:solidFill>
                            <a:srgbClr val="00BFFF"/>
                          </a:solidFill>
                          <a:latin typeface="Space Grotesk"/>
                        </a:rPr>
                        <a:t>0.821</a:t>
                      </a:r>
                    </a:p>
                  </a:txBody>
                  <a:tcPr marL="54864" marR="54864" marT="27432" marB="27432" anchor="ctr">
                    <a:solidFill>
                      <a:srgbClr val="EAF7FD"/>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429768" y="2487168"/>
            <a:ext cx="3931920" cy="124358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66928" y="2606040"/>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Reading the ablation</a:t>
            </a:r>
          </a:p>
        </p:txBody>
      </p:sp>
      <p:sp>
        <p:nvSpPr>
          <p:cNvPr id="9" name="TextBox 8"/>
          <p:cNvSpPr txBox="1"/>
          <p:nvPr/>
        </p:nvSpPr>
        <p:spPr>
          <a:xfrm>
            <a:off x="566928" y="2926080"/>
            <a:ext cx="3657600" cy="694944"/>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Contrastive pretraining is what costs most to remove: FNR 0.202 → 0.267</a:t>
            </a:r>
          </a:p>
          <a:p>
            <a:pPr algn="l">
              <a:spcAft>
                <a:spcPts val="400"/>
              </a:spcAft>
            </a:pPr>
            <a:r>
              <a:rPr sz="900" b="0" i="0">
                <a:solidFill>
                  <a:srgbClr val="1A1A1A"/>
                </a:solidFill>
                <a:latin typeface="Space Grotesk"/>
              </a:rPr>
              <a:t>•  BCE instead of focal loss barely moves AUC but pushes FNR to 0.271 — loss design matters when misses are expensive</a:t>
            </a:r>
          </a:p>
        </p:txBody>
      </p:sp>
      <p:sp>
        <p:nvSpPr>
          <p:cNvPr id="10" name="Rounded Rectangle 9"/>
          <p:cNvSpPr/>
          <p:nvPr/>
        </p:nvSpPr>
        <p:spPr>
          <a:xfrm>
            <a:off x="4526280" y="2487168"/>
            <a:ext cx="3931920" cy="1243584"/>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63440" y="2606040"/>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Reading the domain shift</a:t>
            </a:r>
          </a:p>
        </p:txBody>
      </p:sp>
      <p:sp>
        <p:nvSpPr>
          <p:cNvPr id="12" name="TextBox 11"/>
          <p:cNvSpPr txBox="1"/>
          <p:nvPr/>
        </p:nvSpPr>
        <p:spPr>
          <a:xfrm>
            <a:off x="4663440" y="2926080"/>
            <a:ext cx="3657600" cy="694944"/>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Trad → CIC collapses to near-chance (AUC 0.52)</a:t>
            </a:r>
          </a:p>
          <a:p>
            <a:pPr algn="l">
              <a:spcAft>
                <a:spcPts val="400"/>
              </a:spcAft>
            </a:pPr>
            <a:r>
              <a:rPr sz="900" b="0" i="0">
                <a:solidFill>
                  <a:srgbClr val="1A1A1A"/>
                </a:solidFill>
                <a:latin typeface="Space Grotesk"/>
              </a:rPr>
              <a:t>•  CIC → Trad reaches recall 1.0 only by calling almost everything phishing (precision ≈ 0.50)</a:t>
            </a:r>
          </a:p>
        </p:txBody>
      </p:sp>
      <p:sp>
        <p:nvSpPr>
          <p:cNvPr id="13" name="Rounded Rectangle 12"/>
          <p:cNvSpPr/>
          <p:nvPr/>
        </p:nvSpPr>
        <p:spPr>
          <a:xfrm>
            <a:off x="429768" y="3822191"/>
            <a:ext cx="8028431" cy="585216"/>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94360" y="3877055"/>
            <a:ext cx="7699247" cy="475488"/>
          </a:xfrm>
          <a:prstGeom prst="rect">
            <a:avLst/>
          </a:prstGeom>
          <a:noFill/>
        </p:spPr>
        <p:txBody>
          <a:bodyPr wrap="square" lIns="18288" tIns="0" rIns="18288" bIns="0" anchor="ctr">
            <a:spAutoFit/>
          </a:bodyPr>
          <a:lstStyle/>
          <a:p>
            <a:pPr algn="l">
              <a:spcAft>
                <a:spcPts val="200"/>
              </a:spcAft>
            </a:pPr>
            <a:r>
              <a:rPr sz="1100" b="1" i="0">
                <a:solidFill>
                  <a:srgbClr val="1A1A1A"/>
                </a:solidFill>
                <a:latin typeface="Space Grotesk"/>
              </a:rPr>
              <a:t>Single-corpus training is not a weaker configuration — it is a broken one. Heterogeneous training is a methodological requirement, not a tuning choice.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Experiment 6 — explainability</a:t>
            </a:r>
          </a:p>
        </p:txBody>
      </p:sp>
      <p:sp>
        <p:nvSpPr>
          <p:cNvPr id="3" name="TextBox 2"/>
          <p:cNvSpPr txBox="1"/>
          <p:nvPr/>
        </p:nvSpPr>
        <p:spPr>
          <a:xfrm>
            <a:off x="429768" y="768096"/>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Is the model reading QR structure, or memorizing dataset artifacts?</a:t>
            </a:r>
          </a:p>
        </p:txBody>
      </p:sp>
      <p:pic>
        <p:nvPicPr>
          <p:cNvPr id="4" name="Picture 3" descr="fig_gradcam_samples.png"/>
          <p:cNvPicPr>
            <a:picLocks noChangeAspect="1"/>
          </p:cNvPicPr>
          <p:nvPr/>
        </p:nvPicPr>
        <p:blipFill>
          <a:blip r:embed="rId3"/>
          <a:stretch>
            <a:fillRect/>
          </a:stretch>
        </p:blipFill>
        <p:spPr>
          <a:xfrm>
            <a:off x="429768" y="1060704"/>
            <a:ext cx="3448768" cy="2377440"/>
          </a:xfrm>
          <a:prstGeom prst="rect">
            <a:avLst/>
          </a:prstGeom>
        </p:spPr>
      </p:pic>
      <p:sp>
        <p:nvSpPr>
          <p:cNvPr id="5" name="Rounded Rectangle 4"/>
          <p:cNvSpPr/>
          <p:nvPr/>
        </p:nvSpPr>
        <p:spPr>
          <a:xfrm>
            <a:off x="4059936" y="1060704"/>
            <a:ext cx="4398264" cy="109728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197096" y="1179576"/>
            <a:ext cx="4123944"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Grad-CAM  ·  spatial</a:t>
            </a:r>
          </a:p>
        </p:txBody>
      </p:sp>
      <p:sp>
        <p:nvSpPr>
          <p:cNvPr id="7" name="TextBox 6"/>
          <p:cNvSpPr txBox="1"/>
          <p:nvPr/>
        </p:nvSpPr>
        <p:spPr>
          <a:xfrm>
            <a:off x="4197096" y="1499616"/>
            <a:ext cx="4123944" cy="548640"/>
          </a:xfrm>
          <a:prstGeom prst="rect">
            <a:avLst/>
          </a:prstGeom>
          <a:noFill/>
        </p:spPr>
        <p:txBody>
          <a:bodyPr wrap="square" lIns="18288" tIns="0" rIns="18288" bIns="0" anchor="t">
            <a:spAutoFit/>
          </a:bodyPr>
          <a:lstStyle/>
          <a:p>
            <a:pPr algn="l">
              <a:spcAft>
                <a:spcPts val="400"/>
              </a:spcAft>
            </a:pPr>
            <a:r>
              <a:rPr sz="950" b="0" i="0">
                <a:solidFill>
                  <a:srgbClr val="1A1A1A"/>
                </a:solidFill>
                <a:latin typeface="Space Grotesk"/>
              </a:rPr>
              <a:t>•  Attention concentrates near alignment patterns and data-region transitions — the substructures that encode the payload geometry</a:t>
            </a:r>
          </a:p>
        </p:txBody>
      </p:sp>
      <p:sp>
        <p:nvSpPr>
          <p:cNvPr id="8" name="Rounded Rectangle 7"/>
          <p:cNvSpPr/>
          <p:nvPr/>
        </p:nvSpPr>
        <p:spPr>
          <a:xfrm>
            <a:off x="4059936" y="2340864"/>
            <a:ext cx="4398264"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197096" y="2459736"/>
            <a:ext cx="4123944"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SHAP  ·  latent</a:t>
            </a:r>
          </a:p>
        </p:txBody>
      </p:sp>
      <p:sp>
        <p:nvSpPr>
          <p:cNvPr id="10" name="TextBox 9"/>
          <p:cNvSpPr txBox="1"/>
          <p:nvPr/>
        </p:nvSpPr>
        <p:spPr>
          <a:xfrm>
            <a:off x="4197096" y="2779776"/>
            <a:ext cx="4123944" cy="548640"/>
          </a:xfrm>
          <a:prstGeom prst="rect">
            <a:avLst/>
          </a:prstGeom>
          <a:noFill/>
        </p:spPr>
        <p:txBody>
          <a:bodyPr wrap="square" lIns="18288" tIns="0" rIns="18288" bIns="0" anchor="t">
            <a:spAutoFit/>
          </a:bodyPr>
          <a:lstStyle/>
          <a:p>
            <a:pPr algn="l">
              <a:spcAft>
                <a:spcPts val="400"/>
              </a:spcAft>
            </a:pPr>
            <a:r>
              <a:rPr sz="950" b="0" i="0">
                <a:solidFill>
                  <a:srgbClr val="1A1A1A"/>
                </a:solidFill>
                <a:latin typeface="Space Grotesk"/>
              </a:rPr>
              <a:t>•  A small set of the 128 embedding dimensions dominates the decision, and contrastive pretraining separates the classes cleanly</a:t>
            </a:r>
          </a:p>
        </p:txBody>
      </p:sp>
      <p:sp>
        <p:nvSpPr>
          <p:cNvPr id="11" name="Rounded Rectangle 10"/>
          <p:cNvSpPr/>
          <p:nvPr/>
        </p:nvSpPr>
        <p:spPr>
          <a:xfrm>
            <a:off x="429768" y="3602736"/>
            <a:ext cx="3931920" cy="896112"/>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21208" y="3694176"/>
            <a:ext cx="374904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r = 0.43</a:t>
            </a:r>
          </a:p>
        </p:txBody>
      </p:sp>
      <p:sp>
        <p:nvSpPr>
          <p:cNvPr id="13" name="TextBox 12"/>
          <p:cNvSpPr txBox="1"/>
          <p:nvPr/>
        </p:nvSpPr>
        <p:spPr>
          <a:xfrm>
            <a:off x="502920" y="4059936"/>
            <a:ext cx="3785616" cy="384048"/>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Pearson correlation between class-difference
Grad-CAM maps of the two corpora</a:t>
            </a:r>
          </a:p>
        </p:txBody>
      </p:sp>
      <p:sp>
        <p:nvSpPr>
          <p:cNvPr id="14" name="Rounded Rectangle 13"/>
          <p:cNvSpPr/>
          <p:nvPr/>
        </p:nvSpPr>
        <p:spPr>
          <a:xfrm>
            <a:off x="4526280" y="3602736"/>
            <a:ext cx="3931920" cy="89611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617720" y="3694176"/>
            <a:ext cx="374904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1.94</a:t>
            </a:r>
          </a:p>
        </p:txBody>
      </p:sp>
      <p:sp>
        <p:nvSpPr>
          <p:cNvPr id="16" name="TextBox 15"/>
          <p:cNvSpPr txBox="1"/>
          <p:nvPr/>
        </p:nvSpPr>
        <p:spPr>
          <a:xfrm>
            <a:off x="4599432" y="4059936"/>
            <a:ext cx="3785616" cy="384048"/>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Inter-class / intra-class distance ratio
in the 128-d embedding space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Discussion</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What does this cost to deploy?</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Operational trade-offs</a:t>
            </a:r>
          </a:p>
        </p:txBody>
      </p:sp>
      <p:sp>
        <p:nvSpPr>
          <p:cNvPr id="3" name="TextBox 2"/>
          <p:cNvSpPr txBox="1"/>
          <p:nvPr/>
        </p:nvSpPr>
        <p:spPr>
          <a:xfrm>
            <a:off x="429768" y="768096"/>
            <a:ext cx="3931920" cy="237744"/>
          </a:xfrm>
          <a:prstGeom prst="rect">
            <a:avLst/>
          </a:prstGeom>
          <a:noFill/>
        </p:spPr>
        <p:txBody>
          <a:bodyPr wrap="square" lIns="18288" tIns="0" rIns="18288" bIns="0" anchor="t">
            <a:spAutoFit/>
          </a:bodyPr>
          <a:lstStyle/>
          <a:p>
            <a:pPr algn="l">
              <a:spcAft>
                <a:spcPts val="200"/>
              </a:spcAft>
            </a:pPr>
            <a:r>
              <a:rPr sz="1100" b="1" i="0">
                <a:solidFill>
                  <a:srgbClr val="00BFFF"/>
                </a:solidFill>
                <a:latin typeface="Space Grotesk"/>
              </a:rPr>
              <a:t>Threshold sweep on the visual fallback</a:t>
            </a:r>
          </a:p>
        </p:txBody>
      </p:sp>
      <p:sp>
        <p:nvSpPr>
          <p:cNvPr id="4" name="TextBox 3"/>
          <p:cNvSpPr txBox="1"/>
          <p:nvPr/>
        </p:nvSpPr>
        <p:spPr>
          <a:xfrm>
            <a:off x="4526280" y="768096"/>
            <a:ext cx="3931920" cy="237744"/>
          </a:xfrm>
          <a:prstGeom prst="rect">
            <a:avLst/>
          </a:prstGeom>
          <a:noFill/>
        </p:spPr>
        <p:txBody>
          <a:bodyPr wrap="square" lIns="18288" tIns="0" rIns="18288" bIns="0" anchor="t">
            <a:spAutoFit/>
          </a:bodyPr>
          <a:lstStyle/>
          <a:p>
            <a:pPr algn="l">
              <a:spcAft>
                <a:spcPts val="200"/>
              </a:spcAft>
            </a:pPr>
            <a:r>
              <a:rPr sz="1100" b="1" i="0">
                <a:solidFill>
                  <a:srgbClr val="00BFFF"/>
                </a:solidFill>
                <a:latin typeface="Space Grotesk"/>
              </a:rPr>
              <a:t>Cost per configuration</a:t>
            </a:r>
          </a:p>
        </p:txBody>
      </p:sp>
      <p:graphicFrame>
        <p:nvGraphicFramePr>
          <p:cNvPr id="5" name="Table 4"/>
          <p:cNvGraphicFramePr>
            <a:graphicFrameLocks noGrp="1"/>
          </p:cNvGraphicFramePr>
          <p:nvPr/>
        </p:nvGraphicFramePr>
        <p:xfrm>
          <a:off x="429768" y="1042415"/>
          <a:ext cx="3931918" cy="1243584"/>
        </p:xfrm>
        <a:graphic>
          <a:graphicData uri="http://schemas.openxmlformats.org/drawingml/2006/table">
            <a:tbl>
              <a:tblPr>
                <a:tableStyleId>{5C22544A-7EE6-4342-B048-85BDC9FD1C3A}</a:tableStyleId>
              </a:tblPr>
              <a:tblGrid>
                <a:gridCol w="1627001">
                  <a:extLst>
                    <a:ext uri="{9D8B030D-6E8A-4147-A177-3AD203B41FA5}">
                      <a16:colId xmlns:a16="http://schemas.microsoft.com/office/drawing/2014/main" val="20000"/>
                    </a:ext>
                  </a:extLst>
                </a:gridCol>
                <a:gridCol w="768306">
                  <a:extLst>
                    <a:ext uri="{9D8B030D-6E8A-4147-A177-3AD203B41FA5}">
                      <a16:colId xmlns:a16="http://schemas.microsoft.com/office/drawing/2014/main" val="20001"/>
                    </a:ext>
                  </a:extLst>
                </a:gridCol>
                <a:gridCol w="723111">
                  <a:extLst>
                    <a:ext uri="{9D8B030D-6E8A-4147-A177-3AD203B41FA5}">
                      <a16:colId xmlns:a16="http://schemas.microsoft.com/office/drawing/2014/main" val="20002"/>
                    </a:ext>
                  </a:extLst>
                </a:gridCol>
                <a:gridCol w="813500">
                  <a:extLst>
                    <a:ext uri="{9D8B030D-6E8A-4147-A177-3AD203B41FA5}">
                      <a16:colId xmlns:a16="http://schemas.microsoft.com/office/drawing/2014/main" val="20003"/>
                    </a:ext>
                  </a:extLst>
                </a:gridCol>
              </a:tblGrid>
              <a:tr h="310896">
                <a:tc>
                  <a:txBody>
                    <a:bodyPr/>
                    <a:lstStyle/>
                    <a:p>
                      <a:pPr algn="l"/>
                      <a:r>
                        <a:rPr sz="900" b="1">
                          <a:solidFill>
                            <a:srgbClr val="FFFFFF"/>
                          </a:solidFill>
                          <a:latin typeface="Space Grotesk"/>
                        </a:rPr>
                        <a:t>Threshold</a:t>
                      </a:r>
                    </a:p>
                  </a:txBody>
                  <a:tcPr marL="54864" marR="54864" marT="27432" marB="27432" anchor="ctr">
                    <a:solidFill>
                      <a:srgbClr val="1A1A2E"/>
                    </a:solidFill>
                  </a:tcPr>
                </a:tc>
                <a:tc>
                  <a:txBody>
                    <a:bodyPr/>
                    <a:lstStyle/>
                    <a:p>
                      <a:pPr algn="ctr"/>
                      <a:r>
                        <a:rPr sz="900" b="1">
                          <a:solidFill>
                            <a:srgbClr val="FFFFFF"/>
                          </a:solidFill>
                          <a:latin typeface="Space Grotesk"/>
                        </a:rPr>
                        <a:t>Recall</a:t>
                      </a:r>
                    </a:p>
                  </a:txBody>
                  <a:tcPr marL="54864" marR="54864" marT="27432" marB="27432" anchor="ctr">
                    <a:solidFill>
                      <a:srgbClr val="1A1A2E"/>
                    </a:solidFill>
                  </a:tcPr>
                </a:tc>
                <a:tc>
                  <a:txBody>
                    <a:bodyPr/>
                    <a:lstStyle/>
                    <a:p>
                      <a:pPr algn="ctr"/>
                      <a:r>
                        <a:rPr sz="900" b="1">
                          <a:solidFill>
                            <a:srgbClr val="FFFFFF"/>
                          </a:solidFill>
                          <a:latin typeface="Space Grotesk"/>
                        </a:rPr>
                        <a:t>FNR</a:t>
                      </a:r>
                    </a:p>
                  </a:txBody>
                  <a:tcPr marL="54864" marR="54864" marT="27432" marB="27432" anchor="ctr">
                    <a:solidFill>
                      <a:srgbClr val="1A1A2E"/>
                    </a:solidFill>
                  </a:tcPr>
                </a:tc>
                <a:tc>
                  <a:txBody>
                    <a:bodyPr/>
                    <a:lstStyle/>
                    <a:p>
                      <a:pPr algn="ctr"/>
                      <a:r>
                        <a:rPr sz="900" b="1">
                          <a:solidFill>
                            <a:srgbClr val="FFFFFF"/>
                          </a:solidFill>
                          <a:latin typeface="Space Grotesk"/>
                        </a:rPr>
                        <a:t>Precision</a:t>
                      </a:r>
                    </a:p>
                  </a:txBody>
                  <a:tcPr marL="54864" marR="54864" marT="27432" marB="27432" anchor="ctr">
                    <a:solidFill>
                      <a:srgbClr val="1A1A2E"/>
                    </a:solidFill>
                  </a:tcPr>
                </a:tc>
                <a:extLst>
                  <a:ext uri="{0D108BD9-81ED-4DB2-BD59-A6C34878D82A}">
                    <a16:rowId xmlns:a16="http://schemas.microsoft.com/office/drawing/2014/main" val="10000"/>
                  </a:ext>
                </a:extLst>
              </a:tr>
              <a:tr h="310896">
                <a:tc>
                  <a:txBody>
                    <a:bodyPr/>
                    <a:lstStyle/>
                    <a:p>
                      <a:pPr algn="l"/>
                      <a:r>
                        <a:rPr sz="900" b="0">
                          <a:solidFill>
                            <a:srgbClr val="1A1A1A"/>
                          </a:solidFill>
                          <a:latin typeface="Space Grotesk"/>
                        </a:rPr>
                        <a:t>τ = 0.50 (default)</a:t>
                      </a:r>
                    </a:p>
                  </a:txBody>
                  <a:tcPr marL="54864" marR="54864" marT="27432" marB="27432" anchor="ctr">
                    <a:solidFill>
                      <a:srgbClr val="FFFFFF"/>
                    </a:solidFill>
                  </a:tcPr>
                </a:tc>
                <a:tc>
                  <a:txBody>
                    <a:bodyPr/>
                    <a:lstStyle/>
                    <a:p>
                      <a:pPr algn="ctr"/>
                      <a:r>
                        <a:rPr sz="900" b="0">
                          <a:solidFill>
                            <a:srgbClr val="1A1A1A"/>
                          </a:solidFill>
                          <a:latin typeface="Space Grotesk"/>
                        </a:rPr>
                        <a:t>0.818</a:t>
                      </a:r>
                    </a:p>
                  </a:txBody>
                  <a:tcPr marL="54864" marR="54864" marT="27432" marB="27432" anchor="ctr">
                    <a:solidFill>
                      <a:srgbClr val="FFFFFF"/>
                    </a:solidFill>
                  </a:tcPr>
                </a:tc>
                <a:tc>
                  <a:txBody>
                    <a:bodyPr/>
                    <a:lstStyle/>
                    <a:p>
                      <a:pPr algn="ctr"/>
                      <a:r>
                        <a:rPr sz="900" b="0">
                          <a:solidFill>
                            <a:srgbClr val="1A1A1A"/>
                          </a:solidFill>
                          <a:latin typeface="Space Grotesk"/>
                        </a:rPr>
                        <a:t>0.182</a:t>
                      </a:r>
                    </a:p>
                  </a:txBody>
                  <a:tcPr marL="54864" marR="54864" marT="27432" marB="27432" anchor="ctr">
                    <a:solidFill>
                      <a:srgbClr val="FFFFFF"/>
                    </a:solidFill>
                  </a:tcPr>
                </a:tc>
                <a:tc>
                  <a:txBody>
                    <a:bodyPr/>
                    <a:lstStyle/>
                    <a:p>
                      <a:pPr algn="ctr"/>
                      <a:r>
                        <a:rPr sz="900" b="0">
                          <a:solidFill>
                            <a:srgbClr val="1A1A1A"/>
                          </a:solidFill>
                          <a:latin typeface="Space Grotesk"/>
                        </a:rPr>
                        <a:t>0.860</a:t>
                      </a:r>
                    </a:p>
                  </a:txBody>
                  <a:tcPr marL="54864" marR="54864" marT="27432" marB="27432" anchor="ctr">
                    <a:solidFill>
                      <a:srgbClr val="FFFFFF"/>
                    </a:solidFill>
                  </a:tcPr>
                </a:tc>
                <a:extLst>
                  <a:ext uri="{0D108BD9-81ED-4DB2-BD59-A6C34878D82A}">
                    <a16:rowId xmlns:a16="http://schemas.microsoft.com/office/drawing/2014/main" val="10001"/>
                  </a:ext>
                </a:extLst>
              </a:tr>
              <a:tr h="310896">
                <a:tc>
                  <a:txBody>
                    <a:bodyPr/>
                    <a:lstStyle/>
                    <a:p>
                      <a:pPr algn="l"/>
                      <a:r>
                        <a:rPr sz="900" b="1">
                          <a:solidFill>
                            <a:srgbClr val="00BFFF"/>
                          </a:solidFill>
                          <a:latin typeface="Space Grotesk"/>
                        </a:rPr>
                        <a:t>τ = 0.40</a:t>
                      </a:r>
                    </a:p>
                  </a:txBody>
                  <a:tcPr marL="54864" marR="54864" marT="27432" marB="27432" anchor="ctr">
                    <a:solidFill>
                      <a:srgbClr val="EAF7FD"/>
                    </a:solidFill>
                  </a:tcPr>
                </a:tc>
                <a:tc>
                  <a:txBody>
                    <a:bodyPr/>
                    <a:lstStyle/>
                    <a:p>
                      <a:pPr algn="ctr"/>
                      <a:r>
                        <a:rPr sz="900" b="1">
                          <a:solidFill>
                            <a:srgbClr val="00BFFF"/>
                          </a:solidFill>
                          <a:latin typeface="Space Grotesk"/>
                        </a:rPr>
                        <a:t>0.902</a:t>
                      </a:r>
                    </a:p>
                  </a:txBody>
                  <a:tcPr marL="54864" marR="54864" marT="27432" marB="27432" anchor="ctr">
                    <a:solidFill>
                      <a:srgbClr val="EAF7FD"/>
                    </a:solidFill>
                  </a:tcPr>
                </a:tc>
                <a:tc>
                  <a:txBody>
                    <a:bodyPr/>
                    <a:lstStyle/>
                    <a:p>
                      <a:pPr algn="ctr"/>
                      <a:r>
                        <a:rPr sz="900" b="1">
                          <a:solidFill>
                            <a:srgbClr val="00BFFF"/>
                          </a:solidFill>
                          <a:latin typeface="Space Grotesk"/>
                        </a:rPr>
                        <a:t>0.098</a:t>
                      </a:r>
                    </a:p>
                  </a:txBody>
                  <a:tcPr marL="54864" marR="54864" marT="27432" marB="27432" anchor="ctr">
                    <a:solidFill>
                      <a:srgbClr val="EAF7FD"/>
                    </a:solidFill>
                  </a:tcPr>
                </a:tc>
                <a:tc>
                  <a:txBody>
                    <a:bodyPr/>
                    <a:lstStyle/>
                    <a:p>
                      <a:pPr algn="ctr"/>
                      <a:r>
                        <a:rPr sz="900" b="1">
                          <a:solidFill>
                            <a:srgbClr val="00BFFF"/>
                          </a:solidFill>
                          <a:latin typeface="Space Grotesk"/>
                        </a:rPr>
                        <a:t>0.752</a:t>
                      </a:r>
                    </a:p>
                  </a:txBody>
                  <a:tcPr marL="54864" marR="54864" marT="27432" marB="27432" anchor="ctr">
                    <a:solidFill>
                      <a:srgbClr val="EAF7FD"/>
                    </a:solidFill>
                  </a:tcPr>
                </a:tc>
                <a:extLst>
                  <a:ext uri="{0D108BD9-81ED-4DB2-BD59-A6C34878D82A}">
                    <a16:rowId xmlns:a16="http://schemas.microsoft.com/office/drawing/2014/main" val="10002"/>
                  </a:ext>
                </a:extLst>
              </a:tr>
              <a:tr h="310896">
                <a:tc>
                  <a:txBody>
                    <a:bodyPr/>
                    <a:lstStyle/>
                    <a:p>
                      <a:pPr algn="l"/>
                      <a:r>
                        <a:rPr sz="900" b="0">
                          <a:solidFill>
                            <a:srgbClr val="1A1A1A"/>
                          </a:solidFill>
                          <a:latin typeface="Space Grotesk"/>
                        </a:rPr>
                        <a:t>τ = 0.30</a:t>
                      </a:r>
                    </a:p>
                  </a:txBody>
                  <a:tcPr marL="54864" marR="54864" marT="27432" marB="27432" anchor="ctr">
                    <a:solidFill>
                      <a:srgbClr val="FFFFFF"/>
                    </a:solidFill>
                  </a:tcPr>
                </a:tc>
                <a:tc>
                  <a:txBody>
                    <a:bodyPr/>
                    <a:lstStyle/>
                    <a:p>
                      <a:pPr algn="ctr"/>
                      <a:r>
                        <a:rPr sz="900" b="0">
                          <a:solidFill>
                            <a:srgbClr val="1A1A1A"/>
                          </a:solidFill>
                          <a:latin typeface="Space Grotesk"/>
                        </a:rPr>
                        <a:t>0.961</a:t>
                      </a:r>
                    </a:p>
                  </a:txBody>
                  <a:tcPr marL="54864" marR="54864" marT="27432" marB="27432" anchor="ctr">
                    <a:solidFill>
                      <a:srgbClr val="FFFFFF"/>
                    </a:solidFill>
                  </a:tcPr>
                </a:tc>
                <a:tc>
                  <a:txBody>
                    <a:bodyPr/>
                    <a:lstStyle/>
                    <a:p>
                      <a:pPr algn="ctr"/>
                      <a:r>
                        <a:rPr sz="900" b="0">
                          <a:solidFill>
                            <a:srgbClr val="1A1A1A"/>
                          </a:solidFill>
                          <a:latin typeface="Space Grotesk"/>
                        </a:rPr>
                        <a:t>0.039</a:t>
                      </a:r>
                    </a:p>
                  </a:txBody>
                  <a:tcPr marL="54864" marR="54864" marT="27432" marB="27432" anchor="ctr">
                    <a:solidFill>
                      <a:srgbClr val="FFFFFF"/>
                    </a:solidFill>
                  </a:tcPr>
                </a:tc>
                <a:tc>
                  <a:txBody>
                    <a:bodyPr/>
                    <a:lstStyle/>
                    <a:p>
                      <a:pPr algn="ctr"/>
                      <a:r>
                        <a:rPr sz="900" b="0">
                          <a:solidFill>
                            <a:srgbClr val="1A1A1A"/>
                          </a:solidFill>
                          <a:latin typeface="Space Grotesk"/>
                        </a:rPr>
                        <a:t>0.607</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nvGraphicFramePr>
        <p:xfrm>
          <a:off x="4526280" y="1042415"/>
          <a:ext cx="3931918" cy="1243584"/>
        </p:xfrm>
        <a:graphic>
          <a:graphicData uri="http://schemas.openxmlformats.org/drawingml/2006/table">
            <a:tbl>
              <a:tblPr>
                <a:tableStyleId>{5C22544A-7EE6-4342-B048-85BDC9FD1C3A}</a:tableStyleId>
              </a:tblPr>
              <a:tblGrid>
                <a:gridCol w="1807779">
                  <a:extLst>
                    <a:ext uri="{9D8B030D-6E8A-4147-A177-3AD203B41FA5}">
                      <a16:colId xmlns:a16="http://schemas.microsoft.com/office/drawing/2014/main" val="20000"/>
                    </a:ext>
                  </a:extLst>
                </a:gridCol>
                <a:gridCol w="723111">
                  <a:extLst>
                    <a:ext uri="{9D8B030D-6E8A-4147-A177-3AD203B41FA5}">
                      <a16:colId xmlns:a16="http://schemas.microsoft.com/office/drawing/2014/main" val="20001"/>
                    </a:ext>
                  </a:extLst>
                </a:gridCol>
                <a:gridCol w="768306">
                  <a:extLst>
                    <a:ext uri="{9D8B030D-6E8A-4147-A177-3AD203B41FA5}">
                      <a16:colId xmlns:a16="http://schemas.microsoft.com/office/drawing/2014/main" val="20002"/>
                    </a:ext>
                  </a:extLst>
                </a:gridCol>
                <a:gridCol w="632722">
                  <a:extLst>
                    <a:ext uri="{9D8B030D-6E8A-4147-A177-3AD203B41FA5}">
                      <a16:colId xmlns:a16="http://schemas.microsoft.com/office/drawing/2014/main" val="20003"/>
                    </a:ext>
                  </a:extLst>
                </a:gridCol>
              </a:tblGrid>
              <a:tr h="310896">
                <a:tc>
                  <a:txBody>
                    <a:bodyPr/>
                    <a:lstStyle/>
                    <a:p>
                      <a:pPr algn="l"/>
                      <a:r>
                        <a:rPr sz="900" b="1">
                          <a:solidFill>
                            <a:srgbClr val="FFFFFF"/>
                          </a:solidFill>
                          <a:latin typeface="Space Grotesk"/>
                        </a:rPr>
                        <a:t>Configuration</a:t>
                      </a:r>
                    </a:p>
                  </a:txBody>
                  <a:tcPr marL="54864" marR="54864" marT="27432" marB="27432" anchor="ctr">
                    <a:solidFill>
                      <a:srgbClr val="1A1A2E"/>
                    </a:solidFill>
                  </a:tcPr>
                </a:tc>
                <a:tc>
                  <a:txBody>
                    <a:bodyPr/>
                    <a:lstStyle/>
                    <a:p>
                      <a:pPr algn="ctr"/>
                      <a:r>
                        <a:rPr sz="900" b="1">
                          <a:solidFill>
                            <a:srgbClr val="FFFFFF"/>
                          </a:solidFill>
                          <a:latin typeface="Space Grotesk"/>
                        </a:rPr>
                        <a:t>Params</a:t>
                      </a:r>
                    </a:p>
                  </a:txBody>
                  <a:tcPr marL="54864" marR="54864" marT="27432" marB="27432" anchor="ctr">
                    <a:solidFill>
                      <a:srgbClr val="1A1A2E"/>
                    </a:solidFill>
                  </a:tcPr>
                </a:tc>
                <a:tc>
                  <a:txBody>
                    <a:bodyPr/>
                    <a:lstStyle/>
                    <a:p>
                      <a:pPr algn="ctr"/>
                      <a:r>
                        <a:rPr sz="900" b="1">
                          <a:solidFill>
                            <a:srgbClr val="FFFFFF"/>
                          </a:solidFill>
                          <a:latin typeface="Space Grotesk"/>
                        </a:rPr>
                        <a:t>CPU</a:t>
                      </a:r>
                    </a:p>
                  </a:txBody>
                  <a:tcPr marL="54864" marR="54864" marT="27432" marB="27432" anchor="ctr">
                    <a:solidFill>
                      <a:srgbClr val="1A1A2E"/>
                    </a:solidFill>
                  </a:tcPr>
                </a:tc>
                <a:tc>
                  <a:txBody>
                    <a:bodyPr/>
                    <a:lstStyle/>
                    <a:p>
                      <a:pPr algn="ctr"/>
                      <a:r>
                        <a:rPr sz="900" b="1">
                          <a:solidFill>
                            <a:srgbClr val="FFFFFF"/>
                          </a:solidFill>
                          <a:latin typeface="Space Grotesk"/>
                        </a:rPr>
                        <a:t>AUC</a:t>
                      </a:r>
                    </a:p>
                  </a:txBody>
                  <a:tcPr marL="54864" marR="54864" marT="27432" marB="27432" anchor="ctr">
                    <a:solidFill>
                      <a:srgbClr val="1A1A2E"/>
                    </a:solidFill>
                  </a:tcPr>
                </a:tc>
                <a:extLst>
                  <a:ext uri="{0D108BD9-81ED-4DB2-BD59-A6C34878D82A}">
                    <a16:rowId xmlns:a16="http://schemas.microsoft.com/office/drawing/2014/main" val="10000"/>
                  </a:ext>
                </a:extLst>
              </a:tr>
              <a:tr h="310896">
                <a:tc>
                  <a:txBody>
                    <a:bodyPr/>
                    <a:lstStyle/>
                    <a:p>
                      <a:pPr algn="l"/>
                      <a:r>
                        <a:rPr sz="900" b="0">
                          <a:solidFill>
                            <a:srgbClr val="1A1A1A"/>
                          </a:solidFill>
                          <a:latin typeface="Space Grotesk"/>
                        </a:rPr>
                        <a:t>Visual, single seed</a:t>
                      </a:r>
                    </a:p>
                  </a:txBody>
                  <a:tcPr marL="54864" marR="54864" marT="27432" marB="27432" anchor="ctr">
                    <a:solidFill>
                      <a:srgbClr val="FFFFFF"/>
                    </a:solidFill>
                  </a:tcPr>
                </a:tc>
                <a:tc>
                  <a:txBody>
                    <a:bodyPr/>
                    <a:lstStyle/>
                    <a:p>
                      <a:pPr algn="ctr"/>
                      <a:r>
                        <a:rPr sz="900" b="0">
                          <a:solidFill>
                            <a:srgbClr val="1A1A1A"/>
                          </a:solidFill>
                          <a:latin typeface="Space Grotesk"/>
                        </a:rPr>
                        <a:t>3.08 M</a:t>
                      </a:r>
                    </a:p>
                  </a:txBody>
                  <a:tcPr marL="54864" marR="54864" marT="27432" marB="27432" anchor="ctr">
                    <a:solidFill>
                      <a:srgbClr val="FFFFFF"/>
                    </a:solidFill>
                  </a:tcPr>
                </a:tc>
                <a:tc>
                  <a:txBody>
                    <a:bodyPr/>
                    <a:lstStyle/>
                    <a:p>
                      <a:pPr algn="ctr"/>
                      <a:r>
                        <a:rPr sz="900" b="0">
                          <a:solidFill>
                            <a:srgbClr val="1A1A1A"/>
                          </a:solidFill>
                          <a:latin typeface="Space Grotesk"/>
                        </a:rPr>
                        <a:t>24.9 ms</a:t>
                      </a:r>
                    </a:p>
                  </a:txBody>
                  <a:tcPr marL="54864" marR="54864" marT="27432" marB="27432" anchor="ctr">
                    <a:solidFill>
                      <a:srgbClr val="FFFFFF"/>
                    </a:solidFill>
                  </a:tcPr>
                </a:tc>
                <a:tc>
                  <a:txBody>
                    <a:bodyPr/>
                    <a:lstStyle/>
                    <a:p>
                      <a:pPr algn="ctr"/>
                      <a:r>
                        <a:rPr sz="900" b="0">
                          <a:solidFill>
                            <a:srgbClr val="1A1A1A"/>
                          </a:solidFill>
                          <a:latin typeface="Space Grotesk"/>
                        </a:rPr>
                        <a:t>0.896</a:t>
                      </a:r>
                    </a:p>
                  </a:txBody>
                  <a:tcPr marL="54864" marR="54864" marT="27432" marB="27432" anchor="ctr">
                    <a:solidFill>
                      <a:srgbClr val="FFFFFF"/>
                    </a:solidFill>
                  </a:tcPr>
                </a:tc>
                <a:extLst>
                  <a:ext uri="{0D108BD9-81ED-4DB2-BD59-A6C34878D82A}">
                    <a16:rowId xmlns:a16="http://schemas.microsoft.com/office/drawing/2014/main" val="10001"/>
                  </a:ext>
                </a:extLst>
              </a:tr>
              <a:tr h="310896">
                <a:tc>
                  <a:txBody>
                    <a:bodyPr/>
                    <a:lstStyle/>
                    <a:p>
                      <a:pPr algn="l"/>
                      <a:r>
                        <a:rPr sz="900" b="0">
                          <a:solidFill>
                            <a:srgbClr val="1A1A1A"/>
                          </a:solidFill>
                          <a:latin typeface="Space Grotesk"/>
                        </a:rPr>
                        <a:t>Visual, ensemble + TTA</a:t>
                      </a:r>
                    </a:p>
                  </a:txBody>
                  <a:tcPr marL="54864" marR="54864" marT="27432" marB="27432" anchor="ctr">
                    <a:solidFill>
                      <a:srgbClr val="F4F6F8"/>
                    </a:solidFill>
                  </a:tcPr>
                </a:tc>
                <a:tc>
                  <a:txBody>
                    <a:bodyPr/>
                    <a:lstStyle/>
                    <a:p>
                      <a:pPr algn="ctr"/>
                      <a:r>
                        <a:rPr sz="900" b="0">
                          <a:solidFill>
                            <a:srgbClr val="1A1A1A"/>
                          </a:solidFill>
                          <a:latin typeface="Space Grotesk"/>
                        </a:rPr>
                        <a:t>6.16 M</a:t>
                      </a:r>
                    </a:p>
                  </a:txBody>
                  <a:tcPr marL="54864" marR="54864" marT="27432" marB="27432" anchor="ctr">
                    <a:solidFill>
                      <a:srgbClr val="F4F6F8"/>
                    </a:solidFill>
                  </a:tcPr>
                </a:tc>
                <a:tc>
                  <a:txBody>
                    <a:bodyPr/>
                    <a:lstStyle/>
                    <a:p>
                      <a:pPr algn="ctr"/>
                      <a:r>
                        <a:rPr sz="900" b="0">
                          <a:solidFill>
                            <a:srgbClr val="1A1A1A"/>
                          </a:solidFill>
                          <a:latin typeface="Space Grotesk"/>
                        </a:rPr>
                        <a:t>99.6 ms</a:t>
                      </a:r>
                    </a:p>
                  </a:txBody>
                  <a:tcPr marL="54864" marR="54864" marT="27432" marB="27432" anchor="ctr">
                    <a:solidFill>
                      <a:srgbClr val="F4F6F8"/>
                    </a:solidFill>
                  </a:tcPr>
                </a:tc>
                <a:tc>
                  <a:txBody>
                    <a:bodyPr/>
                    <a:lstStyle/>
                    <a:p>
                      <a:pPr algn="ctr"/>
                      <a:r>
                        <a:rPr sz="900" b="0">
                          <a:solidFill>
                            <a:srgbClr val="1A1A1A"/>
                          </a:solidFill>
                          <a:latin typeface="Space Grotesk"/>
                        </a:rPr>
                        <a:t>0.915</a:t>
                      </a:r>
                    </a:p>
                  </a:txBody>
                  <a:tcPr marL="54864" marR="54864" marT="27432" marB="27432" anchor="ctr">
                    <a:solidFill>
                      <a:srgbClr val="F4F6F8"/>
                    </a:solidFill>
                  </a:tcPr>
                </a:tc>
                <a:extLst>
                  <a:ext uri="{0D108BD9-81ED-4DB2-BD59-A6C34878D82A}">
                    <a16:rowId xmlns:a16="http://schemas.microsoft.com/office/drawing/2014/main" val="10002"/>
                  </a:ext>
                </a:extLst>
              </a:tr>
              <a:tr h="310896">
                <a:tc>
                  <a:txBody>
                    <a:bodyPr/>
                    <a:lstStyle/>
                    <a:p>
                      <a:pPr algn="l"/>
                      <a:r>
                        <a:rPr sz="900" b="1">
                          <a:solidFill>
                            <a:srgbClr val="00BFFF"/>
                          </a:solidFill>
                          <a:latin typeface="Space Grotesk"/>
                        </a:rPr>
                        <a:t>Fusion (visual + URL)</a:t>
                      </a:r>
                    </a:p>
                  </a:txBody>
                  <a:tcPr marL="54864" marR="54864" marT="27432" marB="27432" anchor="ctr">
                    <a:solidFill>
                      <a:srgbClr val="EAF7FD"/>
                    </a:solidFill>
                  </a:tcPr>
                </a:tc>
                <a:tc>
                  <a:txBody>
                    <a:bodyPr/>
                    <a:lstStyle/>
                    <a:p>
                      <a:pPr algn="ctr"/>
                      <a:r>
                        <a:rPr sz="900" b="1">
                          <a:solidFill>
                            <a:srgbClr val="00BFFF"/>
                          </a:solidFill>
                          <a:latin typeface="Space Grotesk"/>
                        </a:rPr>
                        <a:t>69.1 M</a:t>
                      </a:r>
                    </a:p>
                  </a:txBody>
                  <a:tcPr marL="54864" marR="54864" marT="27432" marB="27432" anchor="ctr">
                    <a:solidFill>
                      <a:srgbClr val="EAF7FD"/>
                    </a:solidFill>
                  </a:tcPr>
                </a:tc>
                <a:tc>
                  <a:txBody>
                    <a:bodyPr/>
                    <a:lstStyle/>
                    <a:p>
                      <a:pPr algn="ctr"/>
                      <a:r>
                        <a:rPr sz="900" b="1">
                          <a:solidFill>
                            <a:srgbClr val="00BFFF"/>
                          </a:solidFill>
                          <a:latin typeface="Space Grotesk"/>
                        </a:rPr>
                        <a:t>~95 ms</a:t>
                      </a:r>
                    </a:p>
                  </a:txBody>
                  <a:tcPr marL="54864" marR="54864" marT="27432" marB="27432" anchor="ctr">
                    <a:solidFill>
                      <a:srgbClr val="EAF7FD"/>
                    </a:solidFill>
                  </a:tcPr>
                </a:tc>
                <a:tc>
                  <a:txBody>
                    <a:bodyPr/>
                    <a:lstStyle/>
                    <a:p>
                      <a:pPr algn="ctr"/>
                      <a:r>
                        <a:rPr sz="900" b="1">
                          <a:solidFill>
                            <a:srgbClr val="00BFFF"/>
                          </a:solidFill>
                          <a:latin typeface="Space Grotesk"/>
                        </a:rPr>
                        <a:t>0.975</a:t>
                      </a:r>
                    </a:p>
                  </a:txBody>
                  <a:tcPr marL="54864" marR="54864" marT="27432" marB="27432" anchor="ctr">
                    <a:solidFill>
                      <a:srgbClr val="EAF7FD"/>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429768" y="2487168"/>
            <a:ext cx="3931920" cy="117043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66928" y="2606040"/>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Calibration is only for the fallback</a:t>
            </a:r>
          </a:p>
        </p:txBody>
      </p:sp>
      <p:sp>
        <p:nvSpPr>
          <p:cNvPr id="9" name="TextBox 8"/>
          <p:cNvSpPr txBox="1"/>
          <p:nvPr/>
        </p:nvSpPr>
        <p:spPr>
          <a:xfrm>
            <a:off x="566928" y="2926080"/>
            <a:ext cx="3657600" cy="621792"/>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τ = 0.40 reaches FNR ≤ 0.10 without retraining</a:t>
            </a:r>
          </a:p>
          <a:p>
            <a:pPr algn="l">
              <a:spcAft>
                <a:spcPts val="400"/>
              </a:spcAft>
            </a:pPr>
            <a:r>
              <a:rPr sz="900" b="0" i="0">
                <a:solidFill>
                  <a:srgbClr val="1A1A1A"/>
                </a:solidFill>
                <a:latin typeface="Space Grotesk"/>
              </a:rPr>
              <a:t>•  The fused model already satisfies the same constraint at the default threshold</a:t>
            </a:r>
          </a:p>
        </p:txBody>
      </p:sp>
      <p:sp>
        <p:nvSpPr>
          <p:cNvPr id="10" name="Rounded Rectangle 9"/>
          <p:cNvSpPr/>
          <p:nvPr/>
        </p:nvSpPr>
        <p:spPr>
          <a:xfrm>
            <a:off x="4526280" y="2487168"/>
            <a:ext cx="3931920" cy="1170432"/>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663440" y="2606040"/>
            <a:ext cx="3657600" cy="274320"/>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Deployment envelope</a:t>
            </a:r>
          </a:p>
        </p:txBody>
      </p:sp>
      <p:sp>
        <p:nvSpPr>
          <p:cNvPr id="12" name="TextBox 11"/>
          <p:cNvSpPr txBox="1"/>
          <p:nvPr/>
        </p:nvSpPr>
        <p:spPr>
          <a:xfrm>
            <a:off x="4663440" y="2926080"/>
            <a:ext cx="3657600" cy="621792"/>
          </a:xfrm>
          <a:prstGeom prst="rect">
            <a:avLst/>
          </a:prstGeom>
          <a:noFill/>
        </p:spPr>
        <p:txBody>
          <a:bodyPr wrap="square" lIns="18288" tIns="0" rIns="18288" bIns="0" anchor="t">
            <a:spAutoFit/>
          </a:bodyPr>
          <a:lstStyle/>
          <a:p>
            <a:pPr algn="l">
              <a:spcAft>
                <a:spcPts val="400"/>
              </a:spcAft>
            </a:pPr>
            <a:r>
              <a:rPr sz="900" b="0" i="0">
                <a:solidFill>
                  <a:srgbClr val="1A1A1A"/>
                </a:solidFill>
                <a:latin typeface="Space Grotesk"/>
              </a:rPr>
              <a:t>•  Under 100 ms on CPU — inside the mobile interaction budget</a:t>
            </a:r>
          </a:p>
          <a:p>
            <a:pPr algn="l">
              <a:spcAft>
                <a:spcPts val="400"/>
              </a:spcAft>
            </a:pPr>
            <a:r>
              <a:rPr sz="900" b="0" i="0">
                <a:solidFill>
                  <a:srgbClr val="1A1A1A"/>
                </a:solidFill>
                <a:latin typeface="Space Grotesk"/>
              </a:rPr>
              <a:t>•  1,156 images/s on a single Tesla T4 (batch 32); DistilBERT dominates the cost</a:t>
            </a:r>
          </a:p>
        </p:txBody>
      </p:sp>
      <p:sp>
        <p:nvSpPr>
          <p:cNvPr id="13" name="Rounded Rectangle 12"/>
          <p:cNvSpPr/>
          <p:nvPr/>
        </p:nvSpPr>
        <p:spPr>
          <a:xfrm>
            <a:off x="429768" y="3785615"/>
            <a:ext cx="8028431" cy="621792"/>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94360" y="3840479"/>
            <a:ext cx="7699247" cy="512064"/>
          </a:xfrm>
          <a:prstGeom prst="rect">
            <a:avLst/>
          </a:prstGeom>
          <a:noFill/>
        </p:spPr>
        <p:txBody>
          <a:bodyPr wrap="square" lIns="18288" tIns="0" rIns="18288" bIns="0" anchor="ctr">
            <a:spAutoFit/>
          </a:bodyPr>
          <a:lstStyle/>
          <a:p>
            <a:pPr algn="l">
              <a:spcAft>
                <a:spcPts val="200"/>
              </a:spcAft>
            </a:pPr>
            <a:r>
              <a:rPr sz="1100" b="1" i="0">
                <a:solidFill>
                  <a:srgbClr val="1A1A1A"/>
                </a:solidFill>
                <a:latin typeface="Space Grotesk"/>
              </a:rPr>
              <a:t>Same trained weights, three deployment points: lightweight visual-only, higher-accuracy visual ensemble, or full multimodal inference.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Limitations</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Where the results stop being indicative</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Limitations</a:t>
            </a:r>
          </a:p>
        </p:txBody>
      </p:sp>
      <p:sp>
        <p:nvSpPr>
          <p:cNvPr id="3" name="TextBox 2"/>
          <p:cNvSpPr txBox="1"/>
          <p:nvPr/>
        </p:nvSpPr>
        <p:spPr>
          <a:xfrm>
            <a:off x="429768" y="786384"/>
            <a:ext cx="3931920" cy="237744"/>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What we evaluated</a:t>
            </a:r>
          </a:p>
        </p:txBody>
      </p:sp>
      <p:sp>
        <p:nvSpPr>
          <p:cNvPr id="4" name="TextBox 3"/>
          <p:cNvSpPr txBox="1"/>
          <p:nvPr/>
        </p:nvSpPr>
        <p:spPr>
          <a:xfrm>
            <a:off x="4526280" y="786384"/>
            <a:ext cx="3931920" cy="237744"/>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What deployment adds</a:t>
            </a:r>
          </a:p>
        </p:txBody>
      </p:sp>
      <p:sp>
        <p:nvSpPr>
          <p:cNvPr id="5" name="Rounded Rectangle 4"/>
          <p:cNvSpPr/>
          <p:nvPr/>
        </p:nvSpPr>
        <p:spPr>
          <a:xfrm>
            <a:off x="429768" y="1097280"/>
            <a:ext cx="3931920" cy="51206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66928" y="1143000"/>
            <a:ext cx="3657600" cy="420624"/>
          </a:xfrm>
          <a:prstGeom prst="rect">
            <a:avLst/>
          </a:prstGeom>
          <a:noFill/>
        </p:spPr>
        <p:txBody>
          <a:bodyPr wrap="square" lIns="18288" tIns="0" rIns="18288" bIns="0" anchor="ctr">
            <a:spAutoFit/>
          </a:bodyPr>
          <a:lstStyle/>
          <a:p>
            <a:pPr algn="l">
              <a:spcAft>
                <a:spcPts val="200"/>
              </a:spcAft>
            </a:pPr>
            <a:r>
              <a:rPr sz="950" b="0" i="0">
                <a:solidFill>
                  <a:srgbClr val="1A1A1A"/>
                </a:solidFill>
                <a:latin typeface="Space Grotesk"/>
              </a:rPr>
              <a:t>Two corpora of static QR images</a:t>
            </a:r>
          </a:p>
        </p:txBody>
      </p:sp>
      <p:sp>
        <p:nvSpPr>
          <p:cNvPr id="7" name="Rounded Rectangle 6"/>
          <p:cNvSpPr/>
          <p:nvPr/>
        </p:nvSpPr>
        <p:spPr>
          <a:xfrm>
            <a:off x="4526280" y="1097280"/>
            <a:ext cx="3931920" cy="512064"/>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63440" y="1143000"/>
            <a:ext cx="3657600" cy="420624"/>
          </a:xfrm>
          <a:prstGeom prst="rect">
            <a:avLst/>
          </a:prstGeom>
          <a:noFill/>
        </p:spPr>
        <p:txBody>
          <a:bodyPr wrap="square" lIns="18288" tIns="0" rIns="18288" bIns="0" anchor="ctr">
            <a:spAutoFit/>
          </a:bodyPr>
          <a:lstStyle/>
          <a:p>
            <a:pPr algn="l">
              <a:spcAft>
                <a:spcPts val="200"/>
              </a:spcAft>
            </a:pPr>
            <a:r>
              <a:rPr sz="950" b="0" i="0">
                <a:solidFill>
                  <a:srgbClr val="1A1A1A"/>
                </a:solidFill>
                <a:latin typeface="Space Grotesk"/>
              </a:rPr>
              <a:t>Adversarial and stylized QR codes in the wild</a:t>
            </a:r>
          </a:p>
        </p:txBody>
      </p:sp>
      <p:sp>
        <p:nvSpPr>
          <p:cNvPr id="9" name="Rounded Rectangle 8"/>
          <p:cNvSpPr/>
          <p:nvPr/>
        </p:nvSpPr>
        <p:spPr>
          <a:xfrm>
            <a:off x="429768" y="1719072"/>
            <a:ext cx="3931920" cy="51206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66928" y="1764792"/>
            <a:ext cx="3657600" cy="420624"/>
          </a:xfrm>
          <a:prstGeom prst="rect">
            <a:avLst/>
          </a:prstGeom>
          <a:noFill/>
        </p:spPr>
        <p:txBody>
          <a:bodyPr wrap="square" lIns="18288" tIns="0" rIns="18288" bIns="0" anchor="ctr">
            <a:spAutoFit/>
          </a:bodyPr>
          <a:lstStyle/>
          <a:p>
            <a:pPr algn="l">
              <a:spcAft>
                <a:spcPts val="200"/>
              </a:spcAft>
            </a:pPr>
            <a:r>
              <a:rPr sz="950" b="0" i="0">
                <a:solidFill>
                  <a:srgbClr val="1A1A1A"/>
                </a:solidFill>
                <a:latin typeface="Space Grotesk"/>
              </a:rPr>
              <a:t>Binary benign vs phishing labels</a:t>
            </a:r>
          </a:p>
        </p:txBody>
      </p:sp>
      <p:sp>
        <p:nvSpPr>
          <p:cNvPr id="11" name="Rounded Rectangle 10"/>
          <p:cNvSpPr/>
          <p:nvPr/>
        </p:nvSpPr>
        <p:spPr>
          <a:xfrm>
            <a:off x="4526280" y="1719072"/>
            <a:ext cx="3931920" cy="512064"/>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63440" y="1764792"/>
            <a:ext cx="3657600" cy="420624"/>
          </a:xfrm>
          <a:prstGeom prst="rect">
            <a:avLst/>
          </a:prstGeom>
          <a:noFill/>
        </p:spPr>
        <p:txBody>
          <a:bodyPr wrap="square" lIns="18288" tIns="0" rIns="18288" bIns="0" anchor="ctr">
            <a:spAutoFit/>
          </a:bodyPr>
          <a:lstStyle/>
          <a:p>
            <a:pPr algn="l">
              <a:spcAft>
                <a:spcPts val="200"/>
              </a:spcAft>
            </a:pPr>
            <a:r>
              <a:rPr sz="950" b="0" i="0">
                <a:solidFill>
                  <a:srgbClr val="1A1A1A"/>
                </a:solidFill>
                <a:latin typeface="Space Grotesk"/>
              </a:rPr>
              <a:t>Non-URL payloads at scale: Wi-Fi, payment strings</a:t>
            </a:r>
          </a:p>
        </p:txBody>
      </p:sp>
      <p:sp>
        <p:nvSpPr>
          <p:cNvPr id="13" name="Rounded Rectangle 12"/>
          <p:cNvSpPr/>
          <p:nvPr/>
        </p:nvSpPr>
        <p:spPr>
          <a:xfrm>
            <a:off x="429768" y="2340864"/>
            <a:ext cx="3931920" cy="51206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66928" y="2386584"/>
            <a:ext cx="3657600" cy="420624"/>
          </a:xfrm>
          <a:prstGeom prst="rect">
            <a:avLst/>
          </a:prstGeom>
          <a:noFill/>
        </p:spPr>
        <p:txBody>
          <a:bodyPr wrap="square" lIns="18288" tIns="0" rIns="18288" bIns="0" anchor="ctr">
            <a:spAutoFit/>
          </a:bodyPr>
          <a:lstStyle/>
          <a:p>
            <a:pPr algn="l">
              <a:spcAft>
                <a:spcPts val="200"/>
              </a:spcAft>
            </a:pPr>
            <a:r>
              <a:rPr sz="950" b="0" i="0">
                <a:solidFill>
                  <a:srgbClr val="1A1A1A"/>
                </a:solidFill>
                <a:latin typeface="Space Grotesk"/>
              </a:rPr>
              <a:t>Image and immediate payload only</a:t>
            </a:r>
          </a:p>
        </p:txBody>
      </p:sp>
      <p:sp>
        <p:nvSpPr>
          <p:cNvPr id="15" name="Rounded Rectangle 14"/>
          <p:cNvSpPr/>
          <p:nvPr/>
        </p:nvSpPr>
        <p:spPr>
          <a:xfrm>
            <a:off x="4526280" y="2340864"/>
            <a:ext cx="3931920" cy="512064"/>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63440" y="2386584"/>
            <a:ext cx="3657600" cy="420624"/>
          </a:xfrm>
          <a:prstGeom prst="rect">
            <a:avLst/>
          </a:prstGeom>
          <a:noFill/>
        </p:spPr>
        <p:txBody>
          <a:bodyPr wrap="square" lIns="18288" tIns="0" rIns="18288" bIns="0" anchor="ctr">
            <a:spAutoFit/>
          </a:bodyPr>
          <a:lstStyle/>
          <a:p>
            <a:pPr algn="l">
              <a:spcAft>
                <a:spcPts val="200"/>
              </a:spcAft>
            </a:pPr>
            <a:r>
              <a:rPr sz="950" b="0" i="0">
                <a:solidFill>
                  <a:srgbClr val="1A1A1A"/>
                </a:solidFill>
                <a:latin typeface="Space Grotesk"/>
              </a:rPr>
              <a:t>Message, sender and page context around the code</a:t>
            </a:r>
          </a:p>
        </p:txBody>
      </p:sp>
      <p:sp>
        <p:nvSpPr>
          <p:cNvPr id="17" name="TextBox 16"/>
          <p:cNvSpPr txBox="1"/>
          <p:nvPr/>
        </p:nvSpPr>
        <p:spPr>
          <a:xfrm>
            <a:off x="429768" y="3017520"/>
            <a:ext cx="8229600" cy="237744"/>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Known weak spots</a:t>
            </a:r>
          </a:p>
        </p:txBody>
      </p:sp>
      <p:sp>
        <p:nvSpPr>
          <p:cNvPr id="18" name="Rounded Rectangle 17"/>
          <p:cNvSpPr/>
          <p:nvPr/>
        </p:nvSpPr>
        <p:spPr>
          <a:xfrm>
            <a:off x="429768" y="3310128"/>
            <a:ext cx="1920240" cy="96926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21208" y="3401568"/>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0.199</a:t>
            </a:r>
          </a:p>
        </p:txBody>
      </p:sp>
      <p:sp>
        <p:nvSpPr>
          <p:cNvPr id="20" name="TextBox 19"/>
          <p:cNvSpPr txBox="1"/>
          <p:nvPr/>
        </p:nvSpPr>
        <p:spPr>
          <a:xfrm>
            <a:off x="502920" y="3767328"/>
            <a:ext cx="1773936" cy="457200"/>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visual-fallback FNR</a:t>
            </a:r>
          </a:p>
        </p:txBody>
      </p:sp>
      <p:sp>
        <p:nvSpPr>
          <p:cNvPr id="21" name="Rounded Rectangle 20"/>
          <p:cNvSpPr/>
          <p:nvPr/>
        </p:nvSpPr>
        <p:spPr>
          <a:xfrm>
            <a:off x="2496312" y="3310128"/>
            <a:ext cx="1920240" cy="96926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587752" y="3401568"/>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epoch 8</a:t>
            </a:r>
          </a:p>
        </p:txBody>
      </p:sp>
      <p:sp>
        <p:nvSpPr>
          <p:cNvPr id="23" name="TextBox 22"/>
          <p:cNvSpPr txBox="1"/>
          <p:nvPr/>
        </p:nvSpPr>
        <p:spPr>
          <a:xfrm>
            <a:off x="2569464" y="3767328"/>
            <a:ext cx="1773936" cy="457200"/>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mild Phase-2 overfitting,
controlled by early stopping</a:t>
            </a:r>
          </a:p>
        </p:txBody>
      </p:sp>
      <p:sp>
        <p:nvSpPr>
          <p:cNvPr id="24" name="Rounded Rectangle 23"/>
          <p:cNvSpPr/>
          <p:nvPr/>
        </p:nvSpPr>
        <p:spPr>
          <a:xfrm>
            <a:off x="4562856" y="3310128"/>
            <a:ext cx="1920240" cy="96926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654296" y="3401568"/>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0.844</a:t>
            </a:r>
          </a:p>
        </p:txBody>
      </p:sp>
      <p:sp>
        <p:nvSpPr>
          <p:cNvPr id="26" name="TextBox 25"/>
          <p:cNvSpPr txBox="1"/>
          <p:nvPr/>
        </p:nvSpPr>
        <p:spPr>
          <a:xfrm>
            <a:off x="4636008" y="3767328"/>
            <a:ext cx="1773936" cy="457200"/>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AUC on large QR codes
(246 – 582 px)</a:t>
            </a:r>
          </a:p>
        </p:txBody>
      </p:sp>
      <p:sp>
        <p:nvSpPr>
          <p:cNvPr id="27" name="Rounded Rectangle 26"/>
          <p:cNvSpPr/>
          <p:nvPr/>
        </p:nvSpPr>
        <p:spPr>
          <a:xfrm>
            <a:off x="6629400" y="3310128"/>
            <a:ext cx="1920240" cy="969264"/>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720840" y="3401568"/>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0.133</a:t>
            </a:r>
          </a:p>
        </p:txBody>
      </p:sp>
      <p:sp>
        <p:nvSpPr>
          <p:cNvPr id="29" name="TextBox 28"/>
          <p:cNvSpPr txBox="1"/>
          <p:nvPr/>
        </p:nvSpPr>
        <p:spPr>
          <a:xfrm>
            <a:off x="6702552" y="3767328"/>
            <a:ext cx="1773936" cy="457200"/>
          </a:xfrm>
          <a:prstGeom prst="rect">
            <a:avLst/>
          </a:prstGeom>
          <a:noFill/>
        </p:spPr>
        <p:txBody>
          <a:bodyPr wrap="square" lIns="18288" tIns="0" rIns="18288" bIns="0" anchor="t">
            <a:spAutoFit/>
          </a:bodyPr>
          <a:lstStyle/>
          <a:p>
            <a:pPr algn="ctr">
              <a:spcAft>
                <a:spcPts val="0"/>
              </a:spcAft>
            </a:pPr>
            <a:r>
              <a:rPr sz="800" b="0" i="0">
                <a:solidFill>
                  <a:srgbClr val="595959"/>
                </a:solidFill>
                <a:latin typeface="Space Grotesk"/>
              </a:rPr>
              <a:t>visual ECE vs 0.038 fused —
imperfect calibration</a:t>
            </a:r>
          </a:p>
        </p:txBody>
      </p:sp>
      <p:sp>
        <p:nvSpPr>
          <p:cNvPr id="30" name="TextBox 29"/>
          <p:cNvSpPr txBox="1"/>
          <p:nvPr/>
        </p:nvSpPr>
        <p:spPr>
          <a:xfrm>
            <a:off x="429768" y="4407408"/>
            <a:ext cx="8028431" cy="237744"/>
          </a:xfrm>
          <a:prstGeom prst="rect">
            <a:avLst/>
          </a:prstGeom>
          <a:noFill/>
        </p:spPr>
        <p:txBody>
          <a:bodyPr wrap="square" lIns="18288" tIns="0" rIns="18288" bIns="0" anchor="t">
            <a:spAutoFit/>
          </a:bodyPr>
          <a:lstStyle/>
          <a:p>
            <a:pPr algn="l">
              <a:spcAft>
                <a:spcPts val="200"/>
              </a:spcAft>
            </a:pPr>
            <a:r>
              <a:rPr sz="950" b="0" i="1">
                <a:solidFill>
                  <a:srgbClr val="595959"/>
                </a:solidFill>
                <a:latin typeface="Space Grotesk"/>
              </a:rPr>
              <a:t>Q-Shield is one layer of a defense, not the whole defense: content-based detection still needs provenance verification and contextual signals alongside it.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Conclusions</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Closing the three objectives</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Conclusions</a:t>
            </a:r>
          </a:p>
        </p:txBody>
      </p:sp>
      <p:sp>
        <p:nvSpPr>
          <p:cNvPr id="3" name="Rounded Rectangle 2"/>
          <p:cNvSpPr/>
          <p:nvPr/>
        </p:nvSpPr>
        <p:spPr>
          <a:xfrm>
            <a:off x="429768" y="804672"/>
            <a:ext cx="8028431" cy="658368"/>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94360" y="859536"/>
            <a:ext cx="7699247" cy="548640"/>
          </a:xfrm>
          <a:prstGeom prst="rect">
            <a:avLst/>
          </a:prstGeom>
          <a:noFill/>
        </p:spPr>
        <p:txBody>
          <a:bodyPr wrap="square" lIns="18288" tIns="0" rIns="18288" bIns="0" anchor="ctr">
            <a:spAutoFit/>
          </a:bodyPr>
          <a:lstStyle/>
          <a:p>
            <a:pPr algn="l">
              <a:spcAft>
                <a:spcPts val="200"/>
              </a:spcAft>
            </a:pPr>
            <a:r>
              <a:rPr sz="1200" b="1" i="0">
                <a:solidFill>
                  <a:srgbClr val="1A1A1A"/>
                </a:solidFill>
                <a:latin typeface="Space Grotesk"/>
              </a:rPr>
              <a:t>Multimodal fusion is not a refinement — it is what turns a 0.202-FNR detector into a 0.057-FNR one without losing the case where the QR never decodes.</a:t>
            </a:r>
          </a:p>
        </p:txBody>
      </p:sp>
      <p:sp>
        <p:nvSpPr>
          <p:cNvPr id="5" name="TextBox 4"/>
          <p:cNvSpPr txBox="1"/>
          <p:nvPr/>
        </p:nvSpPr>
        <p:spPr>
          <a:xfrm>
            <a:off x="429768" y="1627632"/>
            <a:ext cx="8229600" cy="237744"/>
          </a:xfrm>
          <a:prstGeom prst="rect">
            <a:avLst/>
          </a:prstGeom>
          <a:noFill/>
        </p:spPr>
        <p:txBody>
          <a:bodyPr wrap="square" lIns="18288" tIns="0" rIns="18288" bIns="0" anchor="t">
            <a:spAutoFit/>
          </a:bodyPr>
          <a:lstStyle/>
          <a:p>
            <a:pPr algn="l">
              <a:spcAft>
                <a:spcPts val="200"/>
              </a:spcAft>
            </a:pPr>
            <a:r>
              <a:rPr sz="1150" b="1" i="0">
                <a:solidFill>
                  <a:srgbClr val="00BFFF"/>
                </a:solidFill>
                <a:latin typeface="Space Grotesk"/>
              </a:rPr>
              <a:t>The three objectives stated in the introduction, and how each was met</a:t>
            </a:r>
          </a:p>
        </p:txBody>
      </p:sp>
      <p:sp>
        <p:nvSpPr>
          <p:cNvPr id="6" name="Rounded Rectangle 5"/>
          <p:cNvSpPr/>
          <p:nvPr/>
        </p:nvSpPr>
        <p:spPr>
          <a:xfrm>
            <a:off x="429768" y="1938528"/>
            <a:ext cx="2615184" cy="173736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66928" y="2048256"/>
            <a:ext cx="2340864" cy="274320"/>
          </a:xfrm>
          <a:prstGeom prst="rect">
            <a:avLst/>
          </a:prstGeom>
          <a:noFill/>
        </p:spPr>
        <p:txBody>
          <a:bodyPr wrap="square" lIns="18288" tIns="0" rIns="18288" bIns="0" anchor="t">
            <a:spAutoFit/>
          </a:bodyPr>
          <a:lstStyle/>
          <a:p>
            <a:pPr algn="l">
              <a:spcAft>
                <a:spcPts val="200"/>
              </a:spcAft>
            </a:pPr>
            <a:r>
              <a:rPr sz="1100" b="1" i="0">
                <a:solidFill>
                  <a:srgbClr val="00BFFF"/>
                </a:solidFill>
                <a:latin typeface="Space Grotesk"/>
              </a:rPr>
              <a:t>(i)  Pipeline alignment</a:t>
            </a:r>
          </a:p>
        </p:txBody>
      </p:sp>
      <p:sp>
        <p:nvSpPr>
          <p:cNvPr id="8" name="TextBox 7"/>
          <p:cNvSpPr txBox="1"/>
          <p:nvPr/>
        </p:nvSpPr>
        <p:spPr>
          <a:xfrm>
            <a:off x="566928" y="2359152"/>
            <a:ext cx="2340864" cy="365760"/>
          </a:xfrm>
          <a:prstGeom prst="rect">
            <a:avLst/>
          </a:prstGeom>
          <a:noFill/>
        </p:spPr>
        <p:txBody>
          <a:bodyPr wrap="square" lIns="18288" tIns="0" rIns="18288" bIns="0" anchor="t">
            <a:spAutoFit/>
          </a:bodyPr>
          <a:lstStyle/>
          <a:p>
            <a:pPr algn="l">
              <a:spcAft>
                <a:spcPts val="200"/>
              </a:spcAft>
            </a:pPr>
            <a:r>
              <a:rPr sz="900" b="0" i="1">
                <a:solidFill>
                  <a:srgbClr val="595959"/>
                </a:solidFill>
                <a:latin typeface="Space Grotesk"/>
              </a:rPr>
              <a:t>Modeling pre- and post-decode explicitly</a:t>
            </a:r>
          </a:p>
        </p:txBody>
      </p:sp>
      <p:sp>
        <p:nvSpPr>
          <p:cNvPr id="9" name="TextBox 8"/>
          <p:cNvSpPr txBox="1"/>
          <p:nvPr/>
        </p:nvSpPr>
        <p:spPr>
          <a:xfrm>
            <a:off x="566928" y="2798064"/>
            <a:ext cx="2340864" cy="768096"/>
          </a:xfrm>
          <a:prstGeom prst="rect">
            <a:avLst/>
          </a:prstGeom>
          <a:noFill/>
        </p:spPr>
        <p:txBody>
          <a:bodyPr wrap="square" lIns="18288" tIns="0" rIns="18288" bIns="0" anchor="t">
            <a:spAutoFit/>
          </a:bodyPr>
          <a:lstStyle/>
          <a:p>
            <a:pPr algn="l">
              <a:spcAft>
                <a:spcPts val="200"/>
              </a:spcAft>
            </a:pPr>
            <a:r>
              <a:rPr sz="950" b="0" i="0">
                <a:solidFill>
                  <a:srgbClr val="1A1A1A"/>
                </a:solidFill>
                <a:latin typeface="Space Grotesk"/>
              </a:rPr>
              <a:t>FNR 0.202 → 0.057, and the visual branch still covers the 4.3% that never decodes</a:t>
            </a:r>
          </a:p>
        </p:txBody>
      </p:sp>
      <p:sp>
        <p:nvSpPr>
          <p:cNvPr id="10" name="Rounded Rectangle 9"/>
          <p:cNvSpPr/>
          <p:nvPr/>
        </p:nvSpPr>
        <p:spPr>
          <a:xfrm>
            <a:off x="3227832" y="1938528"/>
            <a:ext cx="2615184" cy="173736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364992" y="2048256"/>
            <a:ext cx="2340864" cy="274320"/>
          </a:xfrm>
          <a:prstGeom prst="rect">
            <a:avLst/>
          </a:prstGeom>
          <a:noFill/>
        </p:spPr>
        <p:txBody>
          <a:bodyPr wrap="square" lIns="18288" tIns="0" rIns="18288" bIns="0" anchor="t">
            <a:spAutoFit/>
          </a:bodyPr>
          <a:lstStyle/>
          <a:p>
            <a:pPr algn="l">
              <a:spcAft>
                <a:spcPts val="200"/>
              </a:spcAft>
            </a:pPr>
            <a:r>
              <a:rPr sz="1100" b="1" i="0">
                <a:solidFill>
                  <a:srgbClr val="00BFFF"/>
                </a:solidFill>
                <a:latin typeface="Space Grotesk"/>
              </a:rPr>
              <a:t>(ii)  Generalization</a:t>
            </a:r>
          </a:p>
        </p:txBody>
      </p:sp>
      <p:sp>
        <p:nvSpPr>
          <p:cNvPr id="12" name="TextBox 11"/>
          <p:cNvSpPr txBox="1"/>
          <p:nvPr/>
        </p:nvSpPr>
        <p:spPr>
          <a:xfrm>
            <a:off x="3364992" y="2359152"/>
            <a:ext cx="2340864" cy="365760"/>
          </a:xfrm>
          <a:prstGeom prst="rect">
            <a:avLst/>
          </a:prstGeom>
          <a:noFill/>
        </p:spPr>
        <p:txBody>
          <a:bodyPr wrap="square" lIns="18288" tIns="0" rIns="18288" bIns="0" anchor="t">
            <a:spAutoFit/>
          </a:bodyPr>
          <a:lstStyle/>
          <a:p>
            <a:pPr algn="l">
              <a:spcAft>
                <a:spcPts val="200"/>
              </a:spcAft>
            </a:pPr>
            <a:r>
              <a:rPr sz="900" b="0" i="1">
                <a:solidFill>
                  <a:srgbClr val="595959"/>
                </a:solidFill>
                <a:latin typeface="Space Grotesk"/>
              </a:rPr>
              <a:t>Training and evaluating across corpora</a:t>
            </a:r>
          </a:p>
        </p:txBody>
      </p:sp>
      <p:sp>
        <p:nvSpPr>
          <p:cNvPr id="13" name="TextBox 12"/>
          <p:cNvSpPr txBox="1"/>
          <p:nvPr/>
        </p:nvSpPr>
        <p:spPr>
          <a:xfrm>
            <a:off x="3364992" y="2798064"/>
            <a:ext cx="2340864" cy="768096"/>
          </a:xfrm>
          <a:prstGeom prst="rect">
            <a:avLst/>
          </a:prstGeom>
          <a:noFill/>
        </p:spPr>
        <p:txBody>
          <a:bodyPr wrap="square" lIns="18288" tIns="0" rIns="18288" bIns="0" anchor="t">
            <a:spAutoFit/>
          </a:bodyPr>
          <a:lstStyle/>
          <a:p>
            <a:pPr algn="l">
              <a:spcAft>
                <a:spcPts val="200"/>
              </a:spcAft>
            </a:pPr>
            <a:r>
              <a:rPr sz="950" b="0" i="0">
                <a:solidFill>
                  <a:srgbClr val="1A1A1A"/>
                </a:solidFill>
                <a:latin typeface="Space Grotesk"/>
              </a:rPr>
              <a:t>Single-corpus training collapses to AUC 0.52; combined training restores 0.896</a:t>
            </a:r>
          </a:p>
        </p:txBody>
      </p:sp>
      <p:sp>
        <p:nvSpPr>
          <p:cNvPr id="14" name="Rounded Rectangle 13"/>
          <p:cNvSpPr/>
          <p:nvPr/>
        </p:nvSpPr>
        <p:spPr>
          <a:xfrm>
            <a:off x="6025896" y="1938528"/>
            <a:ext cx="2615184" cy="173736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163056" y="2048256"/>
            <a:ext cx="2340864" cy="274320"/>
          </a:xfrm>
          <a:prstGeom prst="rect">
            <a:avLst/>
          </a:prstGeom>
          <a:noFill/>
        </p:spPr>
        <p:txBody>
          <a:bodyPr wrap="square" lIns="18288" tIns="0" rIns="18288" bIns="0" anchor="t">
            <a:spAutoFit/>
          </a:bodyPr>
          <a:lstStyle/>
          <a:p>
            <a:pPr algn="l">
              <a:spcAft>
                <a:spcPts val="200"/>
              </a:spcAft>
            </a:pPr>
            <a:r>
              <a:rPr sz="1100" b="1" i="0">
                <a:solidFill>
                  <a:srgbClr val="00BFFF"/>
                </a:solidFill>
                <a:latin typeface="Space Grotesk"/>
              </a:rPr>
              <a:t>(iii)  Dual-layer explainability</a:t>
            </a:r>
          </a:p>
        </p:txBody>
      </p:sp>
      <p:sp>
        <p:nvSpPr>
          <p:cNvPr id="16" name="TextBox 15"/>
          <p:cNvSpPr txBox="1"/>
          <p:nvPr/>
        </p:nvSpPr>
        <p:spPr>
          <a:xfrm>
            <a:off x="6163056" y="2359152"/>
            <a:ext cx="2340864" cy="365760"/>
          </a:xfrm>
          <a:prstGeom prst="rect">
            <a:avLst/>
          </a:prstGeom>
          <a:noFill/>
        </p:spPr>
        <p:txBody>
          <a:bodyPr wrap="square" lIns="18288" tIns="0" rIns="18288" bIns="0" anchor="t">
            <a:spAutoFit/>
          </a:bodyPr>
          <a:lstStyle/>
          <a:p>
            <a:pPr algn="l">
              <a:spcAft>
                <a:spcPts val="200"/>
              </a:spcAft>
            </a:pPr>
            <a:r>
              <a:rPr sz="900" b="0" i="1">
                <a:solidFill>
                  <a:srgbClr val="595959"/>
                </a:solidFill>
                <a:latin typeface="Space Grotesk"/>
              </a:rPr>
              <a:t>Pixel attention plus latent attribution</a:t>
            </a:r>
          </a:p>
        </p:txBody>
      </p:sp>
      <p:sp>
        <p:nvSpPr>
          <p:cNvPr id="17" name="TextBox 16"/>
          <p:cNvSpPr txBox="1"/>
          <p:nvPr/>
        </p:nvSpPr>
        <p:spPr>
          <a:xfrm>
            <a:off x="6163056" y="2798064"/>
            <a:ext cx="2340864" cy="768096"/>
          </a:xfrm>
          <a:prstGeom prst="rect">
            <a:avLst/>
          </a:prstGeom>
          <a:noFill/>
        </p:spPr>
        <p:txBody>
          <a:bodyPr wrap="square" lIns="18288" tIns="0" rIns="18288" bIns="0" anchor="t">
            <a:spAutoFit/>
          </a:bodyPr>
          <a:lstStyle/>
          <a:p>
            <a:pPr algn="l">
              <a:spcAft>
                <a:spcPts val="200"/>
              </a:spcAft>
            </a:pPr>
            <a:r>
              <a:rPr sz="950" b="0" i="0">
                <a:solidFill>
                  <a:srgbClr val="1A1A1A"/>
                </a:solidFill>
                <a:latin typeface="Space Grotesk"/>
              </a:rPr>
              <a:t>Grad-CAM correlates at r = 0.43 across corpora; inter/intra embedding ratio 1.94</a:t>
            </a:r>
          </a:p>
        </p:txBody>
      </p:sp>
      <p:sp>
        <p:nvSpPr>
          <p:cNvPr id="18" name="Rounded Rectangle 17"/>
          <p:cNvSpPr/>
          <p:nvPr/>
        </p:nvSpPr>
        <p:spPr>
          <a:xfrm>
            <a:off x="429768" y="3803904"/>
            <a:ext cx="1920240" cy="6583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21208" y="3895344"/>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0.9749</a:t>
            </a:r>
          </a:p>
        </p:txBody>
      </p:sp>
      <p:sp>
        <p:nvSpPr>
          <p:cNvPr id="20" name="TextBox 19"/>
          <p:cNvSpPr txBox="1"/>
          <p:nvPr/>
        </p:nvSpPr>
        <p:spPr>
          <a:xfrm>
            <a:off x="502920" y="4279392"/>
            <a:ext cx="1773936"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AUC</a:t>
            </a:r>
          </a:p>
        </p:txBody>
      </p:sp>
      <p:sp>
        <p:nvSpPr>
          <p:cNvPr id="21" name="Rounded Rectangle 20"/>
          <p:cNvSpPr/>
          <p:nvPr/>
        </p:nvSpPr>
        <p:spPr>
          <a:xfrm>
            <a:off x="2496312" y="3803904"/>
            <a:ext cx="1920240" cy="6583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2587752" y="3895344"/>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0.936</a:t>
            </a:r>
          </a:p>
        </p:txBody>
      </p:sp>
      <p:sp>
        <p:nvSpPr>
          <p:cNvPr id="23" name="TextBox 22"/>
          <p:cNvSpPr txBox="1"/>
          <p:nvPr/>
        </p:nvSpPr>
        <p:spPr>
          <a:xfrm>
            <a:off x="2569464" y="4279392"/>
            <a:ext cx="1773936"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F1</a:t>
            </a:r>
          </a:p>
        </p:txBody>
      </p:sp>
      <p:sp>
        <p:nvSpPr>
          <p:cNvPr id="24" name="Rounded Rectangle 23"/>
          <p:cNvSpPr/>
          <p:nvPr/>
        </p:nvSpPr>
        <p:spPr>
          <a:xfrm>
            <a:off x="4562856" y="3803904"/>
            <a:ext cx="1920240" cy="6583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4654296" y="3895344"/>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0.057</a:t>
            </a:r>
          </a:p>
        </p:txBody>
      </p:sp>
      <p:sp>
        <p:nvSpPr>
          <p:cNvPr id="26" name="TextBox 25"/>
          <p:cNvSpPr txBox="1"/>
          <p:nvPr/>
        </p:nvSpPr>
        <p:spPr>
          <a:xfrm>
            <a:off x="4636008" y="4279392"/>
            <a:ext cx="1773936"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FNR</a:t>
            </a:r>
          </a:p>
        </p:txBody>
      </p:sp>
      <p:sp>
        <p:nvSpPr>
          <p:cNvPr id="27" name="Rounded Rectangle 26"/>
          <p:cNvSpPr/>
          <p:nvPr/>
        </p:nvSpPr>
        <p:spPr>
          <a:xfrm>
            <a:off x="6629400" y="3803904"/>
            <a:ext cx="1920240" cy="6583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720840" y="3895344"/>
            <a:ext cx="1737360" cy="365760"/>
          </a:xfrm>
          <a:prstGeom prst="rect">
            <a:avLst/>
          </a:prstGeom>
          <a:noFill/>
        </p:spPr>
        <p:txBody>
          <a:bodyPr wrap="square" lIns="18288" tIns="0" rIns="18288" bIns="0" anchor="t">
            <a:spAutoFit/>
          </a:bodyPr>
          <a:lstStyle/>
          <a:p>
            <a:pPr algn="ctr">
              <a:spcAft>
                <a:spcPts val="200"/>
              </a:spcAft>
            </a:pPr>
            <a:r>
              <a:rPr sz="1700" b="1" i="0">
                <a:solidFill>
                  <a:srgbClr val="00BFFF"/>
                </a:solidFill>
                <a:latin typeface="Space Grotesk"/>
              </a:rPr>
              <a:t>21,998</a:t>
            </a:r>
          </a:p>
        </p:txBody>
      </p:sp>
      <p:sp>
        <p:nvSpPr>
          <p:cNvPr id="29" name="TextBox 28"/>
          <p:cNvSpPr txBox="1"/>
          <p:nvPr/>
        </p:nvSpPr>
        <p:spPr>
          <a:xfrm>
            <a:off x="6702552" y="4279392"/>
            <a:ext cx="1773936" cy="237744"/>
          </a:xfrm>
          <a:prstGeom prst="rect">
            <a:avLst/>
          </a:prstGeom>
          <a:noFill/>
        </p:spPr>
        <p:txBody>
          <a:bodyPr wrap="square" lIns="18288" tIns="0" rIns="18288" bIns="0" anchor="t">
            <a:spAutoFit/>
          </a:bodyPr>
          <a:lstStyle/>
          <a:p>
            <a:pPr algn="ctr">
              <a:spcAft>
                <a:spcPts val="200"/>
              </a:spcAft>
            </a:pPr>
            <a:r>
              <a:rPr sz="1000" b="1" i="0">
                <a:solidFill>
                  <a:srgbClr val="1A1A1A"/>
                </a:solidFill>
                <a:latin typeface="Space Grotesk"/>
              </a:rPr>
              <a:t>validation samples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16152" y="2304288"/>
            <a:ext cx="2377440"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Future Work</a:t>
            </a:r>
          </a:p>
        </p:txBody>
      </p:sp>
      <p:sp>
        <p:nvSpPr>
          <p:cNvPr id="3" name="TextBox 2"/>
          <p:cNvSpPr txBox="1"/>
          <p:nvPr/>
        </p:nvSpPr>
        <p:spPr>
          <a:xfrm>
            <a:off x="3611880" y="2304288"/>
            <a:ext cx="4572000" cy="539496"/>
          </a:xfrm>
          <a:prstGeom prst="rect">
            <a:avLst/>
          </a:prstGeom>
          <a:noFill/>
        </p:spPr>
        <p:txBody>
          <a:bodyPr wrap="square" lIns="18288" tIns="0" rIns="18288" bIns="0" anchor="t">
            <a:spAutoFit/>
          </a:bodyPr>
          <a:lstStyle/>
          <a:p>
            <a:pPr algn="l">
              <a:spcAft>
                <a:spcPts val="200"/>
              </a:spcAft>
            </a:pPr>
            <a:r>
              <a:rPr sz="2000" b="1" i="0">
                <a:solidFill>
                  <a:srgbClr val="1A1A1A"/>
                </a:solidFill>
                <a:latin typeface="Space Grotesk"/>
              </a:rPr>
              <a:t>Where this goes next</a:t>
            </a:r>
          </a:p>
        </p:txBody>
      </p:sp>
      <p:cxnSp>
        <p:nvCxnSpPr>
          <p:cNvPr id="4" name="Connector 3"/>
          <p:cNvCxnSpPr/>
          <p:nvPr/>
        </p:nvCxnSpPr>
        <p:spPr>
          <a:xfrm>
            <a:off x="1216152" y="2231136"/>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9768" y="201168"/>
            <a:ext cx="6702552" cy="5394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Future Work</a:t>
            </a:r>
          </a:p>
        </p:txBody>
      </p:sp>
      <p:sp>
        <p:nvSpPr>
          <p:cNvPr id="3" name="TextBox 2"/>
          <p:cNvSpPr txBox="1"/>
          <p:nvPr/>
        </p:nvSpPr>
        <p:spPr>
          <a:xfrm>
            <a:off x="429768" y="804672"/>
            <a:ext cx="8229600" cy="237744"/>
          </a:xfrm>
          <a:prstGeom prst="rect">
            <a:avLst/>
          </a:prstGeom>
          <a:noFill/>
        </p:spPr>
        <p:txBody>
          <a:bodyPr wrap="square" lIns="18288" tIns="0" rIns="18288" bIns="0" anchor="t">
            <a:spAutoFit/>
          </a:bodyPr>
          <a:lstStyle/>
          <a:p>
            <a:pPr algn="l">
              <a:spcAft>
                <a:spcPts val="200"/>
              </a:spcAft>
            </a:pPr>
            <a:r>
              <a:rPr sz="1200" b="1" i="0">
                <a:solidFill>
                  <a:srgbClr val="00BFFF"/>
                </a:solidFill>
                <a:latin typeface="Space Grotesk"/>
              </a:rPr>
              <a:t>Four directions, ordered by how much they would move the needle</a:t>
            </a:r>
          </a:p>
        </p:txBody>
      </p:sp>
      <p:sp>
        <p:nvSpPr>
          <p:cNvPr id="4" name="Rounded Rectangle 3"/>
          <p:cNvSpPr/>
          <p:nvPr/>
        </p:nvSpPr>
        <p:spPr>
          <a:xfrm>
            <a:off x="429768" y="1243584"/>
            <a:ext cx="1920240" cy="237744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66928" y="1371600"/>
            <a:ext cx="1645920" cy="3108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01</a:t>
            </a:r>
          </a:p>
        </p:txBody>
      </p:sp>
      <p:sp>
        <p:nvSpPr>
          <p:cNvPr id="6" name="TextBox 5"/>
          <p:cNvSpPr txBox="1"/>
          <p:nvPr/>
        </p:nvSpPr>
        <p:spPr>
          <a:xfrm>
            <a:off x="566928" y="1792224"/>
            <a:ext cx="1645920" cy="402336"/>
          </a:xfrm>
          <a:prstGeom prst="rect">
            <a:avLst/>
          </a:prstGeom>
          <a:noFill/>
        </p:spPr>
        <p:txBody>
          <a:bodyPr wrap="square" lIns="18288" tIns="0" rIns="18288" bIns="0" anchor="t">
            <a:spAutoFit/>
          </a:bodyPr>
          <a:lstStyle/>
          <a:p>
            <a:pPr algn="l">
              <a:spcAft>
                <a:spcPts val="200"/>
              </a:spcAft>
            </a:pPr>
            <a:r>
              <a:rPr sz="1100" b="1" i="0">
                <a:solidFill>
                  <a:srgbClr val="1A1A1A"/>
                </a:solidFill>
                <a:latin typeface="Space Grotesk"/>
              </a:rPr>
              <a:t>Context branch</a:t>
            </a:r>
          </a:p>
        </p:txBody>
      </p:sp>
      <p:sp>
        <p:nvSpPr>
          <p:cNvPr id="7" name="TextBox 6"/>
          <p:cNvSpPr txBox="1"/>
          <p:nvPr/>
        </p:nvSpPr>
        <p:spPr>
          <a:xfrm>
            <a:off x="566928" y="2249424"/>
            <a:ext cx="1645920" cy="1280160"/>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A third modality over the surrounding message, sender and page metadata — the largest missing signal today</a:t>
            </a:r>
          </a:p>
        </p:txBody>
      </p:sp>
      <p:sp>
        <p:nvSpPr>
          <p:cNvPr id="8" name="Rounded Rectangle 7"/>
          <p:cNvSpPr/>
          <p:nvPr/>
        </p:nvSpPr>
        <p:spPr>
          <a:xfrm>
            <a:off x="2496312" y="1243584"/>
            <a:ext cx="192024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633472" y="1371600"/>
            <a:ext cx="1645920" cy="3108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02</a:t>
            </a:r>
          </a:p>
        </p:txBody>
      </p:sp>
      <p:sp>
        <p:nvSpPr>
          <p:cNvPr id="10" name="TextBox 9"/>
          <p:cNvSpPr txBox="1"/>
          <p:nvPr/>
        </p:nvSpPr>
        <p:spPr>
          <a:xfrm>
            <a:off x="2633472" y="1792224"/>
            <a:ext cx="1645920" cy="402336"/>
          </a:xfrm>
          <a:prstGeom prst="rect">
            <a:avLst/>
          </a:prstGeom>
          <a:noFill/>
        </p:spPr>
        <p:txBody>
          <a:bodyPr wrap="square" lIns="18288" tIns="0" rIns="18288" bIns="0" anchor="t">
            <a:spAutoFit/>
          </a:bodyPr>
          <a:lstStyle/>
          <a:p>
            <a:pPr algn="l">
              <a:spcAft>
                <a:spcPts val="200"/>
              </a:spcAft>
            </a:pPr>
            <a:r>
              <a:rPr sz="1100" b="1" i="0">
                <a:solidFill>
                  <a:srgbClr val="1A1A1A"/>
                </a:solidFill>
                <a:latin typeface="Space Grotesk"/>
              </a:rPr>
              <a:t>Multi-scale training</a:t>
            </a:r>
          </a:p>
        </p:txBody>
      </p:sp>
      <p:sp>
        <p:nvSpPr>
          <p:cNvPr id="11" name="TextBox 10"/>
          <p:cNvSpPr txBox="1"/>
          <p:nvPr/>
        </p:nvSpPr>
        <p:spPr>
          <a:xfrm>
            <a:off x="2633472" y="2249424"/>
            <a:ext cx="1645920" cy="1280160"/>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Close the gap on large QR codes, where AUC drops to 0.844 in the 246–582 px range</a:t>
            </a:r>
          </a:p>
        </p:txBody>
      </p:sp>
      <p:sp>
        <p:nvSpPr>
          <p:cNvPr id="12" name="Rounded Rectangle 11"/>
          <p:cNvSpPr/>
          <p:nvPr/>
        </p:nvSpPr>
        <p:spPr>
          <a:xfrm>
            <a:off x="4562856" y="1243584"/>
            <a:ext cx="192024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700016" y="1371600"/>
            <a:ext cx="1645920" cy="3108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03</a:t>
            </a:r>
          </a:p>
        </p:txBody>
      </p:sp>
      <p:sp>
        <p:nvSpPr>
          <p:cNvPr id="14" name="TextBox 13"/>
          <p:cNvSpPr txBox="1"/>
          <p:nvPr/>
        </p:nvSpPr>
        <p:spPr>
          <a:xfrm>
            <a:off x="4700016" y="1792224"/>
            <a:ext cx="1645920" cy="402336"/>
          </a:xfrm>
          <a:prstGeom prst="rect">
            <a:avLst/>
          </a:prstGeom>
          <a:noFill/>
        </p:spPr>
        <p:txBody>
          <a:bodyPr wrap="square" lIns="18288" tIns="0" rIns="18288" bIns="0" anchor="t">
            <a:spAutoFit/>
          </a:bodyPr>
          <a:lstStyle/>
          <a:p>
            <a:pPr algn="l">
              <a:spcAft>
                <a:spcPts val="200"/>
              </a:spcAft>
            </a:pPr>
            <a:r>
              <a:rPr sz="1100" b="1" i="0">
                <a:solidFill>
                  <a:srgbClr val="1A1A1A"/>
                </a:solidFill>
                <a:latin typeface="Space Grotesk"/>
              </a:rPr>
              <a:t>Adversarial robustness</a:t>
            </a:r>
          </a:p>
        </p:txBody>
      </p:sp>
      <p:sp>
        <p:nvSpPr>
          <p:cNvPr id="15" name="TextBox 14"/>
          <p:cNvSpPr txBox="1"/>
          <p:nvPr/>
        </p:nvSpPr>
        <p:spPr>
          <a:xfrm>
            <a:off x="4700016" y="2249424"/>
            <a:ext cx="1645920" cy="1280160"/>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Stylized, perturbed and deliberately hard-to-decode codes designed to evade detection</a:t>
            </a:r>
          </a:p>
        </p:txBody>
      </p:sp>
      <p:sp>
        <p:nvSpPr>
          <p:cNvPr id="16" name="Rounded Rectangle 15"/>
          <p:cNvSpPr/>
          <p:nvPr/>
        </p:nvSpPr>
        <p:spPr>
          <a:xfrm>
            <a:off x="6629400" y="1243584"/>
            <a:ext cx="192024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66560" y="1371600"/>
            <a:ext cx="1645920" cy="310896"/>
          </a:xfrm>
          <a:prstGeom prst="rect">
            <a:avLst/>
          </a:prstGeom>
          <a:noFill/>
        </p:spPr>
        <p:txBody>
          <a:bodyPr wrap="square" lIns="18288" tIns="0" rIns="18288" bIns="0" anchor="t">
            <a:spAutoFit/>
          </a:bodyPr>
          <a:lstStyle/>
          <a:p>
            <a:pPr algn="l">
              <a:spcAft>
                <a:spcPts val="200"/>
              </a:spcAft>
            </a:pPr>
            <a:r>
              <a:rPr sz="2000" b="1" i="0">
                <a:solidFill>
                  <a:srgbClr val="00BFFF"/>
                </a:solidFill>
                <a:latin typeface="Space Grotesk"/>
              </a:rPr>
              <a:t>04</a:t>
            </a:r>
          </a:p>
        </p:txBody>
      </p:sp>
      <p:sp>
        <p:nvSpPr>
          <p:cNvPr id="18" name="TextBox 17"/>
          <p:cNvSpPr txBox="1"/>
          <p:nvPr/>
        </p:nvSpPr>
        <p:spPr>
          <a:xfrm>
            <a:off x="6766560" y="1792224"/>
            <a:ext cx="1645920" cy="402336"/>
          </a:xfrm>
          <a:prstGeom prst="rect">
            <a:avLst/>
          </a:prstGeom>
          <a:noFill/>
        </p:spPr>
        <p:txBody>
          <a:bodyPr wrap="square" lIns="18288" tIns="0" rIns="18288" bIns="0" anchor="t">
            <a:spAutoFit/>
          </a:bodyPr>
          <a:lstStyle/>
          <a:p>
            <a:pPr algn="l">
              <a:spcAft>
                <a:spcPts val="200"/>
              </a:spcAft>
            </a:pPr>
            <a:r>
              <a:rPr sz="1100" b="1" i="0">
                <a:solidFill>
                  <a:srgbClr val="1A1A1A"/>
                </a:solidFill>
                <a:latin typeface="Space Grotesk"/>
              </a:rPr>
              <a:t>Regional adaptation</a:t>
            </a:r>
          </a:p>
        </p:txBody>
      </p:sp>
      <p:sp>
        <p:nvSpPr>
          <p:cNvPr id="19" name="TextBox 18"/>
          <p:cNvSpPr txBox="1"/>
          <p:nvPr/>
        </p:nvSpPr>
        <p:spPr>
          <a:xfrm>
            <a:off x="6766560" y="2249424"/>
            <a:ext cx="1645920" cy="1280160"/>
          </a:xfrm>
          <a:prstGeom prst="rect">
            <a:avLst/>
          </a:prstGeom>
          <a:noFill/>
        </p:spPr>
        <p:txBody>
          <a:bodyPr wrap="square" lIns="18288" tIns="0" rIns="18288" bIns="0" anchor="t">
            <a:spAutoFit/>
          </a:bodyPr>
          <a:lstStyle/>
          <a:p>
            <a:pPr algn="l">
              <a:spcAft>
                <a:spcPts val="200"/>
              </a:spcAft>
            </a:pPr>
            <a:r>
              <a:rPr sz="850" b="0" i="0">
                <a:solidFill>
                  <a:srgbClr val="595959"/>
                </a:solidFill>
                <a:latin typeface="Space Grotesk"/>
              </a:rPr>
              <a:t>Localized models for Latin American QR payment ecosystems, where deployment pressure is highest</a:t>
            </a:r>
          </a:p>
        </p:txBody>
      </p:sp>
      <p:sp>
        <p:nvSpPr>
          <p:cNvPr id="20" name="Rounded Rectangle 19"/>
          <p:cNvSpPr/>
          <p:nvPr/>
        </p:nvSpPr>
        <p:spPr>
          <a:xfrm>
            <a:off x="429768" y="3803904"/>
            <a:ext cx="8028431" cy="566928"/>
          </a:xfrm>
          <a:prstGeom prst="roundRect">
            <a:avLst>
              <a:gd name="adj" fmla="val 8000"/>
            </a:avLst>
          </a:prstGeom>
          <a:solidFill>
            <a:srgbClr val="F7F9FB"/>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94360" y="3858768"/>
            <a:ext cx="7699247" cy="457200"/>
          </a:xfrm>
          <a:prstGeom prst="rect">
            <a:avLst/>
          </a:prstGeom>
          <a:noFill/>
        </p:spPr>
        <p:txBody>
          <a:bodyPr wrap="square" lIns="18288" tIns="0" rIns="18288" bIns="0" anchor="ctr">
            <a:spAutoFit/>
          </a:bodyPr>
          <a:lstStyle/>
          <a:p>
            <a:pPr algn="l">
              <a:spcAft>
                <a:spcPts val="200"/>
              </a:spcAft>
            </a:pPr>
            <a:r>
              <a:rPr sz="1100" b="1" i="0">
                <a:solidFill>
                  <a:srgbClr val="1A1A1A"/>
                </a:solidFill>
                <a:latin typeface="Space Grotesk"/>
              </a:rPr>
              <a:t>Content-based detection is one layer. Provenance verification and contextual signals are the layers that complete 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0664" y="3675887"/>
            <a:ext cx="5486400" cy="868680"/>
          </a:xfrm>
          <a:prstGeom prst="rect">
            <a:avLst/>
          </a:prstGeom>
          <a:noFill/>
        </p:spPr>
        <p:txBody>
          <a:bodyPr wrap="square" lIns="18288" tIns="0" rIns="18288" bIns="0" anchor="t">
            <a:spAutoFit/>
          </a:bodyPr>
          <a:lstStyle/>
          <a:p>
            <a:pPr algn="l">
              <a:spcAft>
                <a:spcPts val="300"/>
              </a:spcAft>
            </a:pPr>
            <a:r>
              <a:rPr sz="1200" b="1" i="0">
                <a:solidFill>
                  <a:srgbClr val="00BFFF"/>
                </a:solidFill>
                <a:latin typeface="Space Grotesk"/>
              </a:rPr>
              <a:t>nicolas.llerena@utec.edu.pe</a:t>
            </a:r>
          </a:p>
          <a:p>
            <a:pPr algn="l">
              <a:spcAft>
                <a:spcPts val="300"/>
              </a:spcAft>
            </a:pPr>
            <a:r>
              <a:rPr sz="1000" b="0" i="0">
                <a:solidFill>
                  <a:srgbClr val="595959"/>
                </a:solidFill>
                <a:latin typeface="Space Grotesk"/>
              </a:rPr>
              <a:t>Department of Computer Science · UTEC · Lima, Perú</a:t>
            </a:r>
          </a:p>
          <a:p>
            <a:pPr algn="l">
              <a:spcAft>
                <a:spcPts val="300"/>
              </a:spcAft>
            </a:pPr>
            <a:r>
              <a:rPr sz="850" b="0" i="0">
                <a:solidFill>
                  <a:srgbClr val="888888"/>
                </a:solidFill>
                <a:latin typeface="Space Grotesk"/>
              </a:rPr>
              <a:t>ORCID 0009-0007-3244-7746  ·  IEEE LA-CCI 2026 · Paper 47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1170432"/>
            <a:ext cx="4663440" cy="1143000"/>
          </a:xfrm>
          <a:prstGeom prst="rect">
            <a:avLst/>
          </a:prstGeom>
          <a:noFill/>
        </p:spPr>
        <p:txBody>
          <a:bodyPr wrap="square" lIns="18288" tIns="0" rIns="18288" bIns="0" anchor="t">
            <a:spAutoFit/>
          </a:bodyPr>
          <a:lstStyle/>
          <a:p>
            <a:pPr algn="l">
              <a:lnSpc>
                <a:spcPct val="105000"/>
              </a:lnSpc>
              <a:spcAft>
                <a:spcPts val="200"/>
              </a:spcAft>
            </a:pPr>
            <a:r>
              <a:rPr sz="1700" b="1" i="0">
                <a:solidFill>
                  <a:srgbClr val="1A1A1A"/>
                </a:solidFill>
                <a:latin typeface="Space Grotesk"/>
              </a:rPr>
              <a:t>Q-Shield: An Explainable Multimodal Framework for QR Code Phishing (Quishing) Detection Using Siamese Visual and Offline URL Analysis</a:t>
            </a:r>
          </a:p>
        </p:txBody>
      </p:sp>
      <p:cxnSp>
        <p:nvCxnSpPr>
          <p:cNvPr id="3" name="Connector 2"/>
          <p:cNvCxnSpPr/>
          <p:nvPr/>
        </p:nvCxnSpPr>
        <p:spPr>
          <a:xfrm>
            <a:off x="612648" y="2523744"/>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2697480"/>
            <a:ext cx="4206240" cy="1463040"/>
          </a:xfrm>
          <a:prstGeom prst="rect">
            <a:avLst/>
          </a:prstGeom>
          <a:noFill/>
        </p:spPr>
        <p:txBody>
          <a:bodyPr wrap="square" lIns="18288" tIns="0" rIns="18288" bIns="0" anchor="t">
            <a:spAutoFit/>
          </a:bodyPr>
          <a:lstStyle/>
          <a:p>
            <a:pPr algn="l">
              <a:spcAft>
                <a:spcPts val="600"/>
              </a:spcAft>
            </a:pPr>
            <a:r>
              <a:rPr sz="1250" b="1" i="0">
                <a:solidFill>
                  <a:srgbClr val="00BFFF"/>
                </a:solidFill>
                <a:latin typeface="Space Grotesk"/>
              </a:rPr>
              <a:t>Nicolás Llerena  ·  Rensso Mora-Colque  ·  Aurea Soriano-Vargas</a:t>
            </a:r>
          </a:p>
          <a:p>
            <a:pPr algn="l">
              <a:spcAft>
                <a:spcPts val="600"/>
              </a:spcAft>
            </a:pPr>
            <a:r>
              <a:rPr sz="1250" b="1" i="0">
                <a:solidFill>
                  <a:srgbClr val="00BFFF"/>
                </a:solidFill>
                <a:latin typeface="Space Grotesk"/>
              </a:rPr>
              <a:t>Department of Computer Science, Universidad de Ingeniería y Tecnología (UTEC), Lima, Perú</a:t>
            </a:r>
          </a:p>
          <a:p>
            <a:pPr algn="l">
              <a:spcAft>
                <a:spcPts val="600"/>
              </a:spcAft>
            </a:pPr>
            <a:r>
              <a:rPr sz="1100" b="0" i="0">
                <a:solidFill>
                  <a:srgbClr val="595959"/>
                </a:solidFill>
                <a:latin typeface="Space Grotesk"/>
              </a:rPr>
              <a:t>IEEE LA-CCI 2026  ·  Paper 47</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3932</Words>
  <Application>Microsoft Office PowerPoint</Application>
  <PresentationFormat>Presentación en pantalla (16:9)</PresentationFormat>
  <Paragraphs>448</Paragraphs>
  <Slides>31</Slides>
  <Notes>31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31</vt:i4>
      </vt:variant>
    </vt:vector>
  </HeadingPairs>
  <TitlesOfParts>
    <vt:vector size="36" baseType="lpstr">
      <vt:lpstr>Space Grotesk</vt:lpstr>
      <vt:lpstr>Arial</vt:lpstr>
      <vt:lpstr>Permanent Marker</vt:lpstr>
      <vt:lpstr>Quattrocento Sans</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Nicolás Alejandro Llerena Silva</cp:lastModifiedBy>
  <cp:revision>1</cp:revision>
  <dcterms:modified xsi:type="dcterms:W3CDTF">2026-08-07T19:06:40Z</dcterms:modified>
</cp:coreProperties>
</file>