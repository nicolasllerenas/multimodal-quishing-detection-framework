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notesSlides/notesSlide18.xml" ContentType="application/vnd.openxmlformats-officedocument.presentationml.notesSlide+xml"/>
  <Override PartName="/ppt/charts/chart2.xml" ContentType="application/vnd.openxmlformats-officedocument.drawingml.chart+xml"/>
  <Override PartName="/ppt/notesSlides/notesSlide19.xml" ContentType="application/vnd.openxmlformats-officedocument.presentationml.notesSlide+xml"/>
  <Override PartName="/ppt/charts/chart3.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Lst>
  <p:notesMasterIdLst>
    <p:notesMasterId r:id="rId31"/>
  </p:notesMasterIdLst>
  <p:sldIdLst>
    <p:sldId id="256" r:id="rId2"/>
    <p:sldId id="287" r:id="rId3"/>
    <p:sldId id="288" r:id="rId4"/>
    <p:sldId id="289" r:id="rId5"/>
    <p:sldId id="290" r:id="rId6"/>
    <p:sldId id="291" r:id="rId7"/>
    <p:sldId id="292" r:id="rId8"/>
    <p:sldId id="293" r:id="rId9"/>
    <p:sldId id="294" r:id="rId10"/>
    <p:sldId id="295" r:id="rId11"/>
    <p:sldId id="296" r:id="rId12"/>
    <p:sldId id="297" r:id="rId13"/>
    <p:sldId id="298" r:id="rId14"/>
    <p:sldId id="299" r:id="rId15"/>
    <p:sldId id="300" r:id="rId16"/>
    <p:sldId id="301" r:id="rId17"/>
    <p:sldId id="302" r:id="rId18"/>
    <p:sldId id="303" r:id="rId19"/>
    <p:sldId id="304" r:id="rId20"/>
    <p:sldId id="305" r:id="rId21"/>
    <p:sldId id="306" r:id="rId22"/>
    <p:sldId id="307" r:id="rId23"/>
    <p:sldId id="308" r:id="rId24"/>
    <p:sldId id="309" r:id="rId25"/>
    <p:sldId id="310" r:id="rId26"/>
    <p:sldId id="311" r:id="rId27"/>
    <p:sldId id="312" r:id="rId28"/>
    <p:sldId id="313" r:id="rId29"/>
    <p:sldId id="285" r:id="rId30"/>
  </p:sldIdLst>
  <p:sldSz cx="9144000" cy="5143500" type="screen16x9"/>
  <p:notesSz cx="6858000" cy="9144000"/>
  <p:embeddedFontLst>
    <p:embeddedFont>
      <p:font typeface="Permanent Marker" panose="020B0604020202020204" charset="0"/>
      <p:regular r:id="rId32"/>
    </p:embeddedFont>
    <p:embeddedFont>
      <p:font typeface="Quattrocento Sans" panose="020B0502050000020003" pitchFamily="34" charset="0"/>
      <p:regular r:id="rId33"/>
      <p:bold r:id="rId34"/>
    </p:embeddedFont>
    <p:embeddedFont>
      <p:font typeface="Space Grotesk" panose="020B0604020202020204" charset="0"/>
      <p:regular r:id="rId35"/>
      <p:bold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99A5B64-9FF6-42D4-9211-59C02424501C}">
  <a:tblStyle styleId="{699A5B64-9FF6-42D4-9211-59C02424501C}"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9492" autoAdjust="0"/>
  </p:normalViewPr>
  <p:slideViewPr>
    <p:cSldViewPr snapToGrid="0">
      <p:cViewPr varScale="1">
        <p:scale>
          <a:sx n="101" d="100"/>
          <a:sy n="101" d="100"/>
        </p:scale>
        <p:origin x="1914" y="10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r>
              <a:rPr lang="en-US" sz="1100" b="1" i="0">
                <a:solidFill>
                  <a:srgbClr val="1A1A1A"/>
                </a:solidFill>
                <a:latin typeface="Arial"/>
              </a:rPr>
              <a:t>Visual-only AUC (higher is better)</a:t>
            </a:r>
          </a:p>
        </c:rich>
      </c:tx>
      <c:overlay val="0"/>
    </c:title>
    <c:autoTitleDeleted val="0"/>
    <c:plotArea>
      <c:layout/>
      <c:barChart>
        <c:barDir val="col"/>
        <c:grouping val="clustered"/>
        <c:varyColors val="0"/>
        <c:ser>
          <c:idx val="0"/>
          <c:order val="0"/>
          <c:tx>
            <c:strRef>
              <c:f>Sheet1!$B$1</c:f>
              <c:strCache>
                <c:ptCount val="1"/>
                <c:pt idx="0">
                  <c:v>value</c:v>
                </c:pt>
              </c:strCache>
            </c:strRef>
          </c:tx>
          <c:invertIfNegative val="1"/>
          <c:dPt>
            <c:idx val="0"/>
            <c:invertIfNegative val="1"/>
            <c:bubble3D val="0"/>
            <c:spPr>
              <a:solidFill>
                <a:srgbClr val="C5CDD5"/>
              </a:solidFill>
              <a:ln>
                <a:noFill/>
              </a:ln>
            </c:spPr>
            <c:extLst>
              <c:ext xmlns:c16="http://schemas.microsoft.com/office/drawing/2014/chart" uri="{C3380CC4-5D6E-409C-BE32-E72D297353CC}">
                <c16:uniqueId val="{00000001-BC0A-4D5E-AD5A-5EAAF8AB1A34}"/>
              </c:ext>
            </c:extLst>
          </c:dPt>
          <c:dPt>
            <c:idx val="1"/>
            <c:invertIfNegative val="1"/>
            <c:bubble3D val="0"/>
            <c:spPr>
              <a:solidFill>
                <a:srgbClr val="C5CDD5"/>
              </a:solidFill>
              <a:ln>
                <a:noFill/>
              </a:ln>
            </c:spPr>
            <c:extLst>
              <c:ext xmlns:c16="http://schemas.microsoft.com/office/drawing/2014/chart" uri="{C3380CC4-5D6E-409C-BE32-E72D297353CC}">
                <c16:uniqueId val="{00000003-BC0A-4D5E-AD5A-5EAAF8AB1A34}"/>
              </c:ext>
            </c:extLst>
          </c:dPt>
          <c:dPt>
            <c:idx val="2"/>
            <c:invertIfNegative val="1"/>
            <c:bubble3D val="0"/>
            <c:spPr>
              <a:solidFill>
                <a:srgbClr val="7FDBFF"/>
              </a:solidFill>
              <a:ln>
                <a:noFill/>
              </a:ln>
            </c:spPr>
            <c:extLst>
              <c:ext xmlns:c16="http://schemas.microsoft.com/office/drawing/2014/chart" uri="{C3380CC4-5D6E-409C-BE32-E72D297353CC}">
                <c16:uniqueId val="{00000005-BC0A-4D5E-AD5A-5EAAF8AB1A34}"/>
              </c:ext>
            </c:extLst>
          </c:dPt>
          <c:dPt>
            <c:idx val="3"/>
            <c:invertIfNegative val="1"/>
            <c:bubble3D val="0"/>
            <c:spPr>
              <a:solidFill>
                <a:srgbClr val="00BFFF"/>
              </a:solidFill>
              <a:ln>
                <a:noFill/>
              </a:ln>
            </c:spPr>
            <c:extLst>
              <c:ext xmlns:c16="http://schemas.microsoft.com/office/drawing/2014/chart" uri="{C3380CC4-5D6E-409C-BE32-E72D297353CC}">
                <c16:uniqueId val="{00000007-BC0A-4D5E-AD5A-5EAAF8AB1A34}"/>
              </c:ext>
            </c:extLst>
          </c:dPt>
          <c:dLbls>
            <c:numFmt formatCode="0.000" sourceLinked="0"/>
            <c:spPr>
              <a:noFill/>
              <a:ln>
                <a:noFill/>
              </a:ln>
              <a:effectLst/>
            </c:spPr>
            <c:txPr>
              <a:bodyPr/>
              <a:lstStyle/>
              <a:p>
                <a:pPr>
                  <a:defRPr sz="1200" b="1">
                    <a:solidFill>
                      <a:srgbClr val="1A1A1A"/>
                    </a:solidFill>
                    <a:latin typeface="Arial"/>
                  </a:defRPr>
                </a:pPr>
                <a:endParaRPr lang="es-P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Random Forest</c:v>
                </c:pt>
                <c:pt idx="1">
                  <c:v>XGBoost</c:v>
                </c:pt>
                <c:pt idx="2">
                  <c:v>Q-Shield
(1 model)</c:v>
                </c:pt>
                <c:pt idx="3">
                  <c:v>Q-Shield
(ensemble + TTA)</c:v>
                </c:pt>
              </c:strCache>
            </c:strRef>
          </c:cat>
          <c:val>
            <c:numRef>
              <c:f>Sheet1!$B$2:$B$5</c:f>
              <c:numCache>
                <c:formatCode>General</c:formatCode>
                <c:ptCount val="4"/>
                <c:pt idx="0">
                  <c:v>0.81299999999999994</c:v>
                </c:pt>
                <c:pt idx="1">
                  <c:v>0.81</c:v>
                </c:pt>
                <c:pt idx="2">
                  <c:v>0.8962</c:v>
                </c:pt>
                <c:pt idx="3">
                  <c:v>0.91459999999999997</c:v>
                </c:pt>
              </c:numCache>
            </c:numRef>
          </c:val>
          <c:extLst>
            <c:ext xmlns:c16="http://schemas.microsoft.com/office/drawing/2014/chart" uri="{C3380CC4-5D6E-409C-BE32-E72D297353CC}">
              <c16:uniqueId val="{00000008-BC0A-4D5E-AD5A-5EAAF8AB1A34}"/>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9DEE3"/>
            </a:solidFill>
          </a:ln>
        </c:spPr>
        <c:txPr>
          <a:bodyPr/>
          <a:lstStyle/>
          <a:p>
            <a:pPr>
              <a:defRPr sz="1000">
                <a:solidFill>
                  <a:srgbClr val="1A1A1A"/>
                </a:solidFill>
              </a:defRPr>
            </a:pPr>
            <a:endParaRPr lang="es-PE"/>
          </a:p>
        </c:txPr>
        <c:crossAx val="-2113994440"/>
        <c:crosses val="autoZero"/>
        <c:auto val="1"/>
        <c:lblAlgn val="ctr"/>
        <c:lblOffset val="100"/>
        <c:noMultiLvlLbl val="0"/>
      </c:catAx>
      <c:valAx>
        <c:axId val="-2113994440"/>
        <c:scaling>
          <c:orientation val="minMax"/>
          <c:max val="1"/>
          <c:min val="0.6"/>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000">
          <a:solidFill>
            <a:srgbClr val="595959"/>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r>
              <a:rPr sz="1100" b="1" i="0">
                <a:solidFill>
                  <a:srgbClr val="1A1A1A"/>
                </a:solidFill>
                <a:latin typeface="Arial"/>
              </a:rPr>
              <a:t>Missed phishing, FNR (lower is better)</a:t>
            </a:r>
          </a:p>
        </c:rich>
      </c:tx>
      <c:overlay val="0"/>
    </c:title>
    <c:autoTitleDeleted val="0"/>
    <c:plotArea>
      <c:layout/>
      <c:barChart>
        <c:barDir val="col"/>
        <c:grouping val="clustered"/>
        <c:varyColors val="0"/>
        <c:ser>
          <c:idx val="0"/>
          <c:order val="0"/>
          <c:tx>
            <c:strRef>
              <c:f>Sheet1!$B$1</c:f>
              <c:strCache>
                <c:ptCount val="1"/>
                <c:pt idx="0">
                  <c:v>value</c:v>
                </c:pt>
              </c:strCache>
            </c:strRef>
          </c:tx>
          <c:invertIfNegative val="1"/>
          <c:dPt>
            <c:idx val="0"/>
            <c:invertIfNegative val="1"/>
            <c:bubble3D val="0"/>
            <c:spPr>
              <a:solidFill>
                <a:srgbClr val="C5CDD5"/>
              </a:solidFill>
              <a:ln>
                <a:noFill/>
              </a:ln>
            </c:spPr>
            <c:extLst>
              <c:ext xmlns:c16="http://schemas.microsoft.com/office/drawing/2014/chart" uri="{C3380CC4-5D6E-409C-BE32-E72D297353CC}">
                <c16:uniqueId val="{00000001-6AB4-408A-AF6B-FEDA90B3FCDE}"/>
              </c:ext>
            </c:extLst>
          </c:dPt>
          <c:dPt>
            <c:idx val="1"/>
            <c:invertIfNegative val="1"/>
            <c:bubble3D val="0"/>
            <c:spPr>
              <a:solidFill>
                <a:srgbClr val="7FDBFF"/>
              </a:solidFill>
              <a:ln>
                <a:noFill/>
              </a:ln>
            </c:spPr>
            <c:extLst>
              <c:ext xmlns:c16="http://schemas.microsoft.com/office/drawing/2014/chart" uri="{C3380CC4-5D6E-409C-BE32-E72D297353CC}">
                <c16:uniqueId val="{00000003-6AB4-408A-AF6B-FEDA90B3FCDE}"/>
              </c:ext>
            </c:extLst>
          </c:dPt>
          <c:dPt>
            <c:idx val="2"/>
            <c:invertIfNegative val="1"/>
            <c:bubble3D val="0"/>
            <c:spPr>
              <a:solidFill>
                <a:srgbClr val="00BFFF"/>
              </a:solidFill>
              <a:ln>
                <a:noFill/>
              </a:ln>
            </c:spPr>
            <c:extLst>
              <c:ext xmlns:c16="http://schemas.microsoft.com/office/drawing/2014/chart" uri="{C3380CC4-5D6E-409C-BE32-E72D297353CC}">
                <c16:uniqueId val="{00000005-6AB4-408A-AF6B-FEDA90B3FCDE}"/>
              </c:ext>
            </c:extLst>
          </c:dPt>
          <c:dLbls>
            <c:numFmt formatCode="0.000" sourceLinked="0"/>
            <c:spPr>
              <a:noFill/>
              <a:ln>
                <a:noFill/>
              </a:ln>
              <a:effectLst/>
            </c:spPr>
            <c:txPr>
              <a:bodyPr/>
              <a:lstStyle/>
              <a:p>
                <a:pPr>
                  <a:defRPr sz="1200" b="1">
                    <a:solidFill>
                      <a:srgbClr val="1A1A1A"/>
                    </a:solidFill>
                    <a:latin typeface="Arial"/>
                  </a:defRPr>
                </a:pPr>
                <a:endParaRPr lang="es-P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Visual only</c:v>
                </c:pt>
                <c:pt idx="1">
                  <c:v>Text only</c:v>
                </c:pt>
                <c:pt idx="2">
                  <c:v>Fusion</c:v>
                </c:pt>
              </c:strCache>
            </c:strRef>
          </c:cat>
          <c:val>
            <c:numRef>
              <c:f>Sheet1!$B$2:$B$4</c:f>
              <c:numCache>
                <c:formatCode>General</c:formatCode>
                <c:ptCount val="3"/>
                <c:pt idx="0">
                  <c:v>0.20200000000000001</c:v>
                </c:pt>
                <c:pt idx="1">
                  <c:v>6.9000000000000006E-2</c:v>
                </c:pt>
                <c:pt idx="2">
                  <c:v>5.7000000000000002E-2</c:v>
                </c:pt>
              </c:numCache>
            </c:numRef>
          </c:val>
          <c:extLst>
            <c:ext xmlns:c16="http://schemas.microsoft.com/office/drawing/2014/chart" uri="{C3380CC4-5D6E-409C-BE32-E72D297353CC}">
              <c16:uniqueId val="{00000006-6AB4-408A-AF6B-FEDA90B3FCDE}"/>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9DEE3"/>
            </a:solidFill>
          </a:ln>
        </c:spPr>
        <c:txPr>
          <a:bodyPr/>
          <a:lstStyle/>
          <a:p>
            <a:pPr>
              <a:defRPr sz="1000">
                <a:solidFill>
                  <a:srgbClr val="1A1A1A"/>
                </a:solidFill>
              </a:defRPr>
            </a:pPr>
            <a:endParaRPr lang="es-PE"/>
          </a:p>
        </c:txPr>
        <c:crossAx val="-2113994440"/>
        <c:crosses val="autoZero"/>
        <c:auto val="1"/>
        <c:lblAlgn val="ctr"/>
        <c:lblOffset val="100"/>
        <c:noMultiLvlLbl val="0"/>
      </c:catAx>
      <c:valAx>
        <c:axId val="-2113994440"/>
        <c:scaling>
          <c:orientation val="minMax"/>
          <c:max val="0.25"/>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000">
          <a:solidFill>
            <a:srgbClr val="595959"/>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r>
              <a:rPr sz="1100" b="1" i="0">
                <a:solidFill>
                  <a:srgbClr val="1A1A1A"/>
                </a:solidFill>
                <a:latin typeface="Arial"/>
              </a:rPr>
              <a:t>Missed phishing, FNR (lower is better)</a:t>
            </a:r>
          </a:p>
        </c:rich>
      </c:tx>
      <c:overlay val="0"/>
    </c:title>
    <c:autoTitleDeleted val="0"/>
    <c:plotArea>
      <c:layout/>
      <c:barChart>
        <c:barDir val="col"/>
        <c:grouping val="clustered"/>
        <c:varyColors val="0"/>
        <c:ser>
          <c:idx val="0"/>
          <c:order val="0"/>
          <c:tx>
            <c:strRef>
              <c:f>Sheet1!$B$1</c:f>
              <c:strCache>
                <c:ptCount val="1"/>
                <c:pt idx="0">
                  <c:v>value</c:v>
                </c:pt>
              </c:strCache>
            </c:strRef>
          </c:tx>
          <c:invertIfNegative val="1"/>
          <c:dPt>
            <c:idx val="0"/>
            <c:invertIfNegative val="1"/>
            <c:bubble3D val="0"/>
            <c:spPr>
              <a:solidFill>
                <a:srgbClr val="00BFFF"/>
              </a:solidFill>
              <a:ln>
                <a:noFill/>
              </a:ln>
            </c:spPr>
            <c:extLst>
              <c:ext xmlns:c16="http://schemas.microsoft.com/office/drawing/2014/chart" uri="{C3380CC4-5D6E-409C-BE32-E72D297353CC}">
                <c16:uniqueId val="{00000001-3EF2-4FB5-97B7-85949DFA049C}"/>
              </c:ext>
            </c:extLst>
          </c:dPt>
          <c:dPt>
            <c:idx val="1"/>
            <c:invertIfNegative val="1"/>
            <c:bubble3D val="0"/>
            <c:spPr>
              <a:solidFill>
                <a:srgbClr val="C5CDD5"/>
              </a:solidFill>
              <a:ln>
                <a:noFill/>
              </a:ln>
            </c:spPr>
            <c:extLst>
              <c:ext xmlns:c16="http://schemas.microsoft.com/office/drawing/2014/chart" uri="{C3380CC4-5D6E-409C-BE32-E72D297353CC}">
                <c16:uniqueId val="{00000003-3EF2-4FB5-97B7-85949DFA049C}"/>
              </c:ext>
            </c:extLst>
          </c:dPt>
          <c:dPt>
            <c:idx val="2"/>
            <c:invertIfNegative val="1"/>
            <c:bubble3D val="0"/>
            <c:spPr>
              <a:solidFill>
                <a:srgbClr val="C5CDD5"/>
              </a:solidFill>
              <a:ln>
                <a:noFill/>
              </a:ln>
            </c:spPr>
            <c:extLst>
              <c:ext xmlns:c16="http://schemas.microsoft.com/office/drawing/2014/chart" uri="{C3380CC4-5D6E-409C-BE32-E72D297353CC}">
                <c16:uniqueId val="{00000005-3EF2-4FB5-97B7-85949DFA049C}"/>
              </c:ext>
            </c:extLst>
          </c:dPt>
          <c:dLbls>
            <c:numFmt formatCode="0.000" sourceLinked="0"/>
            <c:spPr>
              <a:noFill/>
              <a:ln>
                <a:noFill/>
              </a:ln>
              <a:effectLst/>
            </c:spPr>
            <c:txPr>
              <a:bodyPr/>
              <a:lstStyle/>
              <a:p>
                <a:pPr>
                  <a:defRPr sz="1200" b="1">
                    <a:solidFill>
                      <a:srgbClr val="1A1A1A"/>
                    </a:solidFill>
                    <a:latin typeface="Arial"/>
                  </a:defRPr>
                </a:pPr>
                <a:endParaRPr lang="es-P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Full model</c:v>
                </c:pt>
                <c:pt idx="1">
                  <c:v>No Siamese
pretraining</c:v>
                </c:pt>
                <c:pt idx="2">
                  <c:v>No focal loss
(plain BCE)</c:v>
                </c:pt>
              </c:strCache>
            </c:strRef>
          </c:cat>
          <c:val>
            <c:numRef>
              <c:f>Sheet1!$B$2:$B$4</c:f>
              <c:numCache>
                <c:formatCode>General</c:formatCode>
                <c:ptCount val="3"/>
                <c:pt idx="0">
                  <c:v>0.20200000000000001</c:v>
                </c:pt>
                <c:pt idx="1">
                  <c:v>0.26700000000000002</c:v>
                </c:pt>
                <c:pt idx="2">
                  <c:v>0.27100000000000002</c:v>
                </c:pt>
              </c:numCache>
            </c:numRef>
          </c:val>
          <c:extLst>
            <c:ext xmlns:c16="http://schemas.microsoft.com/office/drawing/2014/chart" uri="{C3380CC4-5D6E-409C-BE32-E72D297353CC}">
              <c16:uniqueId val="{00000006-3EF2-4FB5-97B7-85949DFA049C}"/>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9DEE3"/>
            </a:solidFill>
          </a:ln>
        </c:spPr>
        <c:txPr>
          <a:bodyPr/>
          <a:lstStyle/>
          <a:p>
            <a:pPr>
              <a:defRPr sz="1000">
                <a:solidFill>
                  <a:srgbClr val="1A1A1A"/>
                </a:solidFill>
              </a:defRPr>
            </a:pPr>
            <a:endParaRPr lang="es-PE"/>
          </a:p>
        </c:txPr>
        <c:crossAx val="-2113994440"/>
        <c:crosses val="autoZero"/>
        <c:auto val="1"/>
        <c:lblAlgn val="ctr"/>
        <c:lblOffset val="100"/>
        <c:noMultiLvlLbl val="0"/>
      </c:catAx>
      <c:valAx>
        <c:axId val="-2113994440"/>
        <c:scaling>
          <c:orientation val="minMax"/>
          <c:max val="0.32"/>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000">
          <a:solidFill>
            <a:srgbClr val="595959"/>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[~30 s]</a:t>
            </a:r>
          </a:p>
          <a:p>
            <a:r>
              <a:rPr dirty="0"/>
              <a:t>Good morning, everyone. My name is Nicolás Llerena, and I am from UTEC, in Lima, Peru. Today I will present Q-Shield. Q-Shield is a system that detects phishing attacks that use QR codes. We call these attacks "</a:t>
            </a:r>
            <a:r>
              <a:rPr dirty="0" err="1"/>
              <a:t>quishing</a:t>
            </a:r>
            <a:r>
              <a:rPr dirty="0"/>
              <a:t>".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[~5 s]</a:t>
            </a:r>
          </a:p>
          <a:p>
            <a:r>
              <a:t>Let me start with the motivation. Why does quishing detection matter?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[~45 s]</a:t>
            </a:r>
          </a:p>
          <a:p>
            <a:r>
              <a:t>QR codes are everywhere: in restaurant menus, invoices, and parking meters. But they are also a perfect tool for attackers, for three reasons. First, people cannot read a QR code, so they have to trust the scanner. Second, it is just one tap. There is no preview and no address bar to check. Third, QR codes appear in places that we already trust. And there is one more problem. In our data, 4.3% of real QR codes cannot be decoded at all. For these codes, tools that check the URL have nothing to analyze.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[~10 s]</a:t>
            </a:r>
          </a:p>
          <a:p>
            <a:r>
              <a:t>So, in one sentence: a QR code is a URL you cannot read... and 4.3% of the time, neither can the scanner. [Pause for two seconds.]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[~5 s]</a:t>
            </a:r>
          </a:p>
          <a:p>
            <a:r>
              <a:t>So, what exactly is the problem we want to solve?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[~45 s]</a:t>
            </a:r>
          </a:p>
          <a:p>
            <a:r>
              <a:t>Today, there are two kinds of defenses. The first kind decodes the QR code and checks the URL. This is very accurate, but it only works if the code can be decoded. The second kind looks only at the image of the QR code. This always works, but it is less accurate on real, mixed data. The problem is that these two families are used separately, so each one is blind exactly where the other one works. Also, no previous work tests these models across independent datasets.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[~40 s]</a:t>
            </a:r>
          </a:p>
          <a:p>
            <a:r>
              <a:t>We can organize previous work in five directions. URL-based methods are accurate, but they need decoding. Visual methods work before decoding, but they are weaker on mixed data. Multimodal work uses the image and the URL, but as separate baselines, not as one pipeline. Human-centered studies explain why people trust QR codes, but they do not protect users at scan time. And commercial tools work only after decoding. Q-Shield joins both stages in one detector.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[~5 s]</a:t>
            </a:r>
          </a:p>
          <a:p>
            <a:r>
              <a:t>So, what does our paper do differently?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[~45 s]</a:t>
            </a:r>
          </a:p>
          <a:p>
            <a:r>
              <a:t>Our main idea is simple: one detector that works both before and after decoding. We have four contributions. One: a two-stage fusion that combines the image, the URL, and a flag that says if decoding worked. Two: a mixed benchmark with almost twenty-two thousand test samples from two independent datasets. Three: a cross-dataset study that shows that training on only one dataset is not enough. And four: explainability at two levels, with Grad-CAM and SHAP.</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[~5 s]</a:t>
            </a:r>
          </a:p>
          <a:p>
            <a:r>
              <a:t>Now, let me explain how the system works.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[~50 s]</a:t>
            </a:r>
          </a:p>
          <a:p>
            <a:r>
              <a:t>This is the full pipeline. The input is a QR image. After preprocessing, it goes into two branches in parallel. The visual branch, at the top, looks at the image directly, without decoding. The text branch, at the bottom, decodes the QR code and reads the URL. Each branch gives a score, called a logit. Then, a small fusion module combines the two scores, plus a flag that says if decoding worked. The output is the probability that the QR code is phishing.</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[~50 s]</a:t>
            </a:r>
          </a:p>
          <a:p>
            <a:r>
              <a:rPr dirty="0"/>
              <a:t>Let's look at the visual branch. We use MobileNetV2, a small and fast network, with grayscale images. Training has two phases. In phase one, we use a Siamese network with contrastive learning. In simple words, the model learns to put QR codes of the same class close together, and different classes far apart. In phase two, we fine-tune the model with focal loss. Focal loss gives more weight to hard examples. We keep the best model at epoch eight, to avoid overfitting. At test time, an image flip and a two-model ensemble raise the AUC from 0.896 to 0.915.</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[~50 s]</a:t>
            </a:r>
          </a:p>
          <a:p>
            <a:r>
              <a:t>The text branch decodes the QR code locally, with a library called pyzbar. There is no internet connection, so the link is never opened. Then, DistilBERT reads the URL. If decoding fails, we use a special token: "undecodable". The fusion module is very small: only 81 parameters. It trains in less than one minute on a CPU. The key is the flag. When decoding works, the model trusts the text more. When decoding fails, it trusts the image. The model learns this by itself. We do not write any rules.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[~5 s]</a:t>
            </a:r>
          </a:p>
          <a:p>
            <a:r>
              <a:t>Now, the experimental setup.</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[~45 s]</a:t>
            </a:r>
          </a:p>
          <a:p>
            <a:r>
              <a:t>We use two datasets that are very different, on purpose. The Trad dataset has about ten thousand clean QR codes, all with the same size: sixty-nine by sixty-nine pixels. CIC-Trap4Phish has more than one million real QR codes, with different sizes and versions. We take fifty thousand samples per class from CIC, we split each dataset eighty-twenty, and we join the test sets. This gives 21,998 test samples. Note that the decoder works on all Trad codes, but only on 95.7% of CIC codes. Those 4.3% are exactly where the visual branch is the only signal.</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[~5 s]</a:t>
            </a:r>
          </a:p>
          <a:p>
            <a:r>
              <a:t>Let's see the results. We ran six experiments.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[~45 s]</a:t>
            </a:r>
          </a:p>
          <a:p>
            <a:r>
              <a:t>Experiment one tests the visual branch alone. This is the fallback, for when the QR code cannot be decoded. Our best visual model reaches an AUC of 0.915. That is about 0.10 better than the classic baselines, Random Forest and XGBoost. It also matches the best previous visual result, but on a benchmark eleven times larger. Remember, this is the floor of the system: what Q-Shield can still do without the URL.</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[~50 s]</a:t>
            </a:r>
          </a:p>
          <a:p>
            <a:r>
              <a:t>Experiment two is our main result. Here we compare the visual branch, the text branch, and the fusion. The fusion is the best: AUC 0.975, F1 0.936, and a false negative rate of only 0.057. A false negative is a phishing code that we miss. Compared to the visual branch alone, we miss three and a half times fewer attacks. The gain over the text branch is small on average, but it is concentrated in the 4.3% of codes that cannot be decoded.</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[~35 s]</a:t>
            </a:r>
          </a:p>
          <a:p>
            <a:r>
              <a:t>Experiment three is an ablation study: we remove one part at a time. Without Siamese pretraining, the false negative rate goes up from 0.20 to 0.27. Without focal loss, the AUC is almost the same, but again the false negative rate goes up, to 0.27. So, both parts help us to miss fewer attacks.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[~45 s]</a:t>
            </a:r>
          </a:p>
          <a:p>
            <a:r>
              <a:t>Experiment four is about generalization. What happens if we train on one dataset and test on the other? If we train on Trad and test on CIC, the AUC is 0.52. That is almost random. If we train on CIC and test on Trad, the model says "phishing" for almost everything. But when we train on both datasets, the AUC goes back to 0.896. Our message is clear: training on one dataset is not enough. Mixed training is a requirement.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[~45 s]</a:t>
            </a:r>
          </a:p>
          <a:p>
            <a:r>
              <a:t>Experiment five is about real deployment. On the left, the threshold. For the visual fallback, if we lower the threshold to 0.40, the false negative rate goes below 0.10, without retraining. The fusion model already meets this target with the default threshold. On the right, the cost. The visual model has only three million parameters and runs in 25 milliseconds on a CPU. The full model takes about 100 milliseconds. Both are fast enough for a mobile phone.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[~45 s]</a:t>
            </a:r>
          </a:p>
          <a:p>
            <a:r>
              <a:t>Finally, experiment six: explainability. We want to know if the model looks at the real QR structure, or if it learns tricks from the dataset. Grad-CAM shows that the model looks at the alignment patterns and the data regions: the parts that carry the information. The attention maps of the two datasets are correlated, with r equal to 0.43. And SHAP shows that a few dimensions of the embedding drive the decision. This suggests that the model learns real structural patterns, not dataset shortcuts.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[~5 s]</a:t>
            </a:r>
          </a:p>
          <a:p>
            <a:r>
              <a:t>Of course, our work has some limitations.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[~40 s]</a:t>
            </a:r>
          </a:p>
          <a:p>
            <a:r>
              <a:t>First, the visual fallback still misses about 20% of attacks, with an FNR of 0.199. Second, we see mild overfitting in phase two, which we control with early stopping. Third, the performance is lower on large, high-resolution QR codes. And fourth, the probabilities of the visual branch are not perfectly calibrated. Also, we only look at the QR image and its URL, not the message around it. So, Q-Shield is one layer of defense, not the complete solution.</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[~5 s]</a:t>
            </a:r>
          </a:p>
          <a:p>
            <a:r>
              <a:t>To conclude, let me go back to our three objectives.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[~50 s]</a:t>
            </a:r>
          </a:p>
          <a:p>
            <a:r>
              <a:t>Our main finding is this: multimodal fusion is not just a small improvement. It reduces the false negative rate from 0.202 to 0.057, and it still covers the QR codes that cannot be decoded. About our three objectives. One: by following the two stages of a QR scan, we miss three and a half times fewer attacks. Two: for generalization, training on both datasets raises the AUC from 0.52 to 0.896. And three: for explainability, the attention maps agree across datasets, with r equal to 0.43.</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[~5 s]</a:t>
            </a:r>
          </a:p>
          <a:p>
            <a:r>
              <a:t>And what comes next?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[~35 s]</a:t>
            </a:r>
          </a:p>
          <a:p>
            <a:r>
              <a:t>We see four directions. First, a third branch that reads the context: the message, the sender, and the web page. Second, multi-scale training, to improve on large QR codes. Third, robustness against adversarial and stylized QR codes. And fourth, adapting the model to QR payment systems in Latin America.</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[~10 s]</a:t>
            </a:r>
          </a:p>
          <a:p>
            <a:r>
              <a:t>Thank you very much for your attention. I am happy to answer your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
  <p:cSld name="TITLE_2">
    <p:spTree>
      <p:nvGrpSpPr>
        <p:cNvPr id="1" name="Shape 50"/>
        <p:cNvGrpSpPr/>
        <p:nvPr/>
      </p:nvGrpSpPr>
      <p:grpSpPr>
        <a:xfrm>
          <a:off x="0" y="0"/>
          <a:ext cx="0" cy="0"/>
          <a:chOff x="0" y="0"/>
          <a:chExt cx="0" cy="0"/>
        </a:xfrm>
      </p:grpSpPr>
      <p:pic>
        <p:nvPicPr>
          <p:cNvPr id="51" name="Google Shape;51;p13"/>
          <p:cNvPicPr preferRelativeResize="0"/>
          <p:nvPr/>
        </p:nvPicPr>
        <p:blipFill rotWithShape="1">
          <a:blip r:embed="rId2">
            <a:alphaModFix/>
          </a:blip>
          <a:srcRect/>
          <a:stretch/>
        </p:blipFill>
        <p:spPr>
          <a:xfrm>
            <a:off x="0" y="0"/>
            <a:ext cx="9144003" cy="5143504"/>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4 1">
  <p:cSld name="CUSTOM_2_1">
    <p:spTree>
      <p:nvGrpSpPr>
        <p:cNvPr id="1" name="Shape 52"/>
        <p:cNvGrpSpPr/>
        <p:nvPr/>
      </p:nvGrpSpPr>
      <p:grpSpPr>
        <a:xfrm>
          <a:off x="0" y="0"/>
          <a:ext cx="0" cy="0"/>
          <a:chOff x="0" y="0"/>
          <a:chExt cx="0" cy="0"/>
        </a:xfrm>
      </p:grpSpPr>
      <p:pic>
        <p:nvPicPr>
          <p:cNvPr id="53" name="Google Shape;53;p14"/>
          <p:cNvPicPr preferRelativeResize="0"/>
          <p:nvPr/>
        </p:nvPicPr>
        <p:blipFill rotWithShape="1">
          <a:blip r:embed="rId2">
            <a:alphaModFix/>
          </a:blip>
          <a:srcRect/>
          <a:stretch/>
        </p:blipFill>
        <p:spPr>
          <a:xfrm>
            <a:off x="0" y="0"/>
            <a:ext cx="9144003" cy="5143504"/>
          </a:xfrm>
          <a:prstGeom prst="rect">
            <a:avLst/>
          </a:prstGeom>
          <a:noFill/>
          <a:ln>
            <a:noFill/>
          </a:ln>
        </p:spPr>
      </p:pic>
      <p:cxnSp>
        <p:nvCxnSpPr>
          <p:cNvPr id="54" name="Google Shape;54;p14"/>
          <p:cNvCxnSpPr/>
          <p:nvPr/>
        </p:nvCxnSpPr>
        <p:spPr>
          <a:xfrm>
            <a:off x="152406" y="4786319"/>
            <a:ext cx="2767800" cy="22800"/>
          </a:xfrm>
          <a:prstGeom prst="straightConnector1">
            <a:avLst/>
          </a:prstGeom>
          <a:noFill/>
          <a:ln w="9525" cap="flat" cmpd="sng">
            <a:solidFill>
              <a:schemeClr val="dk2"/>
            </a:solidFill>
            <a:prstDash val="solid"/>
            <a:round/>
            <a:headEnd type="none" w="med" len="med"/>
            <a:tailEnd type="none" w="med" len="med"/>
          </a:ln>
        </p:spPr>
      </p:cxnSp>
      <p:sp>
        <p:nvSpPr>
          <p:cNvPr id="55" name="Google Shape;55;p14"/>
          <p:cNvSpPr txBox="1"/>
          <p:nvPr/>
        </p:nvSpPr>
        <p:spPr>
          <a:xfrm>
            <a:off x="319931" y="4738406"/>
            <a:ext cx="8404500" cy="32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b="0">
                <a:solidFill>
                  <a:srgbClr val="888888"/>
                </a:solidFill>
                <a:latin typeface="Space Grotesk"/>
                <a:ea typeface="Space Grotesk"/>
                <a:cs typeface="Space Grotesk"/>
                <a:sym typeface="Space Grotesk"/>
              </a:rPr>
              <a:t>Llerena et al. · IEEE LA-CCI 2026</a:t>
            </a:r>
            <a:endParaRPr sz="1200" b="1">
              <a:solidFill>
                <a:schemeClr val="dk1"/>
              </a:solidFill>
              <a:latin typeface="Quattrocento Sans"/>
              <a:ea typeface="Quattrocento Sans"/>
              <a:cs typeface="Quattrocento Sans"/>
              <a:sym typeface="Quattrocento San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4 1 1">
  <p:cSld name="4 1 (g3e8b0e76eb4_6_0)">
    <p:spTree>
      <p:nvGrpSpPr>
        <p:cNvPr id="1" name="Shape 56"/>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1">
  <p:cSld name="CUSTOM_6_1">
    <p:spTree>
      <p:nvGrpSpPr>
        <p:cNvPr id="1" name="Shape 57"/>
        <p:cNvGrpSpPr/>
        <p:nvPr/>
      </p:nvGrpSpPr>
      <p:grpSpPr>
        <a:xfrm>
          <a:off x="0" y="0"/>
          <a:ext cx="0" cy="0"/>
          <a:chOff x="0" y="0"/>
          <a:chExt cx="0" cy="0"/>
        </a:xfrm>
      </p:grpSpPr>
      <p:pic>
        <p:nvPicPr>
          <p:cNvPr id="58" name="Google Shape;58;p16"/>
          <p:cNvPicPr preferRelativeResize="0"/>
          <p:nvPr/>
        </p:nvPicPr>
        <p:blipFill rotWithShape="1">
          <a:blip r:embed="rId2">
            <a:alphaModFix/>
          </a:blip>
          <a:srcRect/>
          <a:stretch/>
        </p:blipFill>
        <p:spPr>
          <a:xfrm>
            <a:off x="0" y="0"/>
            <a:ext cx="9144003" cy="5143504"/>
          </a:xfrm>
          <a:prstGeom prst="rect">
            <a:avLst/>
          </a:prstGeom>
          <a:noFill/>
          <a:ln>
            <a:noFill/>
          </a:ln>
        </p:spPr>
      </p:pic>
      <p:cxnSp>
        <p:nvCxnSpPr>
          <p:cNvPr id="59" name="Google Shape;59;p16"/>
          <p:cNvCxnSpPr/>
          <p:nvPr/>
        </p:nvCxnSpPr>
        <p:spPr>
          <a:xfrm>
            <a:off x="383100" y="2067400"/>
            <a:ext cx="3930000" cy="22200"/>
          </a:xfrm>
          <a:prstGeom prst="straightConnector1">
            <a:avLst/>
          </a:prstGeom>
          <a:noFill/>
          <a:ln w="28575" cap="flat" cmpd="sng">
            <a:solidFill>
              <a:schemeClr val="dk2"/>
            </a:solidFill>
            <a:prstDash val="solid"/>
            <a:round/>
            <a:headEnd type="none" w="med" len="med"/>
            <a:tailEnd type="none" w="med" len="med"/>
          </a:ln>
        </p:spPr>
      </p:cxnSp>
      <p:cxnSp>
        <p:nvCxnSpPr>
          <p:cNvPr id="60" name="Google Shape;60;p16"/>
          <p:cNvCxnSpPr/>
          <p:nvPr/>
        </p:nvCxnSpPr>
        <p:spPr>
          <a:xfrm>
            <a:off x="1229625" y="3005800"/>
            <a:ext cx="3930000" cy="22200"/>
          </a:xfrm>
          <a:prstGeom prst="straightConnector1">
            <a:avLst/>
          </a:prstGeom>
          <a:noFill/>
          <a:ln w="28575" cap="flat" cmpd="sng">
            <a:solidFill>
              <a:schemeClr val="dk2"/>
            </a:solidFill>
            <a:prstDash val="solid"/>
            <a:round/>
            <a:headEnd type="none" w="med" len="med"/>
            <a:tailEnd type="none" w="med" len="med"/>
          </a:ln>
        </p:spPr>
      </p:cxnSp>
      <p:sp>
        <p:nvSpPr>
          <p:cNvPr id="61" name="Google Shape;61;p16"/>
          <p:cNvSpPr txBox="1"/>
          <p:nvPr/>
        </p:nvSpPr>
        <p:spPr>
          <a:xfrm>
            <a:off x="745100" y="2139850"/>
            <a:ext cx="4162500" cy="815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100">
                <a:latin typeface="Permanent Marker"/>
                <a:ea typeface="Permanent Marker"/>
                <a:cs typeface="Permanent Marker"/>
                <a:sym typeface="Permanent Marker"/>
              </a:rPr>
              <a:t>Thank you!</a:t>
            </a:r>
            <a:endParaRPr sz="4100">
              <a:latin typeface="Permanent Marker"/>
              <a:ea typeface="Permanent Marker"/>
              <a:cs typeface="Permanent Marker"/>
              <a:sym typeface="Permanent Marker"/>
            </a:endParaRPr>
          </a:p>
        </p:txBody>
      </p:sp>
      <p:sp>
        <p:nvSpPr>
          <p:cNvPr id="62" name="Google Shape;62;p16"/>
          <p:cNvSpPr txBox="1"/>
          <p:nvPr/>
        </p:nvSpPr>
        <p:spPr>
          <a:xfrm>
            <a:off x="3937575" y="2996825"/>
            <a:ext cx="16428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latin typeface="Permanent Marker"/>
                <a:ea typeface="Permanent Marker"/>
                <a:cs typeface="Permanent Marker"/>
                <a:sym typeface="Permanent Marker"/>
              </a:rPr>
              <a:t>¡Gracias!</a:t>
            </a:r>
            <a:endParaRPr sz="2000">
              <a:latin typeface="Permanent Marker"/>
              <a:ea typeface="Permanent Marker"/>
              <a:cs typeface="Permanent Marker"/>
              <a:sym typeface="Permanent Marker"/>
            </a:endParaRPr>
          </a:p>
        </p:txBody>
      </p:sp>
      <p:sp>
        <p:nvSpPr>
          <p:cNvPr id="63" name="Google Shape;63;p16"/>
          <p:cNvSpPr txBox="1"/>
          <p:nvPr/>
        </p:nvSpPr>
        <p:spPr>
          <a:xfrm>
            <a:off x="1305825" y="3005800"/>
            <a:ext cx="1642800" cy="47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a:latin typeface="Permanent Marker"/>
                <a:ea typeface="Permanent Marker"/>
                <a:cs typeface="Permanent Marker"/>
                <a:sym typeface="Permanent Marker"/>
              </a:rPr>
              <a:t>OBRIGADO!</a:t>
            </a:r>
            <a:endParaRPr sz="1900">
              <a:latin typeface="Permanent Marker"/>
              <a:ea typeface="Permanent Marker"/>
              <a:cs typeface="Permanent Marker"/>
              <a:sym typeface="Permanent Marke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1170432"/>
            <a:ext cx="4663440" cy="1143000"/>
          </a:xfrm>
          <a:prstGeom prst="rect">
            <a:avLst/>
          </a:prstGeom>
          <a:noFill/>
        </p:spPr>
        <p:txBody>
          <a:bodyPr wrap="square" lIns="18288" tIns="0" rIns="18288" bIns="0" anchor="t">
            <a:spAutoFit/>
          </a:bodyPr>
          <a:lstStyle/>
          <a:p>
            <a:pPr algn="l">
              <a:lnSpc>
                <a:spcPct val="105000"/>
              </a:lnSpc>
              <a:spcAft>
                <a:spcPts val="200"/>
              </a:spcAft>
            </a:pPr>
            <a:r>
              <a:rPr sz="1700" b="1" i="0">
                <a:solidFill>
                  <a:srgbClr val="1A1A1A"/>
                </a:solidFill>
                <a:latin typeface="Arial"/>
              </a:rPr>
              <a:t>Q-Shield: An Explainable Multimodal Framework for QR Code Phishing (Quishing) Detection Using Siamese Visual and Offline URL Analysis</a:t>
            </a:r>
          </a:p>
        </p:txBody>
      </p:sp>
      <p:cxnSp>
        <p:nvCxnSpPr>
          <p:cNvPr id="3" name="Connector 2"/>
          <p:cNvCxnSpPr/>
          <p:nvPr/>
        </p:nvCxnSpPr>
        <p:spPr>
          <a:xfrm>
            <a:off x="612648" y="2523744"/>
            <a:ext cx="2560320" cy="0"/>
          </a:xfrm>
          <a:prstGeom prst="line">
            <a:avLst/>
          </a:prstGeom>
          <a:ln>
            <a:solidFill>
              <a:srgbClr val="00BFF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12648" y="2697480"/>
            <a:ext cx="4206240" cy="923330"/>
          </a:xfrm>
          <a:prstGeom prst="rect">
            <a:avLst/>
          </a:prstGeom>
          <a:noFill/>
        </p:spPr>
        <p:txBody>
          <a:bodyPr wrap="square" lIns="18288" tIns="0" rIns="18288" bIns="0" anchor="t">
            <a:spAutoFit/>
          </a:bodyPr>
          <a:lstStyle/>
          <a:p>
            <a:pPr algn="l">
              <a:spcAft>
                <a:spcPts val="600"/>
              </a:spcAft>
            </a:pPr>
            <a:r>
              <a:rPr lang="es-PE" sz="1400" b="1" i="0" u="none" strike="noStrike" dirty="0">
                <a:solidFill>
                  <a:srgbClr val="00BFFF"/>
                </a:solidFill>
                <a:effectLst/>
                <a:latin typeface="Space Grotesk" panose="020B0604020202020204" charset="0"/>
              </a:rPr>
              <a:t>Nicolas Llerena et al. </a:t>
            </a:r>
            <a:endParaRPr lang="es-PE" sz="1250" b="1" i="0" dirty="0">
              <a:solidFill>
                <a:srgbClr val="00BFFF"/>
              </a:solidFill>
              <a:latin typeface="Arial"/>
            </a:endParaRPr>
          </a:p>
          <a:p>
            <a:pPr algn="l">
              <a:spcAft>
                <a:spcPts val="600"/>
              </a:spcAft>
            </a:pPr>
            <a:r>
              <a:rPr sz="1250" b="1" i="0" dirty="0">
                <a:solidFill>
                  <a:srgbClr val="00BFFF"/>
                </a:solidFill>
                <a:latin typeface="Arial"/>
              </a:rPr>
              <a:t>Department of Computer Science, Universidad de Ingeniería y </a:t>
            </a:r>
            <a:r>
              <a:rPr sz="1250" b="1" i="0" dirty="0" err="1">
                <a:solidFill>
                  <a:srgbClr val="00BFFF"/>
                </a:solidFill>
                <a:latin typeface="Arial"/>
              </a:rPr>
              <a:t>Tecnología</a:t>
            </a:r>
            <a:r>
              <a:rPr sz="1250" b="1" i="0" dirty="0">
                <a:solidFill>
                  <a:srgbClr val="00BFFF"/>
                </a:solidFill>
                <a:latin typeface="Arial"/>
              </a:rPr>
              <a:t> (UTEC), Lima, Perú</a:t>
            </a:r>
          </a:p>
          <a:p>
            <a:pPr algn="l">
              <a:spcAft>
                <a:spcPts val="600"/>
              </a:spcAft>
            </a:pPr>
            <a:r>
              <a:rPr sz="1100" b="0" i="0" dirty="0">
                <a:solidFill>
                  <a:srgbClr val="595959"/>
                </a:solidFill>
                <a:latin typeface="Arial"/>
              </a:rPr>
              <a:t>IEEE LA-CCI 2026  ·  Paper 47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1"/>
          <p:cNvCxnSpPr/>
          <p:nvPr/>
        </p:nvCxnSpPr>
        <p:spPr>
          <a:xfrm>
            <a:off x="1216152" y="2231136"/>
            <a:ext cx="2560320" cy="0"/>
          </a:xfrm>
          <a:prstGeom prst="line">
            <a:avLst/>
          </a:prstGeom>
          <a:ln w="19050">
            <a:solidFill>
              <a:srgbClr val="00BFFF"/>
            </a:solidFill>
          </a:ln>
        </p:spPr>
        <p:style>
          <a:lnRef idx="2">
            <a:schemeClr val="accent1"/>
          </a:lnRef>
          <a:fillRef idx="0">
            <a:schemeClr val="accent1"/>
          </a:fillRef>
          <a:effectRef idx="1">
            <a:schemeClr val="accent1"/>
          </a:effectRef>
          <a:fontRef idx="minor">
            <a:schemeClr val="tx1"/>
          </a:fontRef>
        </p:style>
      </p:cxnSp>
      <p:sp>
        <p:nvSpPr>
          <p:cNvPr id="3" name="Section title"/>
          <p:cNvSpPr txBox="1"/>
          <p:nvPr/>
        </p:nvSpPr>
        <p:spPr>
          <a:xfrm>
            <a:off x="1216152" y="2304288"/>
            <a:ext cx="2788920" cy="548640"/>
          </a:xfrm>
          <a:prstGeom prst="rect">
            <a:avLst/>
          </a:prstGeom>
          <a:noFill/>
        </p:spPr>
        <p:txBody>
          <a:bodyPr wrap="square" lIns="18288" tIns="0" rIns="18288" bIns="0" anchor="t"/>
          <a:lstStyle/>
          <a:p>
            <a:pPr algn="l">
              <a:spcAft>
                <a:spcPts val="300"/>
              </a:spcAft>
              <a:buNone/>
            </a:pPr>
            <a:r>
              <a:rPr sz="2000" b="1" i="0">
                <a:solidFill>
                  <a:srgbClr val="00BFFF"/>
                </a:solidFill>
                <a:latin typeface="Arial"/>
              </a:rPr>
              <a:t>Motivation</a:t>
            </a:r>
          </a:p>
        </p:txBody>
      </p:sp>
      <p:sp>
        <p:nvSpPr>
          <p:cNvPr id="4" name="Section question"/>
          <p:cNvSpPr txBox="1"/>
          <p:nvPr/>
        </p:nvSpPr>
        <p:spPr>
          <a:xfrm>
            <a:off x="3794760" y="2304288"/>
            <a:ext cx="4663440" cy="822960"/>
          </a:xfrm>
          <a:prstGeom prst="rect">
            <a:avLst/>
          </a:prstGeom>
          <a:noFill/>
        </p:spPr>
        <p:txBody>
          <a:bodyPr wrap="square" lIns="18288" tIns="0" rIns="18288" bIns="0" anchor="t"/>
          <a:lstStyle/>
          <a:p>
            <a:pPr algn="l">
              <a:spcAft>
                <a:spcPts val="300"/>
              </a:spcAft>
              <a:buNone/>
            </a:pPr>
            <a:r>
              <a:rPr sz="2000" b="1" i="0">
                <a:solidFill>
                  <a:srgbClr val="1A1A1A"/>
                </a:solidFill>
                <a:latin typeface="Arial"/>
              </a:rPr>
              <a:t>Why does quishing detection matter?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29768" y="201168"/>
            <a:ext cx="7589520" cy="502920"/>
          </a:xfrm>
          <a:prstGeom prst="rect">
            <a:avLst/>
          </a:prstGeom>
          <a:noFill/>
        </p:spPr>
        <p:txBody>
          <a:bodyPr wrap="square" lIns="18288" tIns="0" rIns="18288" bIns="0" anchor="t"/>
          <a:lstStyle/>
          <a:p>
            <a:pPr algn="l">
              <a:spcAft>
                <a:spcPts val="200"/>
              </a:spcAft>
              <a:buNone/>
            </a:pPr>
            <a:r>
              <a:rPr sz="2000" b="1" i="0">
                <a:solidFill>
                  <a:srgbClr val="00BFFF"/>
                </a:solidFill>
                <a:latin typeface="Arial"/>
              </a:rPr>
              <a:t>Motivation</a:t>
            </a:r>
          </a:p>
        </p:txBody>
      </p:sp>
      <p:sp>
        <p:nvSpPr>
          <p:cNvPr id="3" name="Subtitle"/>
          <p:cNvSpPr txBox="1"/>
          <p:nvPr/>
        </p:nvSpPr>
        <p:spPr>
          <a:xfrm>
            <a:off x="429768" y="749808"/>
            <a:ext cx="8028432" cy="274320"/>
          </a:xfrm>
          <a:prstGeom prst="rect">
            <a:avLst/>
          </a:prstGeom>
          <a:noFill/>
        </p:spPr>
        <p:txBody>
          <a:bodyPr wrap="square" lIns="18288" tIns="0" rIns="18288" bIns="0" anchor="t"/>
          <a:lstStyle/>
          <a:p>
            <a:pPr algn="l">
              <a:spcAft>
                <a:spcPts val="300"/>
              </a:spcAft>
              <a:buNone/>
            </a:pPr>
            <a:r>
              <a:rPr sz="1200" b="1" i="0">
                <a:solidFill>
                  <a:srgbClr val="00BFFF"/>
                </a:solidFill>
                <a:latin typeface="Arial"/>
              </a:rPr>
              <a:t>A QR code is easy to scan — and easy to abuse</a:t>
            </a:r>
          </a:p>
        </p:txBody>
      </p:sp>
      <p:sp>
        <p:nvSpPr>
          <p:cNvPr id="4" name="Rounded Rectangle 3"/>
          <p:cNvSpPr/>
          <p:nvPr/>
        </p:nvSpPr>
        <p:spPr>
          <a:xfrm>
            <a:off x="429768" y="1143000"/>
            <a:ext cx="2560320" cy="1481328"/>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t"/>
          <a:lstStyle/>
          <a:p>
            <a:endParaRPr/>
          </a:p>
        </p:txBody>
      </p:sp>
      <p:sp>
        <p:nvSpPr>
          <p:cNvPr id="5" name="Badge 1"/>
          <p:cNvSpPr/>
          <p:nvPr/>
        </p:nvSpPr>
        <p:spPr>
          <a:xfrm>
            <a:off x="576072" y="1289304"/>
            <a:ext cx="384048" cy="384048"/>
          </a:xfrm>
          <a:prstGeom prst="ellipse">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buNone/>
            </a:pPr>
            <a:r>
              <a:rPr sz="1200" b="1" i="0">
                <a:solidFill>
                  <a:srgbClr val="FFFFFF"/>
                </a:solidFill>
                <a:latin typeface="Arial"/>
              </a:rPr>
              <a:t>1</a:t>
            </a:r>
          </a:p>
        </p:txBody>
      </p:sp>
      <p:sp>
        <p:nvSpPr>
          <p:cNvPr id="6" name="TextBox 5"/>
          <p:cNvSpPr txBox="1"/>
          <p:nvPr/>
        </p:nvSpPr>
        <p:spPr>
          <a:xfrm>
            <a:off x="1069848" y="1289304"/>
            <a:ext cx="1773936" cy="411480"/>
          </a:xfrm>
          <a:prstGeom prst="rect">
            <a:avLst/>
          </a:prstGeom>
          <a:noFill/>
        </p:spPr>
        <p:txBody>
          <a:bodyPr wrap="square" lIns="0" tIns="0" rIns="0" bIns="0" anchor="ctr"/>
          <a:lstStyle/>
          <a:p>
            <a:pPr algn="l">
              <a:spcAft>
                <a:spcPts val="0"/>
              </a:spcAft>
              <a:buNone/>
            </a:pPr>
            <a:r>
              <a:rPr sz="1400" b="1" i="0">
                <a:solidFill>
                  <a:srgbClr val="1A1A1A"/>
                </a:solidFill>
                <a:latin typeface="Arial"/>
              </a:rPr>
              <a:t>Hard to read</a:t>
            </a:r>
          </a:p>
        </p:txBody>
      </p:sp>
      <p:sp>
        <p:nvSpPr>
          <p:cNvPr id="7" name="TextBox 6"/>
          <p:cNvSpPr txBox="1"/>
          <p:nvPr/>
        </p:nvSpPr>
        <p:spPr>
          <a:xfrm>
            <a:off x="594360" y="1801368"/>
            <a:ext cx="2249424" cy="731520"/>
          </a:xfrm>
          <a:prstGeom prst="rect">
            <a:avLst/>
          </a:prstGeom>
          <a:noFill/>
        </p:spPr>
        <p:txBody>
          <a:bodyPr wrap="square" lIns="0" tIns="0" rIns="0" bIns="0" anchor="t"/>
          <a:lstStyle/>
          <a:p>
            <a:pPr algn="l">
              <a:spcAft>
                <a:spcPts val="300"/>
              </a:spcAft>
              <a:buNone/>
            </a:pPr>
            <a:r>
              <a:rPr sz="1200" b="0" i="0">
                <a:solidFill>
                  <a:srgbClr val="595959"/>
                </a:solidFill>
                <a:latin typeface="Arial"/>
              </a:rPr>
              <a:t>People cannot read a QR code. They must trust the scanner.</a:t>
            </a:r>
          </a:p>
        </p:txBody>
      </p:sp>
      <p:sp>
        <p:nvSpPr>
          <p:cNvPr id="8" name="Rounded Rectangle 7"/>
          <p:cNvSpPr/>
          <p:nvPr/>
        </p:nvSpPr>
        <p:spPr>
          <a:xfrm>
            <a:off x="3163824" y="1143000"/>
            <a:ext cx="2560320" cy="1481328"/>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t"/>
          <a:lstStyle/>
          <a:p>
            <a:endParaRPr/>
          </a:p>
        </p:txBody>
      </p:sp>
      <p:sp>
        <p:nvSpPr>
          <p:cNvPr id="9" name="Badge 2"/>
          <p:cNvSpPr/>
          <p:nvPr/>
        </p:nvSpPr>
        <p:spPr>
          <a:xfrm>
            <a:off x="3310128" y="1289304"/>
            <a:ext cx="384048" cy="384048"/>
          </a:xfrm>
          <a:prstGeom prst="ellipse">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buNone/>
            </a:pPr>
            <a:r>
              <a:rPr sz="1200" b="1" i="0">
                <a:solidFill>
                  <a:srgbClr val="FFFFFF"/>
                </a:solidFill>
                <a:latin typeface="Arial"/>
              </a:rPr>
              <a:t>2</a:t>
            </a:r>
          </a:p>
        </p:txBody>
      </p:sp>
      <p:sp>
        <p:nvSpPr>
          <p:cNvPr id="10" name="TextBox 9"/>
          <p:cNvSpPr txBox="1"/>
          <p:nvPr/>
        </p:nvSpPr>
        <p:spPr>
          <a:xfrm>
            <a:off x="3803904" y="1289304"/>
            <a:ext cx="1773936" cy="411480"/>
          </a:xfrm>
          <a:prstGeom prst="rect">
            <a:avLst/>
          </a:prstGeom>
          <a:noFill/>
        </p:spPr>
        <p:txBody>
          <a:bodyPr wrap="square" lIns="0" tIns="0" rIns="0" bIns="0" anchor="ctr"/>
          <a:lstStyle/>
          <a:p>
            <a:pPr algn="l">
              <a:spcAft>
                <a:spcPts val="0"/>
              </a:spcAft>
              <a:buNone/>
            </a:pPr>
            <a:r>
              <a:rPr sz="1400" b="1" i="0">
                <a:solidFill>
                  <a:srgbClr val="1A1A1A"/>
                </a:solidFill>
                <a:latin typeface="Arial"/>
              </a:rPr>
              <a:t>One tap</a:t>
            </a:r>
          </a:p>
        </p:txBody>
      </p:sp>
      <p:sp>
        <p:nvSpPr>
          <p:cNvPr id="11" name="TextBox 10"/>
          <p:cNvSpPr txBox="1"/>
          <p:nvPr/>
        </p:nvSpPr>
        <p:spPr>
          <a:xfrm>
            <a:off x="3328416" y="1801368"/>
            <a:ext cx="2249424" cy="731520"/>
          </a:xfrm>
          <a:prstGeom prst="rect">
            <a:avLst/>
          </a:prstGeom>
          <a:noFill/>
        </p:spPr>
        <p:txBody>
          <a:bodyPr wrap="square" lIns="0" tIns="0" rIns="0" bIns="0" anchor="t"/>
          <a:lstStyle/>
          <a:p>
            <a:pPr algn="l">
              <a:spcAft>
                <a:spcPts val="300"/>
              </a:spcAft>
              <a:buNone/>
            </a:pPr>
            <a:r>
              <a:rPr sz="1200" b="0" i="0">
                <a:solidFill>
                  <a:srgbClr val="595959"/>
                </a:solidFill>
                <a:latin typeface="Arial"/>
              </a:rPr>
              <a:t>No preview and no address bar to check before the page opens.</a:t>
            </a:r>
          </a:p>
        </p:txBody>
      </p:sp>
      <p:sp>
        <p:nvSpPr>
          <p:cNvPr id="12" name="Rounded Rectangle 11"/>
          <p:cNvSpPr/>
          <p:nvPr/>
        </p:nvSpPr>
        <p:spPr>
          <a:xfrm>
            <a:off x="5897880" y="1143000"/>
            <a:ext cx="2560320" cy="1481328"/>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t"/>
          <a:lstStyle/>
          <a:p>
            <a:endParaRPr/>
          </a:p>
        </p:txBody>
      </p:sp>
      <p:sp>
        <p:nvSpPr>
          <p:cNvPr id="13" name="Badge 3"/>
          <p:cNvSpPr/>
          <p:nvPr/>
        </p:nvSpPr>
        <p:spPr>
          <a:xfrm>
            <a:off x="6044184" y="1289304"/>
            <a:ext cx="384048" cy="384048"/>
          </a:xfrm>
          <a:prstGeom prst="ellipse">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buNone/>
            </a:pPr>
            <a:r>
              <a:rPr sz="1200" b="1" i="0">
                <a:solidFill>
                  <a:srgbClr val="FFFFFF"/>
                </a:solidFill>
                <a:latin typeface="Arial"/>
              </a:rPr>
              <a:t>3</a:t>
            </a:r>
          </a:p>
        </p:txBody>
      </p:sp>
      <p:sp>
        <p:nvSpPr>
          <p:cNvPr id="14" name="TextBox 13"/>
          <p:cNvSpPr txBox="1"/>
          <p:nvPr/>
        </p:nvSpPr>
        <p:spPr>
          <a:xfrm>
            <a:off x="6537960" y="1289304"/>
            <a:ext cx="1773936" cy="411480"/>
          </a:xfrm>
          <a:prstGeom prst="rect">
            <a:avLst/>
          </a:prstGeom>
          <a:noFill/>
        </p:spPr>
        <p:txBody>
          <a:bodyPr wrap="square" lIns="0" tIns="0" rIns="0" bIns="0" anchor="ctr"/>
          <a:lstStyle/>
          <a:p>
            <a:pPr algn="l">
              <a:spcAft>
                <a:spcPts val="0"/>
              </a:spcAft>
              <a:buNone/>
            </a:pPr>
            <a:r>
              <a:rPr sz="1400" b="1" i="0">
                <a:solidFill>
                  <a:srgbClr val="1A1A1A"/>
                </a:solidFill>
                <a:latin typeface="Arial"/>
              </a:rPr>
              <a:t>Trusted places</a:t>
            </a:r>
          </a:p>
        </p:txBody>
      </p:sp>
      <p:sp>
        <p:nvSpPr>
          <p:cNvPr id="15" name="TextBox 14"/>
          <p:cNvSpPr txBox="1"/>
          <p:nvPr/>
        </p:nvSpPr>
        <p:spPr>
          <a:xfrm>
            <a:off x="6062472" y="1801368"/>
            <a:ext cx="2249424" cy="731520"/>
          </a:xfrm>
          <a:prstGeom prst="rect">
            <a:avLst/>
          </a:prstGeom>
          <a:noFill/>
        </p:spPr>
        <p:txBody>
          <a:bodyPr wrap="square" lIns="0" tIns="0" rIns="0" bIns="0" anchor="t"/>
          <a:lstStyle/>
          <a:p>
            <a:pPr algn="l">
              <a:spcAft>
                <a:spcPts val="300"/>
              </a:spcAft>
              <a:buNone/>
            </a:pPr>
            <a:r>
              <a:rPr sz="1200" b="0" i="0">
                <a:solidFill>
                  <a:srgbClr val="595959"/>
                </a:solidFill>
                <a:latin typeface="Arial"/>
              </a:rPr>
              <a:t>Menus, invoices and parking meters look safe to users.</a:t>
            </a:r>
          </a:p>
        </p:txBody>
      </p:sp>
      <p:sp>
        <p:nvSpPr>
          <p:cNvPr id="16" name="Rounded Rectangle 15"/>
          <p:cNvSpPr/>
          <p:nvPr/>
        </p:nvSpPr>
        <p:spPr>
          <a:xfrm>
            <a:off x="429768" y="2852928"/>
            <a:ext cx="8028432" cy="1261872"/>
          </a:xfrm>
          <a:prstGeom prst="roundRect">
            <a:avLst>
              <a:gd name="adj" fmla="val 8000"/>
            </a:avLst>
          </a:prstGeom>
          <a:solidFill>
            <a:srgbClr val="EAF7FD"/>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66928" y="2852928"/>
            <a:ext cx="1920240" cy="1261872"/>
          </a:xfrm>
          <a:prstGeom prst="rect">
            <a:avLst/>
          </a:prstGeom>
          <a:noFill/>
        </p:spPr>
        <p:txBody>
          <a:bodyPr wrap="square" lIns="0" tIns="0" rIns="0" bIns="0" anchor="ctr"/>
          <a:lstStyle/>
          <a:p>
            <a:pPr algn="ctr">
              <a:spcAft>
                <a:spcPts val="0"/>
              </a:spcAft>
              <a:buNone/>
            </a:pPr>
            <a:r>
              <a:rPr sz="4000" b="1" i="0">
                <a:solidFill>
                  <a:srgbClr val="00BFFF"/>
                </a:solidFill>
                <a:latin typeface="Arial"/>
              </a:rPr>
              <a:t>4.3%</a:t>
            </a:r>
          </a:p>
        </p:txBody>
      </p:sp>
      <p:sp>
        <p:nvSpPr>
          <p:cNvPr id="18" name="TextBox 17"/>
          <p:cNvSpPr txBox="1"/>
          <p:nvPr/>
        </p:nvSpPr>
        <p:spPr>
          <a:xfrm>
            <a:off x="2606040" y="2852928"/>
            <a:ext cx="5715000" cy="1261872"/>
          </a:xfrm>
          <a:prstGeom prst="rect">
            <a:avLst/>
          </a:prstGeom>
          <a:noFill/>
        </p:spPr>
        <p:txBody>
          <a:bodyPr wrap="square" lIns="0" tIns="0" rIns="0" bIns="0" anchor="ctr"/>
          <a:lstStyle/>
          <a:p>
            <a:pPr algn="l">
              <a:spcAft>
                <a:spcPts val="600"/>
              </a:spcAft>
              <a:buNone/>
            </a:pPr>
            <a:r>
              <a:rPr sz="1600" b="1" i="0">
                <a:solidFill>
                  <a:srgbClr val="1A1A1A"/>
                </a:solidFill>
                <a:latin typeface="Arial"/>
              </a:rPr>
              <a:t>of real-world QR codes in our data cannot be decoded.</a:t>
            </a:r>
          </a:p>
          <a:p>
            <a:pPr algn="l">
              <a:spcAft>
                <a:spcPts val="0"/>
              </a:spcAft>
              <a:buNone/>
            </a:pPr>
            <a:r>
              <a:rPr sz="1200" b="0" i="0">
                <a:solidFill>
                  <a:srgbClr val="595959"/>
                </a:solidFill>
                <a:latin typeface="Arial"/>
              </a:rPr>
              <a:t>For these codes, URL-based tools (blocklists, reputation, secure scanners) have nothing to check.</a:t>
            </a:r>
          </a:p>
        </p:txBody>
      </p:sp>
      <p:sp>
        <p:nvSpPr>
          <p:cNvPr id="19" name="Sources"/>
          <p:cNvSpPr txBox="1"/>
          <p:nvPr/>
        </p:nvSpPr>
        <p:spPr>
          <a:xfrm>
            <a:off x="429768" y="4389120"/>
            <a:ext cx="8028432" cy="182880"/>
          </a:xfrm>
          <a:prstGeom prst="rect">
            <a:avLst/>
          </a:prstGeom>
          <a:noFill/>
        </p:spPr>
        <p:txBody>
          <a:bodyPr wrap="square" lIns="18288" tIns="0" rIns="18288" bIns="0" anchor="t"/>
          <a:lstStyle/>
          <a:p>
            <a:pPr algn="l">
              <a:spcAft>
                <a:spcPts val="300"/>
              </a:spcAft>
              <a:buNone/>
            </a:pPr>
            <a:r>
              <a:rPr sz="800" b="0" i="0">
                <a:solidFill>
                  <a:srgbClr val="888888"/>
                </a:solidFill>
                <a:latin typeface="Arial"/>
              </a:rPr>
              <a:t>Sharevski et al. 2022 · Geisler et al. 2024 · Weinz et al. 2025 · 4.3% measured on CIC-Trap4Phish 2025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Quote"/>
          <p:cNvSpPr txBox="1"/>
          <p:nvPr/>
        </p:nvSpPr>
        <p:spPr>
          <a:xfrm>
            <a:off x="1188720" y="1828800"/>
            <a:ext cx="6766560" cy="1371600"/>
          </a:xfrm>
          <a:prstGeom prst="rect">
            <a:avLst/>
          </a:prstGeom>
          <a:noFill/>
        </p:spPr>
        <p:txBody>
          <a:bodyPr wrap="square" lIns="0" tIns="0" rIns="0" bIns="0" anchor="ctr"/>
          <a:lstStyle/>
          <a:p>
            <a:pPr algn="ctr">
              <a:spcAft>
                <a:spcPts val="400"/>
              </a:spcAft>
              <a:buNone/>
            </a:pPr>
            <a:r>
              <a:rPr sz="2000" b="1" i="0">
                <a:solidFill>
                  <a:srgbClr val="00BFFF"/>
                </a:solidFill>
                <a:latin typeface="Arial"/>
              </a:rPr>
              <a:t>“A QR code is a URL you cannot read —</a:t>
            </a:r>
          </a:p>
          <a:p>
            <a:pPr algn="ctr">
              <a:spcAft>
                <a:spcPts val="0"/>
              </a:spcAft>
              <a:buNone/>
            </a:pPr>
            <a:r>
              <a:rPr sz="2000" b="1" i="0">
                <a:solidFill>
                  <a:srgbClr val="00BFFF"/>
                </a:solidFill>
                <a:latin typeface="Arial"/>
              </a:rPr>
              <a:t>and 4.3% of the time, neither can the scanner.”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1"/>
          <p:cNvCxnSpPr/>
          <p:nvPr/>
        </p:nvCxnSpPr>
        <p:spPr>
          <a:xfrm>
            <a:off x="1216152" y="2231136"/>
            <a:ext cx="2560320" cy="0"/>
          </a:xfrm>
          <a:prstGeom prst="line">
            <a:avLst/>
          </a:prstGeom>
          <a:ln w="19050">
            <a:solidFill>
              <a:srgbClr val="00BFFF"/>
            </a:solidFill>
          </a:ln>
        </p:spPr>
        <p:style>
          <a:lnRef idx="2">
            <a:schemeClr val="accent1"/>
          </a:lnRef>
          <a:fillRef idx="0">
            <a:schemeClr val="accent1"/>
          </a:fillRef>
          <a:effectRef idx="1">
            <a:schemeClr val="accent1"/>
          </a:effectRef>
          <a:fontRef idx="minor">
            <a:schemeClr val="tx1"/>
          </a:fontRef>
        </p:style>
      </p:cxnSp>
      <p:sp>
        <p:nvSpPr>
          <p:cNvPr id="3" name="Section title"/>
          <p:cNvSpPr txBox="1"/>
          <p:nvPr/>
        </p:nvSpPr>
        <p:spPr>
          <a:xfrm>
            <a:off x="1216152" y="2304288"/>
            <a:ext cx="2788920" cy="548640"/>
          </a:xfrm>
          <a:prstGeom prst="rect">
            <a:avLst/>
          </a:prstGeom>
          <a:noFill/>
        </p:spPr>
        <p:txBody>
          <a:bodyPr wrap="square" lIns="18288" tIns="0" rIns="18288" bIns="0" anchor="t"/>
          <a:lstStyle/>
          <a:p>
            <a:pPr algn="l">
              <a:spcAft>
                <a:spcPts val="300"/>
              </a:spcAft>
              <a:buNone/>
            </a:pPr>
            <a:r>
              <a:rPr sz="2000" b="1" i="0">
                <a:solidFill>
                  <a:srgbClr val="00BFFF"/>
                </a:solidFill>
                <a:latin typeface="Arial"/>
              </a:rPr>
              <a:t>Problem Statement</a:t>
            </a:r>
          </a:p>
        </p:txBody>
      </p:sp>
      <p:sp>
        <p:nvSpPr>
          <p:cNvPr id="4" name="Section question"/>
          <p:cNvSpPr txBox="1"/>
          <p:nvPr/>
        </p:nvSpPr>
        <p:spPr>
          <a:xfrm>
            <a:off x="3794760" y="2304288"/>
            <a:ext cx="4663440" cy="822960"/>
          </a:xfrm>
          <a:prstGeom prst="rect">
            <a:avLst/>
          </a:prstGeom>
          <a:noFill/>
        </p:spPr>
        <p:txBody>
          <a:bodyPr wrap="square" lIns="18288" tIns="0" rIns="18288" bIns="0" anchor="t"/>
          <a:lstStyle/>
          <a:p>
            <a:pPr algn="l">
              <a:spcAft>
                <a:spcPts val="300"/>
              </a:spcAft>
              <a:buNone/>
            </a:pPr>
            <a:r>
              <a:rPr sz="2000" b="1" i="0">
                <a:solidFill>
                  <a:srgbClr val="1A1A1A"/>
                </a:solidFill>
                <a:latin typeface="Arial"/>
              </a:rPr>
              <a:t>What exactly is unsolved?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29768" y="201168"/>
            <a:ext cx="7589520" cy="502920"/>
          </a:xfrm>
          <a:prstGeom prst="rect">
            <a:avLst/>
          </a:prstGeom>
          <a:noFill/>
        </p:spPr>
        <p:txBody>
          <a:bodyPr wrap="square" lIns="18288" tIns="0" rIns="18288" bIns="0" anchor="t"/>
          <a:lstStyle/>
          <a:p>
            <a:pPr algn="l">
              <a:spcAft>
                <a:spcPts val="200"/>
              </a:spcAft>
              <a:buNone/>
            </a:pPr>
            <a:r>
              <a:rPr sz="2000" b="1" i="0">
                <a:solidFill>
                  <a:srgbClr val="00BFFF"/>
                </a:solidFill>
                <a:latin typeface="Arial"/>
              </a:rPr>
              <a:t>Problem Statement</a:t>
            </a:r>
          </a:p>
        </p:txBody>
      </p:sp>
      <p:sp>
        <p:nvSpPr>
          <p:cNvPr id="3" name="Subtitle"/>
          <p:cNvSpPr txBox="1"/>
          <p:nvPr/>
        </p:nvSpPr>
        <p:spPr>
          <a:xfrm>
            <a:off x="429768" y="749808"/>
            <a:ext cx="8028432" cy="274320"/>
          </a:xfrm>
          <a:prstGeom prst="rect">
            <a:avLst/>
          </a:prstGeom>
          <a:noFill/>
        </p:spPr>
        <p:txBody>
          <a:bodyPr wrap="square" lIns="18288" tIns="0" rIns="18288" bIns="0" anchor="t"/>
          <a:lstStyle/>
          <a:p>
            <a:pPr algn="l">
              <a:spcAft>
                <a:spcPts val="300"/>
              </a:spcAft>
              <a:buNone/>
            </a:pPr>
            <a:r>
              <a:rPr sz="1200" b="1" i="0">
                <a:solidFill>
                  <a:srgbClr val="00BFFF"/>
                </a:solidFill>
                <a:latin typeface="Arial"/>
              </a:rPr>
              <a:t>Two kinds of defenses — each one fails where the other one works</a:t>
            </a:r>
          </a:p>
        </p:txBody>
      </p:sp>
      <p:sp>
        <p:nvSpPr>
          <p:cNvPr id="4" name="Rounded Rectangle 3"/>
          <p:cNvSpPr/>
          <p:nvPr/>
        </p:nvSpPr>
        <p:spPr>
          <a:xfrm>
            <a:off x="429768" y="1143000"/>
            <a:ext cx="3922776" cy="196596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algn="l">
              <a:spcAft>
                <a:spcPts val="0"/>
              </a:spcAft>
              <a:buNone/>
            </a:pPr>
            <a:r>
              <a:rPr sz="1600" b="1" i="0">
                <a:solidFill>
                  <a:srgbClr val="00BFFF"/>
                </a:solidFill>
                <a:latin typeface="Arial"/>
              </a:rPr>
              <a:t>Read the URL</a:t>
            </a:r>
          </a:p>
          <a:p>
            <a:pPr algn="l">
              <a:spcAft>
                <a:spcPts val="1200"/>
              </a:spcAft>
              <a:buNone/>
            </a:pPr>
            <a:r>
              <a:rPr sz="1100" b="0" i="0">
                <a:solidFill>
                  <a:srgbClr val="888888"/>
                </a:solidFill>
                <a:latin typeface="Arial"/>
              </a:rPr>
              <a:t>post-decode</a:t>
            </a:r>
          </a:p>
          <a:p>
            <a:pPr algn="l">
              <a:spcAft>
                <a:spcPts val="800"/>
              </a:spcAft>
              <a:buNone/>
            </a:pPr>
            <a:r>
              <a:rPr sz="1300" b="1" i="0">
                <a:solidFill>
                  <a:srgbClr val="0090C8"/>
                </a:solidFill>
                <a:latin typeface="Arial"/>
              </a:rPr>
              <a:t>Strength:  </a:t>
            </a:r>
            <a:r>
              <a:rPr sz="1300" b="0" i="0">
                <a:solidFill>
                  <a:srgbClr val="1A1A1A"/>
                </a:solidFill>
                <a:latin typeface="Arial"/>
              </a:rPr>
              <a:t>Very accurate when the URL can be read</a:t>
            </a:r>
          </a:p>
          <a:p>
            <a:pPr algn="l">
              <a:spcAft>
                <a:spcPts val="0"/>
              </a:spcAft>
              <a:buNone/>
            </a:pPr>
            <a:r>
              <a:rPr sz="1300" b="1" i="0">
                <a:solidFill>
                  <a:srgbClr val="C8463D"/>
                </a:solidFill>
                <a:latin typeface="Arial"/>
              </a:rPr>
              <a:t>Weakness:  </a:t>
            </a:r>
            <a:r>
              <a:rPr sz="1300" b="0" i="0">
                <a:solidFill>
                  <a:srgbClr val="1A1A1A"/>
                </a:solidFill>
                <a:latin typeface="Arial"/>
              </a:rPr>
              <a:t>Useless when the QR code cannot be decoded</a:t>
            </a:r>
          </a:p>
        </p:txBody>
      </p:sp>
      <p:sp>
        <p:nvSpPr>
          <p:cNvPr id="5" name="Rounded Rectangle 4"/>
          <p:cNvSpPr/>
          <p:nvPr/>
        </p:nvSpPr>
        <p:spPr>
          <a:xfrm>
            <a:off x="4535424" y="1143000"/>
            <a:ext cx="3922776" cy="196596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algn="l">
              <a:spcAft>
                <a:spcPts val="0"/>
              </a:spcAft>
              <a:buNone/>
            </a:pPr>
            <a:r>
              <a:rPr sz="1600" b="1" i="0">
                <a:solidFill>
                  <a:srgbClr val="00BFFF"/>
                </a:solidFill>
                <a:latin typeface="Arial"/>
              </a:rPr>
              <a:t>Look at the image</a:t>
            </a:r>
          </a:p>
          <a:p>
            <a:pPr algn="l">
              <a:spcAft>
                <a:spcPts val="1200"/>
              </a:spcAft>
              <a:buNone/>
            </a:pPr>
            <a:r>
              <a:rPr sz="1100" b="0" i="0">
                <a:solidFill>
                  <a:srgbClr val="888888"/>
                </a:solidFill>
                <a:latin typeface="Arial"/>
              </a:rPr>
              <a:t>pre-decode</a:t>
            </a:r>
          </a:p>
          <a:p>
            <a:pPr algn="l">
              <a:spcAft>
                <a:spcPts val="800"/>
              </a:spcAft>
              <a:buNone/>
            </a:pPr>
            <a:r>
              <a:rPr sz="1300" b="1" i="0">
                <a:solidFill>
                  <a:srgbClr val="0090C8"/>
                </a:solidFill>
                <a:latin typeface="Arial"/>
              </a:rPr>
              <a:t>Strength:  </a:t>
            </a:r>
            <a:r>
              <a:rPr sz="1300" b="0" i="0">
                <a:solidFill>
                  <a:srgbClr val="1A1A1A"/>
                </a:solidFill>
                <a:latin typeface="Arial"/>
              </a:rPr>
              <a:t>Always works — no decoding needed</a:t>
            </a:r>
          </a:p>
          <a:p>
            <a:pPr algn="l">
              <a:spcAft>
                <a:spcPts val="0"/>
              </a:spcAft>
              <a:buNone/>
            </a:pPr>
            <a:r>
              <a:rPr sz="1300" b="1" i="0">
                <a:solidFill>
                  <a:srgbClr val="C8463D"/>
                </a:solidFill>
                <a:latin typeface="Arial"/>
              </a:rPr>
              <a:t>Weakness:  </a:t>
            </a:r>
            <a:r>
              <a:rPr sz="1300" b="0" i="0">
                <a:solidFill>
                  <a:srgbClr val="1A1A1A"/>
                </a:solidFill>
                <a:latin typeface="Arial"/>
              </a:rPr>
              <a:t>Less accurate on real, mixed data</a:t>
            </a:r>
          </a:p>
        </p:txBody>
      </p:sp>
      <p:sp>
        <p:nvSpPr>
          <p:cNvPr id="6" name="Rounded Rectangle 5"/>
          <p:cNvSpPr/>
          <p:nvPr/>
        </p:nvSpPr>
        <p:spPr>
          <a:xfrm>
            <a:off x="429768" y="3310128"/>
            <a:ext cx="8028432" cy="804672"/>
          </a:xfrm>
          <a:prstGeom prst="roundRect">
            <a:avLst>
              <a:gd name="adj" fmla="val 8000"/>
            </a:avLst>
          </a:prstGeom>
          <a:solidFill>
            <a:srgbClr val="EAF7FD"/>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wrap="square" lIns="182880" tIns="109728" rIns="182880" bIns="109728" rtlCol="0" anchor="ctr"/>
          <a:lstStyle/>
          <a:p>
            <a:pPr algn="l">
              <a:spcAft>
                <a:spcPts val="0"/>
              </a:spcAft>
              <a:buNone/>
            </a:pPr>
            <a:r>
              <a:rPr sz="1400" b="1" i="0">
                <a:solidFill>
                  <a:srgbClr val="00BFFF"/>
                </a:solidFill>
                <a:latin typeface="Arial"/>
              </a:rPr>
              <a:t>The gap:  </a:t>
            </a:r>
            <a:r>
              <a:rPr sz="1400" b="1" i="0">
                <a:solidFill>
                  <a:srgbClr val="1A1A1A"/>
                </a:solidFill>
                <a:latin typeface="Arial"/>
              </a:rPr>
              <a:t>no previous work joins both signals in one detector, or tests it across independent datasets.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29768" y="201168"/>
            <a:ext cx="7589520" cy="502920"/>
          </a:xfrm>
          <a:prstGeom prst="rect">
            <a:avLst/>
          </a:prstGeom>
          <a:noFill/>
        </p:spPr>
        <p:txBody>
          <a:bodyPr wrap="square" lIns="18288" tIns="0" rIns="18288" bIns="0" anchor="t"/>
          <a:lstStyle/>
          <a:p>
            <a:pPr algn="l">
              <a:spcAft>
                <a:spcPts val="200"/>
              </a:spcAft>
              <a:buNone/>
            </a:pPr>
            <a:r>
              <a:rPr sz="2000" b="1" i="0">
                <a:solidFill>
                  <a:srgbClr val="00BFFF"/>
                </a:solidFill>
                <a:latin typeface="Arial"/>
              </a:rPr>
              <a:t>Related Work</a:t>
            </a:r>
          </a:p>
        </p:txBody>
      </p:sp>
      <p:sp>
        <p:nvSpPr>
          <p:cNvPr id="3" name="Subtitle"/>
          <p:cNvSpPr txBox="1"/>
          <p:nvPr/>
        </p:nvSpPr>
        <p:spPr>
          <a:xfrm>
            <a:off x="429768" y="749808"/>
            <a:ext cx="8028432" cy="274320"/>
          </a:xfrm>
          <a:prstGeom prst="rect">
            <a:avLst/>
          </a:prstGeom>
          <a:noFill/>
        </p:spPr>
        <p:txBody>
          <a:bodyPr wrap="square" lIns="18288" tIns="0" rIns="18288" bIns="0" anchor="t"/>
          <a:lstStyle/>
          <a:p>
            <a:pPr algn="l">
              <a:spcAft>
                <a:spcPts val="300"/>
              </a:spcAft>
              <a:buNone/>
            </a:pPr>
            <a:r>
              <a:rPr sz="1200" b="1" i="0">
                <a:solidFill>
                  <a:srgbClr val="00BFFF"/>
                </a:solidFill>
                <a:latin typeface="Arial"/>
              </a:rPr>
              <a:t>Five research directions — none joins both stages in one detector</a:t>
            </a:r>
          </a:p>
        </p:txBody>
      </p:sp>
      <p:graphicFrame>
        <p:nvGraphicFramePr>
          <p:cNvPr id="4" name="Table 3"/>
          <p:cNvGraphicFramePr>
            <a:graphicFrameLocks noGrp="1"/>
          </p:cNvGraphicFramePr>
          <p:nvPr/>
        </p:nvGraphicFramePr>
        <p:xfrm>
          <a:off x="429768" y="1143000"/>
          <a:ext cx="8028432" cy="2688336"/>
        </p:xfrm>
        <a:graphic>
          <a:graphicData uri="http://schemas.openxmlformats.org/drawingml/2006/table">
            <a:tbl>
              <a:tblPr firstRow="1">
                <a:tableStyleId>{5C22544A-7EE6-4342-B048-85BDC9FD1C3A}</a:tableStyleId>
              </a:tblPr>
              <a:tblGrid>
                <a:gridCol w="192024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2907792">
                  <a:extLst>
                    <a:ext uri="{9D8B030D-6E8A-4147-A177-3AD203B41FA5}">
                      <a16:colId xmlns:a16="http://schemas.microsoft.com/office/drawing/2014/main" val="20002"/>
                    </a:ext>
                  </a:extLst>
                </a:gridCol>
              </a:tblGrid>
              <a:tr h="384048">
                <a:tc>
                  <a:txBody>
                    <a:bodyPr/>
                    <a:lstStyle/>
                    <a:p>
                      <a:pPr algn="l">
                        <a:spcAft>
                          <a:spcPts val="0"/>
                        </a:spcAft>
                        <a:buNone/>
                      </a:pPr>
                      <a:r>
                        <a:rPr sz="1200" b="1" i="0">
                          <a:solidFill>
                            <a:srgbClr val="FFFFFF"/>
                          </a:solidFill>
                          <a:latin typeface="Arial"/>
                        </a:rPr>
                        <a:t>Direction</a:t>
                      </a:r>
                    </a:p>
                  </a:txBody>
                  <a:tcPr marL="73152" marR="73152" marT="27432" marB="27432" anchor="ctr">
                    <a:solidFill>
                      <a:srgbClr val="1A1A2E"/>
                    </a:solidFill>
                  </a:tcPr>
                </a:tc>
                <a:tc>
                  <a:txBody>
                    <a:bodyPr/>
                    <a:lstStyle/>
                    <a:p>
                      <a:pPr algn="ctr">
                        <a:spcAft>
                          <a:spcPts val="0"/>
                        </a:spcAft>
                        <a:buNone/>
                      </a:pPr>
                      <a:r>
                        <a:rPr sz="1200" b="1" i="0">
                          <a:solidFill>
                            <a:srgbClr val="FFFFFF"/>
                          </a:solidFill>
                          <a:latin typeface="Arial"/>
                        </a:rPr>
                        <a:t>Main idea</a:t>
                      </a:r>
                    </a:p>
                  </a:txBody>
                  <a:tcPr marL="73152" marR="73152" marT="27432" marB="27432" anchor="ctr">
                    <a:solidFill>
                      <a:srgbClr val="1A1A2E"/>
                    </a:solidFill>
                  </a:tcPr>
                </a:tc>
                <a:tc>
                  <a:txBody>
                    <a:bodyPr/>
                    <a:lstStyle/>
                    <a:p>
                      <a:pPr algn="ctr">
                        <a:spcAft>
                          <a:spcPts val="0"/>
                        </a:spcAft>
                        <a:buNone/>
                      </a:pPr>
                      <a:r>
                        <a:rPr sz="1200" b="1" i="0">
                          <a:solidFill>
                            <a:srgbClr val="FFFFFF"/>
                          </a:solidFill>
                          <a:latin typeface="Arial"/>
                        </a:rPr>
                        <a:t>Main limitation</a:t>
                      </a:r>
                    </a:p>
                  </a:txBody>
                  <a:tcPr marL="73152" marR="73152" marT="27432" marB="27432" anchor="ctr">
                    <a:solidFill>
                      <a:srgbClr val="1A1A2E"/>
                    </a:solidFill>
                  </a:tcPr>
                </a:tc>
                <a:extLst>
                  <a:ext uri="{0D108BD9-81ED-4DB2-BD59-A6C34878D82A}">
                    <a16:rowId xmlns:a16="http://schemas.microsoft.com/office/drawing/2014/main" val="10000"/>
                  </a:ext>
                </a:extLst>
              </a:tr>
              <a:tr h="384048">
                <a:tc>
                  <a:txBody>
                    <a:bodyPr/>
                    <a:lstStyle/>
                    <a:p>
                      <a:pPr algn="l">
                        <a:spcAft>
                          <a:spcPts val="0"/>
                        </a:spcAft>
                        <a:buNone/>
                      </a:pPr>
                      <a:r>
                        <a:rPr sz="1200" b="0" i="0">
                          <a:solidFill>
                            <a:srgbClr val="1A1A1A"/>
                          </a:solidFill>
                          <a:latin typeface="Arial"/>
                        </a:rPr>
                        <a:t>URL-based</a:t>
                      </a:r>
                    </a:p>
                  </a:txBody>
                  <a:tcPr marL="73152" marR="73152" marT="27432" marB="27432" anchor="ctr">
                    <a:solidFill>
                      <a:srgbClr val="FFFFFF"/>
                    </a:solidFill>
                  </a:tcPr>
                </a:tc>
                <a:tc>
                  <a:txBody>
                    <a:bodyPr/>
                    <a:lstStyle/>
                    <a:p>
                      <a:pPr algn="ctr">
                        <a:spcAft>
                          <a:spcPts val="0"/>
                        </a:spcAft>
                        <a:buNone/>
                      </a:pPr>
                      <a:r>
                        <a:rPr sz="1200" b="0" i="0">
                          <a:solidFill>
                            <a:srgbClr val="1A1A1A"/>
                          </a:solidFill>
                          <a:latin typeface="Arial"/>
                        </a:rPr>
                        <a:t>Decode, then classify the URL</a:t>
                      </a:r>
                    </a:p>
                  </a:txBody>
                  <a:tcPr marL="73152" marR="73152" marT="27432" marB="27432" anchor="ctr">
                    <a:solidFill>
                      <a:srgbClr val="FFFFFF"/>
                    </a:solidFill>
                  </a:tcPr>
                </a:tc>
                <a:tc>
                  <a:txBody>
                    <a:bodyPr/>
                    <a:lstStyle/>
                    <a:p>
                      <a:pPr algn="ctr">
                        <a:spcAft>
                          <a:spcPts val="0"/>
                        </a:spcAft>
                        <a:buNone/>
                      </a:pPr>
                      <a:r>
                        <a:rPr sz="1200" b="0" i="0">
                          <a:solidFill>
                            <a:srgbClr val="1A1A1A"/>
                          </a:solidFill>
                          <a:latin typeface="Arial"/>
                        </a:rPr>
                        <a:t>Needs decoding; URLs only</a:t>
                      </a:r>
                    </a:p>
                  </a:txBody>
                  <a:tcPr marL="73152" marR="73152" marT="27432" marB="27432" anchor="ctr">
                    <a:solidFill>
                      <a:srgbClr val="FFFFFF"/>
                    </a:solidFill>
                  </a:tcPr>
                </a:tc>
                <a:extLst>
                  <a:ext uri="{0D108BD9-81ED-4DB2-BD59-A6C34878D82A}">
                    <a16:rowId xmlns:a16="http://schemas.microsoft.com/office/drawing/2014/main" val="10001"/>
                  </a:ext>
                </a:extLst>
              </a:tr>
              <a:tr h="384048">
                <a:tc>
                  <a:txBody>
                    <a:bodyPr/>
                    <a:lstStyle/>
                    <a:p>
                      <a:pPr algn="l">
                        <a:spcAft>
                          <a:spcPts val="0"/>
                        </a:spcAft>
                        <a:buNone/>
                      </a:pPr>
                      <a:r>
                        <a:rPr sz="1200" b="0" i="0">
                          <a:solidFill>
                            <a:srgbClr val="1A1A1A"/>
                          </a:solidFill>
                          <a:latin typeface="Arial"/>
                        </a:rPr>
                        <a:t>Visual</a:t>
                      </a:r>
                    </a:p>
                  </a:txBody>
                  <a:tcPr marL="73152" marR="73152" marT="27432" marB="27432" anchor="ctr">
                    <a:solidFill>
                      <a:srgbClr val="F4F6F8"/>
                    </a:solidFill>
                  </a:tcPr>
                </a:tc>
                <a:tc>
                  <a:txBody>
                    <a:bodyPr/>
                    <a:lstStyle/>
                    <a:p>
                      <a:pPr algn="ctr">
                        <a:spcAft>
                          <a:spcPts val="0"/>
                        </a:spcAft>
                        <a:buNone/>
                      </a:pPr>
                      <a:r>
                        <a:rPr sz="1200" b="0" i="0">
                          <a:solidFill>
                            <a:srgbClr val="1A1A1A"/>
                          </a:solidFill>
                          <a:latin typeface="Arial"/>
                        </a:rPr>
                        <a:t>Classify the QR image directly</a:t>
                      </a:r>
                    </a:p>
                  </a:txBody>
                  <a:tcPr marL="73152" marR="73152" marT="27432" marB="27432" anchor="ctr">
                    <a:solidFill>
                      <a:srgbClr val="F4F6F8"/>
                    </a:solidFill>
                  </a:tcPr>
                </a:tc>
                <a:tc>
                  <a:txBody>
                    <a:bodyPr/>
                    <a:lstStyle/>
                    <a:p>
                      <a:pPr algn="ctr">
                        <a:spcAft>
                          <a:spcPts val="0"/>
                        </a:spcAft>
                        <a:buNone/>
                      </a:pPr>
                      <a:r>
                        <a:rPr sz="1200" b="0" i="0">
                          <a:solidFill>
                            <a:srgbClr val="1A1A1A"/>
                          </a:solidFill>
                          <a:latin typeface="Arial"/>
                        </a:rPr>
                        <a:t>Weaker on mixed, real data</a:t>
                      </a:r>
                    </a:p>
                  </a:txBody>
                  <a:tcPr marL="73152" marR="73152" marT="27432" marB="27432" anchor="ctr">
                    <a:solidFill>
                      <a:srgbClr val="F4F6F8"/>
                    </a:solidFill>
                  </a:tcPr>
                </a:tc>
                <a:extLst>
                  <a:ext uri="{0D108BD9-81ED-4DB2-BD59-A6C34878D82A}">
                    <a16:rowId xmlns:a16="http://schemas.microsoft.com/office/drawing/2014/main" val="10002"/>
                  </a:ext>
                </a:extLst>
              </a:tr>
              <a:tr h="384048">
                <a:tc>
                  <a:txBody>
                    <a:bodyPr/>
                    <a:lstStyle/>
                    <a:p>
                      <a:pPr algn="l">
                        <a:spcAft>
                          <a:spcPts val="0"/>
                        </a:spcAft>
                        <a:buNone/>
                      </a:pPr>
                      <a:r>
                        <a:rPr sz="1200" b="0" i="0">
                          <a:solidFill>
                            <a:srgbClr val="1A1A1A"/>
                          </a:solidFill>
                          <a:latin typeface="Arial"/>
                        </a:rPr>
                        <a:t>Multimodal</a:t>
                      </a:r>
                    </a:p>
                  </a:txBody>
                  <a:tcPr marL="73152" marR="73152" marT="27432" marB="27432" anchor="ctr">
                    <a:solidFill>
                      <a:srgbClr val="FFFFFF"/>
                    </a:solidFill>
                  </a:tcPr>
                </a:tc>
                <a:tc>
                  <a:txBody>
                    <a:bodyPr/>
                    <a:lstStyle/>
                    <a:p>
                      <a:pPr algn="ctr">
                        <a:spcAft>
                          <a:spcPts val="0"/>
                        </a:spcAft>
                        <a:buNone/>
                      </a:pPr>
                      <a:r>
                        <a:rPr sz="1200" b="0" i="0">
                          <a:solidFill>
                            <a:srgbClr val="1A1A1A"/>
                          </a:solidFill>
                          <a:latin typeface="Arial"/>
                        </a:rPr>
                        <a:t>Image and URL as separate baselines</a:t>
                      </a:r>
                    </a:p>
                  </a:txBody>
                  <a:tcPr marL="73152" marR="73152" marT="27432" marB="27432" anchor="ctr">
                    <a:solidFill>
                      <a:srgbClr val="FFFFFF"/>
                    </a:solidFill>
                  </a:tcPr>
                </a:tc>
                <a:tc>
                  <a:txBody>
                    <a:bodyPr/>
                    <a:lstStyle/>
                    <a:p>
                      <a:pPr algn="ctr">
                        <a:spcAft>
                          <a:spcPts val="0"/>
                        </a:spcAft>
                        <a:buNone/>
                      </a:pPr>
                      <a:r>
                        <a:rPr sz="1200" b="0" i="0">
                          <a:solidFill>
                            <a:srgbClr val="1A1A1A"/>
                          </a:solidFill>
                          <a:latin typeface="Arial"/>
                        </a:rPr>
                        <a:t>Not one pipeline</a:t>
                      </a:r>
                    </a:p>
                  </a:txBody>
                  <a:tcPr marL="73152" marR="73152" marT="27432" marB="27432" anchor="ctr">
                    <a:solidFill>
                      <a:srgbClr val="FFFFFF"/>
                    </a:solidFill>
                  </a:tcPr>
                </a:tc>
                <a:extLst>
                  <a:ext uri="{0D108BD9-81ED-4DB2-BD59-A6C34878D82A}">
                    <a16:rowId xmlns:a16="http://schemas.microsoft.com/office/drawing/2014/main" val="10003"/>
                  </a:ext>
                </a:extLst>
              </a:tr>
              <a:tr h="384048">
                <a:tc>
                  <a:txBody>
                    <a:bodyPr/>
                    <a:lstStyle/>
                    <a:p>
                      <a:pPr algn="l">
                        <a:spcAft>
                          <a:spcPts val="0"/>
                        </a:spcAft>
                        <a:buNone/>
                      </a:pPr>
                      <a:r>
                        <a:rPr sz="1200" b="0" i="0">
                          <a:solidFill>
                            <a:srgbClr val="1A1A1A"/>
                          </a:solidFill>
                          <a:latin typeface="Arial"/>
                        </a:rPr>
                        <a:t>Human-centered</a:t>
                      </a:r>
                    </a:p>
                  </a:txBody>
                  <a:tcPr marL="73152" marR="73152" marT="27432" marB="27432" anchor="ctr">
                    <a:solidFill>
                      <a:srgbClr val="F4F6F8"/>
                    </a:solidFill>
                  </a:tcPr>
                </a:tc>
                <a:tc>
                  <a:txBody>
                    <a:bodyPr/>
                    <a:lstStyle/>
                    <a:p>
                      <a:pPr algn="ctr">
                        <a:spcAft>
                          <a:spcPts val="0"/>
                        </a:spcAft>
                        <a:buNone/>
                      </a:pPr>
                      <a:r>
                        <a:rPr sz="1200" b="0" i="0">
                          <a:solidFill>
                            <a:srgbClr val="1A1A1A"/>
                          </a:solidFill>
                          <a:latin typeface="Arial"/>
                        </a:rPr>
                        <a:t>Why people trust QR codes</a:t>
                      </a:r>
                    </a:p>
                  </a:txBody>
                  <a:tcPr marL="73152" marR="73152" marT="27432" marB="27432" anchor="ctr">
                    <a:solidFill>
                      <a:srgbClr val="F4F6F8"/>
                    </a:solidFill>
                  </a:tcPr>
                </a:tc>
                <a:tc>
                  <a:txBody>
                    <a:bodyPr/>
                    <a:lstStyle/>
                    <a:p>
                      <a:pPr algn="ctr">
                        <a:spcAft>
                          <a:spcPts val="0"/>
                        </a:spcAft>
                        <a:buNone/>
                      </a:pPr>
                      <a:r>
                        <a:rPr sz="1200" b="0" i="0">
                          <a:solidFill>
                            <a:srgbClr val="1A1A1A"/>
                          </a:solidFill>
                          <a:latin typeface="Arial"/>
                        </a:rPr>
                        <a:t>No protection at scan time</a:t>
                      </a:r>
                    </a:p>
                  </a:txBody>
                  <a:tcPr marL="73152" marR="73152" marT="27432" marB="27432" anchor="ctr">
                    <a:solidFill>
                      <a:srgbClr val="F4F6F8"/>
                    </a:solidFill>
                  </a:tcPr>
                </a:tc>
                <a:extLst>
                  <a:ext uri="{0D108BD9-81ED-4DB2-BD59-A6C34878D82A}">
                    <a16:rowId xmlns:a16="http://schemas.microsoft.com/office/drawing/2014/main" val="10004"/>
                  </a:ext>
                </a:extLst>
              </a:tr>
              <a:tr h="384048">
                <a:tc>
                  <a:txBody>
                    <a:bodyPr/>
                    <a:lstStyle/>
                    <a:p>
                      <a:pPr algn="l">
                        <a:spcAft>
                          <a:spcPts val="0"/>
                        </a:spcAft>
                        <a:buNone/>
                      </a:pPr>
                      <a:r>
                        <a:rPr sz="1200" b="0" i="0">
                          <a:solidFill>
                            <a:srgbClr val="1A1A1A"/>
                          </a:solidFill>
                          <a:latin typeface="Arial"/>
                        </a:rPr>
                        <a:t>Commercial tools</a:t>
                      </a:r>
                    </a:p>
                  </a:txBody>
                  <a:tcPr marL="73152" marR="73152" marT="27432" marB="27432" anchor="ctr">
                    <a:solidFill>
                      <a:srgbClr val="FFFFFF"/>
                    </a:solidFill>
                  </a:tcPr>
                </a:tc>
                <a:tc>
                  <a:txBody>
                    <a:bodyPr/>
                    <a:lstStyle/>
                    <a:p>
                      <a:pPr algn="ctr">
                        <a:spcAft>
                          <a:spcPts val="0"/>
                        </a:spcAft>
                        <a:buNone/>
                      </a:pPr>
                      <a:r>
                        <a:rPr sz="1200" b="0" i="0">
                          <a:solidFill>
                            <a:srgbClr val="1A1A1A"/>
                          </a:solidFill>
                          <a:latin typeface="Arial"/>
                        </a:rPr>
                        <a:t>Blocklists, secure scanners</a:t>
                      </a:r>
                    </a:p>
                  </a:txBody>
                  <a:tcPr marL="73152" marR="73152" marT="27432" marB="27432" anchor="ctr">
                    <a:solidFill>
                      <a:srgbClr val="FFFFFF"/>
                    </a:solidFill>
                  </a:tcPr>
                </a:tc>
                <a:tc>
                  <a:txBody>
                    <a:bodyPr/>
                    <a:lstStyle/>
                    <a:p>
                      <a:pPr algn="ctr">
                        <a:spcAft>
                          <a:spcPts val="0"/>
                        </a:spcAft>
                        <a:buNone/>
                      </a:pPr>
                      <a:r>
                        <a:rPr sz="1200" b="0" i="0">
                          <a:solidFill>
                            <a:srgbClr val="1A1A1A"/>
                          </a:solidFill>
                          <a:latin typeface="Arial"/>
                        </a:rPr>
                        <a:t>Work only after decoding</a:t>
                      </a:r>
                    </a:p>
                  </a:txBody>
                  <a:tcPr marL="73152" marR="73152" marT="27432" marB="27432" anchor="ctr">
                    <a:solidFill>
                      <a:srgbClr val="FFFFFF"/>
                    </a:solidFill>
                  </a:tcPr>
                </a:tc>
                <a:extLst>
                  <a:ext uri="{0D108BD9-81ED-4DB2-BD59-A6C34878D82A}">
                    <a16:rowId xmlns:a16="http://schemas.microsoft.com/office/drawing/2014/main" val="10005"/>
                  </a:ext>
                </a:extLst>
              </a:tr>
              <a:tr h="384048">
                <a:tc>
                  <a:txBody>
                    <a:bodyPr/>
                    <a:lstStyle/>
                    <a:p>
                      <a:pPr algn="l">
                        <a:spcAft>
                          <a:spcPts val="0"/>
                        </a:spcAft>
                        <a:buNone/>
                      </a:pPr>
                      <a:r>
                        <a:rPr sz="1200" b="1" i="0">
                          <a:solidFill>
                            <a:srgbClr val="0090C8"/>
                          </a:solidFill>
                          <a:latin typeface="Arial"/>
                        </a:rPr>
                        <a:t>Q-Shield (ours)</a:t>
                      </a:r>
                    </a:p>
                  </a:txBody>
                  <a:tcPr marL="73152" marR="73152" marT="27432" marB="27432" anchor="ctr">
                    <a:solidFill>
                      <a:srgbClr val="EAF7FD"/>
                    </a:solidFill>
                  </a:tcPr>
                </a:tc>
                <a:tc>
                  <a:txBody>
                    <a:bodyPr/>
                    <a:lstStyle/>
                    <a:p>
                      <a:pPr algn="ctr">
                        <a:spcAft>
                          <a:spcPts val="0"/>
                        </a:spcAft>
                        <a:buNone/>
                      </a:pPr>
                      <a:r>
                        <a:rPr sz="1200" b="1" i="0">
                          <a:solidFill>
                            <a:srgbClr val="0090C8"/>
                          </a:solidFill>
                          <a:latin typeface="Arial"/>
                        </a:rPr>
                        <a:t>Image + URL in one detector</a:t>
                      </a:r>
                    </a:p>
                  </a:txBody>
                  <a:tcPr marL="73152" marR="73152" marT="27432" marB="27432" anchor="ctr">
                    <a:solidFill>
                      <a:srgbClr val="EAF7FD"/>
                    </a:solidFill>
                  </a:tcPr>
                </a:tc>
                <a:tc>
                  <a:txBody>
                    <a:bodyPr/>
                    <a:lstStyle/>
                    <a:p>
                      <a:pPr algn="ctr">
                        <a:spcAft>
                          <a:spcPts val="0"/>
                        </a:spcAft>
                        <a:buNone/>
                      </a:pPr>
                      <a:r>
                        <a:rPr sz="1200" b="1" i="0">
                          <a:solidFill>
                            <a:srgbClr val="0090C8"/>
                          </a:solidFill>
                          <a:latin typeface="Arial"/>
                        </a:rPr>
                        <a:t>Covers both stages</a:t>
                      </a:r>
                    </a:p>
                  </a:txBody>
                  <a:tcPr marL="73152" marR="73152" marT="27432" marB="27432" anchor="ctr">
                    <a:solidFill>
                      <a:srgbClr val="EAF7FD"/>
                    </a:solidFill>
                  </a:tcPr>
                </a:tc>
                <a:extLst>
                  <a:ext uri="{0D108BD9-81ED-4DB2-BD59-A6C34878D82A}">
                    <a16:rowId xmlns:a16="http://schemas.microsoft.com/office/drawing/2014/main" val="10006"/>
                  </a:ext>
                </a:extLst>
              </a:tr>
            </a:tbl>
          </a:graphicData>
        </a:graphic>
      </p:graphicFrame>
      <p:sp>
        <p:nvSpPr>
          <p:cNvPr id="5" name="Sources"/>
          <p:cNvSpPr txBox="1"/>
          <p:nvPr/>
        </p:nvSpPr>
        <p:spPr>
          <a:xfrm>
            <a:off x="429768" y="4389120"/>
            <a:ext cx="8028432" cy="182880"/>
          </a:xfrm>
          <a:prstGeom prst="rect">
            <a:avLst/>
          </a:prstGeom>
          <a:noFill/>
        </p:spPr>
        <p:txBody>
          <a:bodyPr wrap="square" lIns="18288" tIns="0" rIns="18288" bIns="0" anchor="t"/>
          <a:lstStyle/>
          <a:p>
            <a:pPr algn="l">
              <a:spcAft>
                <a:spcPts val="300"/>
              </a:spcAft>
              <a:buNone/>
            </a:pPr>
            <a:r>
              <a:rPr sz="800" b="0" i="0">
                <a:solidFill>
                  <a:srgbClr val="888888"/>
                </a:solidFill>
                <a:latin typeface="Arial"/>
              </a:rPr>
              <a:t>Amoah &amp; Hayfron-Acquah 2022 · Rafsanjani et al. 2023 · Trad &amp; Chehab 2025 · Akram et al. 2025 · Khalifa et al. 2025 · Nejati et al. 2026 · Sharevski et al. 2022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1"/>
          <p:cNvCxnSpPr/>
          <p:nvPr/>
        </p:nvCxnSpPr>
        <p:spPr>
          <a:xfrm>
            <a:off x="1216152" y="2231136"/>
            <a:ext cx="2560320" cy="0"/>
          </a:xfrm>
          <a:prstGeom prst="line">
            <a:avLst/>
          </a:prstGeom>
          <a:ln w="19050">
            <a:solidFill>
              <a:srgbClr val="00BFFF"/>
            </a:solidFill>
          </a:ln>
        </p:spPr>
        <p:style>
          <a:lnRef idx="2">
            <a:schemeClr val="accent1"/>
          </a:lnRef>
          <a:fillRef idx="0">
            <a:schemeClr val="accent1"/>
          </a:fillRef>
          <a:effectRef idx="1">
            <a:schemeClr val="accent1"/>
          </a:effectRef>
          <a:fontRef idx="minor">
            <a:schemeClr val="tx1"/>
          </a:fontRef>
        </p:style>
      </p:cxnSp>
      <p:sp>
        <p:nvSpPr>
          <p:cNvPr id="3" name="Section title"/>
          <p:cNvSpPr txBox="1"/>
          <p:nvPr/>
        </p:nvSpPr>
        <p:spPr>
          <a:xfrm>
            <a:off x="1216152" y="2304288"/>
            <a:ext cx="2788920" cy="548640"/>
          </a:xfrm>
          <a:prstGeom prst="rect">
            <a:avLst/>
          </a:prstGeom>
          <a:noFill/>
        </p:spPr>
        <p:txBody>
          <a:bodyPr wrap="square" lIns="18288" tIns="0" rIns="18288" bIns="0" anchor="t"/>
          <a:lstStyle/>
          <a:p>
            <a:pPr algn="l">
              <a:spcAft>
                <a:spcPts val="300"/>
              </a:spcAft>
              <a:buNone/>
            </a:pPr>
            <a:r>
              <a:rPr sz="2000" b="1" i="0">
                <a:solidFill>
                  <a:srgbClr val="00BFFF"/>
                </a:solidFill>
                <a:latin typeface="Arial"/>
              </a:rPr>
              <a:t>Contributions</a:t>
            </a:r>
          </a:p>
        </p:txBody>
      </p:sp>
      <p:sp>
        <p:nvSpPr>
          <p:cNvPr id="4" name="Section question"/>
          <p:cNvSpPr txBox="1"/>
          <p:nvPr/>
        </p:nvSpPr>
        <p:spPr>
          <a:xfrm>
            <a:off x="3794760" y="2304288"/>
            <a:ext cx="4663440" cy="822960"/>
          </a:xfrm>
          <a:prstGeom prst="rect">
            <a:avLst/>
          </a:prstGeom>
          <a:noFill/>
        </p:spPr>
        <p:txBody>
          <a:bodyPr wrap="square" lIns="18288" tIns="0" rIns="18288" bIns="0" anchor="t"/>
          <a:lstStyle/>
          <a:p>
            <a:pPr algn="l">
              <a:spcAft>
                <a:spcPts val="300"/>
              </a:spcAft>
              <a:buNone/>
            </a:pPr>
            <a:r>
              <a:rPr sz="2000" b="1" i="0">
                <a:solidFill>
                  <a:srgbClr val="1A1A1A"/>
                </a:solidFill>
                <a:latin typeface="Arial"/>
              </a:rPr>
              <a:t>What does this paper do differently?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29768" y="201168"/>
            <a:ext cx="7589520" cy="502920"/>
          </a:xfrm>
          <a:prstGeom prst="rect">
            <a:avLst/>
          </a:prstGeom>
          <a:noFill/>
        </p:spPr>
        <p:txBody>
          <a:bodyPr wrap="square" lIns="18288" tIns="0" rIns="18288" bIns="0" anchor="t"/>
          <a:lstStyle/>
          <a:p>
            <a:pPr algn="l">
              <a:spcAft>
                <a:spcPts val="200"/>
              </a:spcAft>
              <a:buNone/>
            </a:pPr>
            <a:r>
              <a:rPr sz="2000" b="1" i="0">
                <a:solidFill>
                  <a:srgbClr val="00BFFF"/>
                </a:solidFill>
                <a:latin typeface="Arial"/>
              </a:rPr>
              <a:t>Contributions</a:t>
            </a:r>
          </a:p>
        </p:txBody>
      </p:sp>
      <p:sp>
        <p:nvSpPr>
          <p:cNvPr id="3" name="Subtitle"/>
          <p:cNvSpPr txBox="1"/>
          <p:nvPr/>
        </p:nvSpPr>
        <p:spPr>
          <a:xfrm>
            <a:off x="429768" y="749808"/>
            <a:ext cx="8028432" cy="274320"/>
          </a:xfrm>
          <a:prstGeom prst="rect">
            <a:avLst/>
          </a:prstGeom>
          <a:noFill/>
        </p:spPr>
        <p:txBody>
          <a:bodyPr wrap="square" lIns="18288" tIns="0" rIns="18288" bIns="0" anchor="t"/>
          <a:lstStyle/>
          <a:p>
            <a:pPr algn="l">
              <a:spcAft>
                <a:spcPts val="300"/>
              </a:spcAft>
              <a:buNone/>
            </a:pPr>
            <a:r>
              <a:rPr sz="1200" b="1" i="0">
                <a:solidFill>
                  <a:srgbClr val="00BFFF"/>
                </a:solidFill>
                <a:latin typeface="Arial"/>
              </a:rPr>
              <a:t>Main idea: one detector for both moments of a QR scan — before and after decoding</a:t>
            </a:r>
          </a:p>
        </p:txBody>
      </p:sp>
      <p:sp>
        <p:nvSpPr>
          <p:cNvPr id="4" name="Rounded Rectangle 3"/>
          <p:cNvSpPr/>
          <p:nvPr/>
        </p:nvSpPr>
        <p:spPr>
          <a:xfrm>
            <a:off x="429768" y="1143000"/>
            <a:ext cx="3922776" cy="1417320"/>
          </a:xfrm>
          <a:prstGeom prst="roundRect">
            <a:avLst>
              <a:gd name="adj" fmla="val 8000"/>
            </a:avLst>
          </a:prstGeom>
          <a:solidFill>
            <a:srgbClr val="FFFFFF"/>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t"/>
          <a:lstStyle/>
          <a:p>
            <a:endParaRPr/>
          </a:p>
        </p:txBody>
      </p:sp>
      <p:sp>
        <p:nvSpPr>
          <p:cNvPr id="5" name="Badge 01"/>
          <p:cNvSpPr/>
          <p:nvPr/>
        </p:nvSpPr>
        <p:spPr>
          <a:xfrm>
            <a:off x="576072" y="1289304"/>
            <a:ext cx="384048" cy="384048"/>
          </a:xfrm>
          <a:prstGeom prst="ellipse">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buNone/>
            </a:pPr>
            <a:r>
              <a:rPr sz="1200" b="1" i="0">
                <a:solidFill>
                  <a:srgbClr val="FFFFFF"/>
                </a:solidFill>
                <a:latin typeface="Arial"/>
              </a:rPr>
              <a:t>01</a:t>
            </a:r>
          </a:p>
        </p:txBody>
      </p:sp>
      <p:sp>
        <p:nvSpPr>
          <p:cNvPr id="6" name="TextBox 5"/>
          <p:cNvSpPr txBox="1"/>
          <p:nvPr/>
        </p:nvSpPr>
        <p:spPr>
          <a:xfrm>
            <a:off x="1069848" y="1289304"/>
            <a:ext cx="3136392" cy="411480"/>
          </a:xfrm>
          <a:prstGeom prst="rect">
            <a:avLst/>
          </a:prstGeom>
          <a:noFill/>
        </p:spPr>
        <p:txBody>
          <a:bodyPr wrap="square" lIns="0" tIns="0" rIns="0" bIns="0" anchor="ctr"/>
          <a:lstStyle/>
          <a:p>
            <a:pPr algn="l">
              <a:spcAft>
                <a:spcPts val="0"/>
              </a:spcAft>
              <a:buNone/>
            </a:pPr>
            <a:r>
              <a:rPr sz="1500" b="1" i="0">
                <a:solidFill>
                  <a:srgbClr val="1A1A1A"/>
                </a:solidFill>
                <a:latin typeface="Arial"/>
              </a:rPr>
              <a:t>Two-stage fusion</a:t>
            </a:r>
          </a:p>
        </p:txBody>
      </p:sp>
      <p:sp>
        <p:nvSpPr>
          <p:cNvPr id="7" name="TextBox 6"/>
          <p:cNvSpPr txBox="1"/>
          <p:nvPr/>
        </p:nvSpPr>
        <p:spPr>
          <a:xfrm>
            <a:off x="594360" y="1801368"/>
            <a:ext cx="3611880" cy="667512"/>
          </a:xfrm>
          <a:prstGeom prst="rect">
            <a:avLst/>
          </a:prstGeom>
          <a:noFill/>
        </p:spPr>
        <p:txBody>
          <a:bodyPr wrap="square" lIns="0" tIns="0" rIns="0" bIns="0" anchor="t"/>
          <a:lstStyle/>
          <a:p>
            <a:pPr algn="l">
              <a:spcAft>
                <a:spcPts val="300"/>
              </a:spcAft>
              <a:buNone/>
            </a:pPr>
            <a:r>
              <a:rPr sz="1300" b="0" i="0">
                <a:solidFill>
                  <a:srgbClr val="595959"/>
                </a:solidFill>
                <a:latin typeface="Arial"/>
              </a:rPr>
              <a:t>Joins the image, the URL, and a flag that says if decoding worked.</a:t>
            </a:r>
          </a:p>
        </p:txBody>
      </p:sp>
      <p:sp>
        <p:nvSpPr>
          <p:cNvPr id="8" name="Rounded Rectangle 7"/>
          <p:cNvSpPr/>
          <p:nvPr/>
        </p:nvSpPr>
        <p:spPr>
          <a:xfrm>
            <a:off x="4535424" y="1143000"/>
            <a:ext cx="3922776" cy="141732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t"/>
          <a:lstStyle/>
          <a:p>
            <a:endParaRPr/>
          </a:p>
        </p:txBody>
      </p:sp>
      <p:sp>
        <p:nvSpPr>
          <p:cNvPr id="9" name="Badge 02"/>
          <p:cNvSpPr/>
          <p:nvPr/>
        </p:nvSpPr>
        <p:spPr>
          <a:xfrm>
            <a:off x="4681728" y="1289304"/>
            <a:ext cx="384048" cy="384048"/>
          </a:xfrm>
          <a:prstGeom prst="ellipse">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buNone/>
            </a:pPr>
            <a:r>
              <a:rPr sz="1200" b="1" i="0">
                <a:solidFill>
                  <a:srgbClr val="FFFFFF"/>
                </a:solidFill>
                <a:latin typeface="Arial"/>
              </a:rPr>
              <a:t>02</a:t>
            </a:r>
          </a:p>
        </p:txBody>
      </p:sp>
      <p:sp>
        <p:nvSpPr>
          <p:cNvPr id="10" name="TextBox 9"/>
          <p:cNvSpPr txBox="1"/>
          <p:nvPr/>
        </p:nvSpPr>
        <p:spPr>
          <a:xfrm>
            <a:off x="5175504" y="1289304"/>
            <a:ext cx="3136392" cy="411480"/>
          </a:xfrm>
          <a:prstGeom prst="rect">
            <a:avLst/>
          </a:prstGeom>
          <a:noFill/>
        </p:spPr>
        <p:txBody>
          <a:bodyPr wrap="square" lIns="0" tIns="0" rIns="0" bIns="0" anchor="ctr"/>
          <a:lstStyle/>
          <a:p>
            <a:pPr algn="l">
              <a:spcAft>
                <a:spcPts val="0"/>
              </a:spcAft>
              <a:buNone/>
            </a:pPr>
            <a:r>
              <a:rPr sz="1500" b="1" i="0">
                <a:solidFill>
                  <a:srgbClr val="1A1A1A"/>
                </a:solidFill>
                <a:latin typeface="Arial"/>
              </a:rPr>
              <a:t>Mixed benchmark</a:t>
            </a:r>
          </a:p>
        </p:txBody>
      </p:sp>
      <p:sp>
        <p:nvSpPr>
          <p:cNvPr id="11" name="TextBox 10"/>
          <p:cNvSpPr txBox="1"/>
          <p:nvPr/>
        </p:nvSpPr>
        <p:spPr>
          <a:xfrm>
            <a:off x="4700016" y="1801368"/>
            <a:ext cx="3611880" cy="667512"/>
          </a:xfrm>
          <a:prstGeom prst="rect">
            <a:avLst/>
          </a:prstGeom>
          <a:noFill/>
        </p:spPr>
        <p:txBody>
          <a:bodyPr wrap="square" lIns="0" tIns="0" rIns="0" bIns="0" anchor="t"/>
          <a:lstStyle/>
          <a:p>
            <a:pPr algn="l">
              <a:spcAft>
                <a:spcPts val="300"/>
              </a:spcAft>
              <a:buNone/>
            </a:pPr>
            <a:r>
              <a:rPr sz="1300" b="0" i="0">
                <a:solidFill>
                  <a:srgbClr val="595959"/>
                </a:solidFill>
                <a:latin typeface="Arial"/>
              </a:rPr>
              <a:t>21,998 test samples from two independent datasets.</a:t>
            </a:r>
          </a:p>
        </p:txBody>
      </p:sp>
      <p:sp>
        <p:nvSpPr>
          <p:cNvPr id="12" name="Rounded Rectangle 11"/>
          <p:cNvSpPr/>
          <p:nvPr/>
        </p:nvSpPr>
        <p:spPr>
          <a:xfrm>
            <a:off x="429768" y="2715768"/>
            <a:ext cx="3922776" cy="141732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t"/>
          <a:lstStyle/>
          <a:p>
            <a:endParaRPr/>
          </a:p>
        </p:txBody>
      </p:sp>
      <p:sp>
        <p:nvSpPr>
          <p:cNvPr id="13" name="Badge 03"/>
          <p:cNvSpPr/>
          <p:nvPr/>
        </p:nvSpPr>
        <p:spPr>
          <a:xfrm>
            <a:off x="576072" y="2862072"/>
            <a:ext cx="384048" cy="384048"/>
          </a:xfrm>
          <a:prstGeom prst="ellipse">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buNone/>
            </a:pPr>
            <a:r>
              <a:rPr sz="1200" b="1" i="0">
                <a:solidFill>
                  <a:srgbClr val="FFFFFF"/>
                </a:solidFill>
                <a:latin typeface="Arial"/>
              </a:rPr>
              <a:t>03</a:t>
            </a:r>
          </a:p>
        </p:txBody>
      </p:sp>
      <p:sp>
        <p:nvSpPr>
          <p:cNvPr id="14" name="TextBox 13"/>
          <p:cNvSpPr txBox="1"/>
          <p:nvPr/>
        </p:nvSpPr>
        <p:spPr>
          <a:xfrm>
            <a:off x="1069848" y="2862072"/>
            <a:ext cx="3136392" cy="411480"/>
          </a:xfrm>
          <a:prstGeom prst="rect">
            <a:avLst/>
          </a:prstGeom>
          <a:noFill/>
        </p:spPr>
        <p:txBody>
          <a:bodyPr wrap="square" lIns="0" tIns="0" rIns="0" bIns="0" anchor="ctr"/>
          <a:lstStyle/>
          <a:p>
            <a:pPr algn="l">
              <a:spcAft>
                <a:spcPts val="0"/>
              </a:spcAft>
              <a:buNone/>
            </a:pPr>
            <a:r>
              <a:rPr sz="1500" b="1" i="0">
                <a:solidFill>
                  <a:srgbClr val="1A1A1A"/>
                </a:solidFill>
                <a:latin typeface="Arial"/>
              </a:rPr>
              <a:t>Cross-dataset test</a:t>
            </a:r>
          </a:p>
        </p:txBody>
      </p:sp>
      <p:sp>
        <p:nvSpPr>
          <p:cNvPr id="15" name="TextBox 14"/>
          <p:cNvSpPr txBox="1"/>
          <p:nvPr/>
        </p:nvSpPr>
        <p:spPr>
          <a:xfrm>
            <a:off x="594360" y="3374136"/>
            <a:ext cx="3611880" cy="667512"/>
          </a:xfrm>
          <a:prstGeom prst="rect">
            <a:avLst/>
          </a:prstGeom>
          <a:noFill/>
        </p:spPr>
        <p:txBody>
          <a:bodyPr wrap="square" lIns="0" tIns="0" rIns="0" bIns="0" anchor="t"/>
          <a:lstStyle/>
          <a:p>
            <a:pPr algn="l">
              <a:spcAft>
                <a:spcPts val="300"/>
              </a:spcAft>
              <a:buNone/>
            </a:pPr>
            <a:r>
              <a:rPr sz="1300" b="0" i="0">
                <a:solidFill>
                  <a:srgbClr val="595959"/>
                </a:solidFill>
                <a:latin typeface="Arial"/>
              </a:rPr>
              <a:t>Shows that training on only one dataset is not enough.</a:t>
            </a:r>
          </a:p>
        </p:txBody>
      </p:sp>
      <p:sp>
        <p:nvSpPr>
          <p:cNvPr id="16" name="Rounded Rectangle 15"/>
          <p:cNvSpPr/>
          <p:nvPr/>
        </p:nvSpPr>
        <p:spPr>
          <a:xfrm>
            <a:off x="4535424" y="2715768"/>
            <a:ext cx="3922776" cy="141732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t"/>
          <a:lstStyle/>
          <a:p>
            <a:endParaRPr/>
          </a:p>
        </p:txBody>
      </p:sp>
      <p:sp>
        <p:nvSpPr>
          <p:cNvPr id="17" name="Badge 04"/>
          <p:cNvSpPr/>
          <p:nvPr/>
        </p:nvSpPr>
        <p:spPr>
          <a:xfrm>
            <a:off x="4681728" y="2862072"/>
            <a:ext cx="384048" cy="384048"/>
          </a:xfrm>
          <a:prstGeom prst="ellipse">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buNone/>
            </a:pPr>
            <a:r>
              <a:rPr sz="1200" b="1" i="0">
                <a:solidFill>
                  <a:srgbClr val="FFFFFF"/>
                </a:solidFill>
                <a:latin typeface="Arial"/>
              </a:rPr>
              <a:t>04</a:t>
            </a:r>
          </a:p>
        </p:txBody>
      </p:sp>
      <p:sp>
        <p:nvSpPr>
          <p:cNvPr id="18" name="TextBox 17"/>
          <p:cNvSpPr txBox="1"/>
          <p:nvPr/>
        </p:nvSpPr>
        <p:spPr>
          <a:xfrm>
            <a:off x="5175504" y="2862072"/>
            <a:ext cx="3136392" cy="411480"/>
          </a:xfrm>
          <a:prstGeom prst="rect">
            <a:avLst/>
          </a:prstGeom>
          <a:noFill/>
        </p:spPr>
        <p:txBody>
          <a:bodyPr wrap="square" lIns="0" tIns="0" rIns="0" bIns="0" anchor="ctr"/>
          <a:lstStyle/>
          <a:p>
            <a:pPr algn="l">
              <a:spcAft>
                <a:spcPts val="0"/>
              </a:spcAft>
              <a:buNone/>
            </a:pPr>
            <a:r>
              <a:rPr sz="1500" b="1" i="0">
                <a:solidFill>
                  <a:srgbClr val="1A1A1A"/>
                </a:solidFill>
                <a:latin typeface="Arial"/>
              </a:rPr>
              <a:t>Two-level explainability</a:t>
            </a:r>
          </a:p>
        </p:txBody>
      </p:sp>
      <p:sp>
        <p:nvSpPr>
          <p:cNvPr id="19" name="TextBox 18"/>
          <p:cNvSpPr txBox="1"/>
          <p:nvPr/>
        </p:nvSpPr>
        <p:spPr>
          <a:xfrm>
            <a:off x="4700016" y="3374136"/>
            <a:ext cx="3611880" cy="667512"/>
          </a:xfrm>
          <a:prstGeom prst="rect">
            <a:avLst/>
          </a:prstGeom>
          <a:noFill/>
        </p:spPr>
        <p:txBody>
          <a:bodyPr wrap="square" lIns="0" tIns="0" rIns="0" bIns="0" anchor="t"/>
          <a:lstStyle/>
          <a:p>
            <a:pPr algn="l">
              <a:spcAft>
                <a:spcPts val="300"/>
              </a:spcAft>
              <a:buNone/>
            </a:pPr>
            <a:r>
              <a:rPr sz="1300" b="0" i="0">
                <a:solidFill>
                  <a:srgbClr val="595959"/>
                </a:solidFill>
                <a:latin typeface="Arial"/>
              </a:rPr>
              <a:t>Grad-CAM on the pixels and SHAP on the embedding.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1"/>
          <p:cNvCxnSpPr/>
          <p:nvPr/>
        </p:nvCxnSpPr>
        <p:spPr>
          <a:xfrm>
            <a:off x="1216152" y="2231136"/>
            <a:ext cx="2560320" cy="0"/>
          </a:xfrm>
          <a:prstGeom prst="line">
            <a:avLst/>
          </a:prstGeom>
          <a:ln w="19050">
            <a:solidFill>
              <a:srgbClr val="00BFFF"/>
            </a:solidFill>
          </a:ln>
        </p:spPr>
        <p:style>
          <a:lnRef idx="2">
            <a:schemeClr val="accent1"/>
          </a:lnRef>
          <a:fillRef idx="0">
            <a:schemeClr val="accent1"/>
          </a:fillRef>
          <a:effectRef idx="1">
            <a:schemeClr val="accent1"/>
          </a:effectRef>
          <a:fontRef idx="minor">
            <a:schemeClr val="tx1"/>
          </a:fontRef>
        </p:style>
      </p:cxnSp>
      <p:sp>
        <p:nvSpPr>
          <p:cNvPr id="3" name="Section title"/>
          <p:cNvSpPr txBox="1"/>
          <p:nvPr/>
        </p:nvSpPr>
        <p:spPr>
          <a:xfrm>
            <a:off x="1216152" y="2304288"/>
            <a:ext cx="2788920" cy="548640"/>
          </a:xfrm>
          <a:prstGeom prst="rect">
            <a:avLst/>
          </a:prstGeom>
          <a:noFill/>
        </p:spPr>
        <p:txBody>
          <a:bodyPr wrap="square" lIns="18288" tIns="0" rIns="18288" bIns="0" anchor="t"/>
          <a:lstStyle/>
          <a:p>
            <a:pPr algn="l">
              <a:spcAft>
                <a:spcPts val="300"/>
              </a:spcAft>
              <a:buNone/>
            </a:pPr>
            <a:r>
              <a:rPr sz="2000" b="1" i="0">
                <a:solidFill>
                  <a:srgbClr val="00BFFF"/>
                </a:solidFill>
                <a:latin typeface="Arial"/>
              </a:rPr>
              <a:t>Methodology</a:t>
            </a:r>
          </a:p>
        </p:txBody>
      </p:sp>
      <p:sp>
        <p:nvSpPr>
          <p:cNvPr id="4" name="Section question"/>
          <p:cNvSpPr txBox="1"/>
          <p:nvPr/>
        </p:nvSpPr>
        <p:spPr>
          <a:xfrm>
            <a:off x="3794760" y="2304288"/>
            <a:ext cx="4663440" cy="822960"/>
          </a:xfrm>
          <a:prstGeom prst="rect">
            <a:avLst/>
          </a:prstGeom>
          <a:noFill/>
        </p:spPr>
        <p:txBody>
          <a:bodyPr wrap="square" lIns="18288" tIns="0" rIns="18288" bIns="0" anchor="t"/>
          <a:lstStyle/>
          <a:p>
            <a:pPr algn="l">
              <a:spcAft>
                <a:spcPts val="300"/>
              </a:spcAft>
              <a:buNone/>
            </a:pPr>
            <a:r>
              <a:rPr sz="2000" b="1" i="0">
                <a:solidFill>
                  <a:srgbClr val="1A1A1A"/>
                </a:solidFill>
                <a:latin typeface="Arial"/>
              </a:rPr>
              <a:t>How the two stages fit together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29768" y="201168"/>
            <a:ext cx="7589520" cy="502920"/>
          </a:xfrm>
          <a:prstGeom prst="rect">
            <a:avLst/>
          </a:prstGeom>
          <a:noFill/>
        </p:spPr>
        <p:txBody>
          <a:bodyPr wrap="square" lIns="18288" tIns="0" rIns="18288" bIns="0" anchor="t"/>
          <a:lstStyle/>
          <a:p>
            <a:pPr algn="l">
              <a:spcAft>
                <a:spcPts val="200"/>
              </a:spcAft>
              <a:buNone/>
            </a:pPr>
            <a:r>
              <a:rPr sz="2000" b="1" i="0">
                <a:solidFill>
                  <a:srgbClr val="00BFFF"/>
                </a:solidFill>
                <a:latin typeface="Arial"/>
              </a:rPr>
              <a:t>Methodology Overview</a:t>
            </a:r>
          </a:p>
        </p:txBody>
      </p:sp>
      <p:pic>
        <p:nvPicPr>
          <p:cNvPr id="3" name="Picture 2" descr="fig_pipeline.png"/>
          <p:cNvPicPr>
            <a:picLocks noChangeAspect="1"/>
          </p:cNvPicPr>
          <p:nvPr/>
        </p:nvPicPr>
        <p:blipFill>
          <a:blip r:embed="rId3"/>
          <a:stretch>
            <a:fillRect/>
          </a:stretch>
        </p:blipFill>
        <p:spPr>
          <a:xfrm>
            <a:off x="960120" y="786384"/>
            <a:ext cx="7223760" cy="3235642"/>
          </a:xfrm>
          <a:prstGeom prst="rect">
            <a:avLst/>
          </a:prstGeom>
        </p:spPr>
      </p:pic>
      <p:sp>
        <p:nvSpPr>
          <p:cNvPr id="4" name="Rounded Rectangle 3"/>
          <p:cNvSpPr/>
          <p:nvPr/>
        </p:nvSpPr>
        <p:spPr>
          <a:xfrm>
            <a:off x="960120" y="4078224"/>
            <a:ext cx="7223760" cy="420624"/>
          </a:xfrm>
          <a:prstGeom prst="roundRect">
            <a:avLst>
              <a:gd name="adj" fmla="val 8000"/>
            </a:avLst>
          </a:prstGeom>
          <a:solidFill>
            <a:srgbClr val="EAF7FD"/>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spcAft>
                <a:spcPts val="0"/>
              </a:spcAft>
              <a:buNone/>
            </a:pPr>
            <a:r>
              <a:rPr sz="1300" b="1" i="0">
                <a:solidFill>
                  <a:srgbClr val="1A1A1A"/>
                </a:solidFill>
                <a:latin typeface="Arial"/>
              </a:rPr>
              <a:t>P(phishing | x)  =  σ( fusion( visual logit ℓ</a:t>
            </a:r>
            <a:r>
              <a:rPr sz="1300" b="1" i="0" baseline="-25000">
                <a:solidFill>
                  <a:srgbClr val="1A1A1A"/>
                </a:solidFill>
                <a:latin typeface="Arial"/>
              </a:rPr>
              <a:t>v</a:t>
            </a:r>
            <a:r>
              <a:rPr sz="1300" b="1" i="0">
                <a:solidFill>
                  <a:srgbClr val="1A1A1A"/>
                </a:solidFill>
                <a:latin typeface="Arial"/>
              </a:rPr>
              <a:t> ,  text logit ℓ</a:t>
            </a:r>
            <a:r>
              <a:rPr sz="1300" b="1" i="0" baseline="-25000">
                <a:solidFill>
                  <a:srgbClr val="1A1A1A"/>
                </a:solidFill>
                <a:latin typeface="Arial"/>
              </a:rPr>
              <a:t>t</a:t>
            </a:r>
            <a:r>
              <a:rPr sz="1300" b="1" i="0">
                <a:solidFill>
                  <a:srgbClr val="1A1A1A"/>
                </a:solidFill>
                <a:latin typeface="Arial"/>
              </a:rPr>
              <a:t> ,  decode flag f )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29768" y="201168"/>
            <a:ext cx="7589520" cy="502920"/>
          </a:xfrm>
          <a:prstGeom prst="rect">
            <a:avLst/>
          </a:prstGeom>
          <a:noFill/>
        </p:spPr>
        <p:txBody>
          <a:bodyPr wrap="square" lIns="18288" tIns="0" rIns="18288" bIns="0" anchor="t"/>
          <a:lstStyle/>
          <a:p>
            <a:pPr algn="l">
              <a:spcAft>
                <a:spcPts val="200"/>
              </a:spcAft>
              <a:buNone/>
            </a:pPr>
            <a:r>
              <a:rPr sz="2000" b="1" i="0">
                <a:solidFill>
                  <a:srgbClr val="00BFFF"/>
                </a:solidFill>
                <a:latin typeface="Arial"/>
              </a:rPr>
              <a:t>Visual branch — two-phase training</a:t>
            </a:r>
          </a:p>
        </p:txBody>
      </p:sp>
      <p:sp>
        <p:nvSpPr>
          <p:cNvPr id="3" name="Subtitle"/>
          <p:cNvSpPr txBox="1"/>
          <p:nvPr/>
        </p:nvSpPr>
        <p:spPr>
          <a:xfrm>
            <a:off x="429768" y="749808"/>
            <a:ext cx="8028432" cy="274320"/>
          </a:xfrm>
          <a:prstGeom prst="rect">
            <a:avLst/>
          </a:prstGeom>
          <a:noFill/>
        </p:spPr>
        <p:txBody>
          <a:bodyPr wrap="square" lIns="18288" tIns="0" rIns="18288" bIns="0" anchor="t"/>
          <a:lstStyle/>
          <a:p>
            <a:pPr algn="l">
              <a:spcAft>
                <a:spcPts val="300"/>
              </a:spcAft>
              <a:buNone/>
            </a:pPr>
            <a:r>
              <a:rPr sz="1200" b="1" i="0">
                <a:solidFill>
                  <a:srgbClr val="00BFFF"/>
                </a:solidFill>
                <a:latin typeface="Arial"/>
              </a:rPr>
              <a:t>Learns QR patterns from the image itself — no decoding needed</a:t>
            </a:r>
          </a:p>
        </p:txBody>
      </p:sp>
      <p:sp>
        <p:nvSpPr>
          <p:cNvPr id="4" name="Rounded Rectangle 3"/>
          <p:cNvSpPr/>
          <p:nvPr/>
        </p:nvSpPr>
        <p:spPr>
          <a:xfrm>
            <a:off x="429768" y="1170432"/>
            <a:ext cx="1600200" cy="160020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wrap="square" lIns="128016" tIns="109728" rIns="128016" bIns="109728" rtlCol="0" anchor="t"/>
          <a:lstStyle/>
          <a:p>
            <a:pPr algn="l">
              <a:spcAft>
                <a:spcPts val="600"/>
              </a:spcAft>
              <a:buNone/>
            </a:pPr>
            <a:r>
              <a:rPr sz="1300" b="1" i="0">
                <a:solidFill>
                  <a:srgbClr val="1A1A1A"/>
                </a:solidFill>
                <a:latin typeface="Arial"/>
              </a:rPr>
              <a:t>Input</a:t>
            </a:r>
          </a:p>
          <a:p>
            <a:pPr algn="l">
              <a:spcAft>
                <a:spcPts val="0"/>
              </a:spcAft>
              <a:buNone/>
            </a:pPr>
            <a:r>
              <a:rPr sz="1200" b="0" i="0">
                <a:solidFill>
                  <a:srgbClr val="595959"/>
                </a:solidFill>
                <a:latin typeface="Arial"/>
              </a:rPr>
              <a:t>Grayscale QR image, 224 × 224</a:t>
            </a:r>
          </a:p>
        </p:txBody>
      </p:sp>
      <p:sp>
        <p:nvSpPr>
          <p:cNvPr id="5" name="Flow arrow"/>
          <p:cNvSpPr/>
          <p:nvPr/>
        </p:nvSpPr>
        <p:spPr>
          <a:xfrm>
            <a:off x="2057400" y="1856232"/>
            <a:ext cx="219456" cy="274320"/>
          </a:xfrm>
          <a:prstGeom prst="rightArrow">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2295144" y="1170432"/>
            <a:ext cx="2148840" cy="1600200"/>
          </a:xfrm>
          <a:prstGeom prst="roundRect">
            <a:avLst>
              <a:gd name="adj" fmla="val 8000"/>
            </a:avLst>
          </a:prstGeom>
          <a:solidFill>
            <a:srgbClr val="FFFFFF"/>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wrap="square" lIns="128016" tIns="109728" rIns="128016" bIns="109728" rtlCol="0" anchor="t"/>
          <a:lstStyle/>
          <a:p>
            <a:pPr algn="l">
              <a:spcAft>
                <a:spcPts val="600"/>
              </a:spcAft>
              <a:buNone/>
            </a:pPr>
            <a:r>
              <a:rPr sz="1300" b="1" i="0">
                <a:solidFill>
                  <a:srgbClr val="00BFFF"/>
                </a:solidFill>
                <a:latin typeface="Arial"/>
              </a:rPr>
              <a:t>Phase 1 · Siamese pretraining</a:t>
            </a:r>
          </a:p>
          <a:p>
            <a:pPr algn="l">
              <a:spcAft>
                <a:spcPts val="0"/>
              </a:spcAft>
              <a:buNone/>
            </a:pPr>
            <a:r>
              <a:rPr sz="1200" b="0" i="0">
                <a:solidFill>
                  <a:srgbClr val="595959"/>
                </a:solidFill>
                <a:latin typeface="Arial"/>
              </a:rPr>
              <a:t>Contrastive loss: same class → close, different class → far</a:t>
            </a:r>
          </a:p>
        </p:txBody>
      </p:sp>
      <p:sp>
        <p:nvSpPr>
          <p:cNvPr id="7" name="Flow arrow"/>
          <p:cNvSpPr/>
          <p:nvPr/>
        </p:nvSpPr>
        <p:spPr>
          <a:xfrm>
            <a:off x="4471416" y="1856232"/>
            <a:ext cx="219456" cy="274320"/>
          </a:xfrm>
          <a:prstGeom prst="rightArrow">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709160" y="1170432"/>
            <a:ext cx="2148840" cy="1600200"/>
          </a:xfrm>
          <a:prstGeom prst="roundRect">
            <a:avLst>
              <a:gd name="adj" fmla="val 8000"/>
            </a:avLst>
          </a:prstGeom>
          <a:solidFill>
            <a:srgbClr val="FFFFFF"/>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wrap="square" lIns="128016" tIns="109728" rIns="128016" bIns="109728" rtlCol="0" anchor="t"/>
          <a:lstStyle/>
          <a:p>
            <a:pPr algn="l">
              <a:spcAft>
                <a:spcPts val="600"/>
              </a:spcAft>
              <a:buNone/>
            </a:pPr>
            <a:r>
              <a:rPr sz="1300" b="1" i="0">
                <a:solidFill>
                  <a:srgbClr val="00BFFF"/>
                </a:solidFill>
                <a:latin typeface="Arial"/>
              </a:rPr>
              <a:t>Phase 2 · Fine-tuning</a:t>
            </a:r>
          </a:p>
          <a:p>
            <a:pPr algn="l">
              <a:spcAft>
                <a:spcPts val="0"/>
              </a:spcAft>
              <a:buNone/>
            </a:pPr>
            <a:r>
              <a:rPr sz="1200" b="0" i="0">
                <a:solidFill>
                  <a:srgbClr val="595959"/>
                </a:solidFill>
                <a:latin typeface="Arial"/>
              </a:rPr>
              <a:t>Focal loss: more weight on hard examples. Best model at epoch 8</a:t>
            </a:r>
          </a:p>
        </p:txBody>
      </p:sp>
      <p:sp>
        <p:nvSpPr>
          <p:cNvPr id="9" name="Flow arrow"/>
          <p:cNvSpPr/>
          <p:nvPr/>
        </p:nvSpPr>
        <p:spPr>
          <a:xfrm>
            <a:off x="6885432" y="1856232"/>
            <a:ext cx="219456" cy="274320"/>
          </a:xfrm>
          <a:prstGeom prst="rightArrow">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123176" y="1170432"/>
            <a:ext cx="1335024" cy="160020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wrap="square" lIns="128016" tIns="109728" rIns="128016" bIns="109728" rtlCol="0" anchor="t"/>
          <a:lstStyle/>
          <a:p>
            <a:pPr algn="l">
              <a:spcAft>
                <a:spcPts val="600"/>
              </a:spcAft>
              <a:buNone/>
            </a:pPr>
            <a:r>
              <a:rPr sz="1300" b="1" i="0">
                <a:solidFill>
                  <a:srgbClr val="1A1A1A"/>
                </a:solidFill>
                <a:latin typeface="Arial"/>
              </a:rPr>
              <a:t>Output</a:t>
            </a:r>
          </a:p>
          <a:p>
            <a:pPr algn="l">
              <a:spcAft>
                <a:spcPts val="0"/>
              </a:spcAft>
              <a:buNone/>
            </a:pPr>
            <a:r>
              <a:rPr sz="1200" b="0" i="0">
                <a:solidFill>
                  <a:srgbClr val="595959"/>
                </a:solidFill>
                <a:latin typeface="Arial"/>
              </a:rPr>
              <a:t>Visual logit ℓ</a:t>
            </a:r>
            <a:r>
              <a:rPr sz="1200" b="0" i="0" baseline="-25000">
                <a:solidFill>
                  <a:srgbClr val="595959"/>
                </a:solidFill>
                <a:latin typeface="Arial"/>
              </a:rPr>
              <a:t>v</a:t>
            </a:r>
          </a:p>
        </p:txBody>
      </p:sp>
      <p:sp>
        <p:nvSpPr>
          <p:cNvPr id="11" name="Rounded Rectangle 10"/>
          <p:cNvSpPr/>
          <p:nvPr/>
        </p:nvSpPr>
        <p:spPr>
          <a:xfrm>
            <a:off x="429768" y="3035808"/>
            <a:ext cx="2560320" cy="109728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spcAft>
                <a:spcPts val="200"/>
              </a:spcAft>
              <a:buNone/>
            </a:pPr>
            <a:r>
              <a:rPr sz="2000" b="1" i="0">
                <a:solidFill>
                  <a:srgbClr val="00BFFF"/>
                </a:solidFill>
                <a:latin typeface="Arial"/>
              </a:rPr>
              <a:t>MobileNetV2</a:t>
            </a:r>
          </a:p>
          <a:p>
            <a:pPr algn="ctr">
              <a:spcAft>
                <a:spcPts val="0"/>
              </a:spcAft>
              <a:buNone/>
            </a:pPr>
            <a:r>
              <a:rPr sz="1100" b="0" i="0">
                <a:solidFill>
                  <a:srgbClr val="595959"/>
                </a:solidFill>
                <a:latin typeface="Arial"/>
              </a:rPr>
              <a:t>small, fast backbone (1 input channel)</a:t>
            </a:r>
          </a:p>
        </p:txBody>
      </p:sp>
      <p:sp>
        <p:nvSpPr>
          <p:cNvPr id="12" name="Rounded Rectangle 11"/>
          <p:cNvSpPr/>
          <p:nvPr/>
        </p:nvSpPr>
        <p:spPr>
          <a:xfrm>
            <a:off x="3163824" y="3035808"/>
            <a:ext cx="2560320" cy="109728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spcAft>
                <a:spcPts val="200"/>
              </a:spcAft>
              <a:buNone/>
            </a:pPr>
            <a:r>
              <a:rPr sz="2400" b="1" i="0">
                <a:solidFill>
                  <a:srgbClr val="00BFFF"/>
                </a:solidFill>
                <a:latin typeface="Arial"/>
              </a:rPr>
              <a:t>3.08 M</a:t>
            </a:r>
          </a:p>
          <a:p>
            <a:pPr algn="ctr">
              <a:spcAft>
                <a:spcPts val="0"/>
              </a:spcAft>
              <a:buNone/>
            </a:pPr>
            <a:r>
              <a:rPr sz="1100" b="0" i="0">
                <a:solidFill>
                  <a:srgbClr val="595959"/>
                </a:solidFill>
                <a:latin typeface="Arial"/>
              </a:rPr>
              <a:t>parameters</a:t>
            </a:r>
          </a:p>
        </p:txBody>
      </p:sp>
      <p:sp>
        <p:nvSpPr>
          <p:cNvPr id="13" name="Rounded Rectangle 12"/>
          <p:cNvSpPr/>
          <p:nvPr/>
        </p:nvSpPr>
        <p:spPr>
          <a:xfrm>
            <a:off x="5897880" y="3035808"/>
            <a:ext cx="2560320" cy="1097280"/>
          </a:xfrm>
          <a:prstGeom prst="roundRect">
            <a:avLst>
              <a:gd name="adj" fmla="val 8000"/>
            </a:avLst>
          </a:prstGeom>
          <a:solidFill>
            <a:srgbClr val="FFFFFF"/>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spcAft>
                <a:spcPts val="200"/>
              </a:spcAft>
              <a:buNone/>
            </a:pPr>
            <a:r>
              <a:rPr sz="2200" b="1" i="0">
                <a:solidFill>
                  <a:srgbClr val="00BFFF"/>
                </a:solidFill>
                <a:latin typeface="Arial"/>
              </a:rPr>
              <a:t>0.896 → 0.915</a:t>
            </a:r>
          </a:p>
          <a:p>
            <a:pPr algn="ctr">
              <a:spcAft>
                <a:spcPts val="0"/>
              </a:spcAft>
              <a:buNone/>
            </a:pPr>
            <a:r>
              <a:rPr sz="1100" b="0" i="0">
                <a:solidFill>
                  <a:srgbClr val="595959"/>
                </a:solidFill>
                <a:latin typeface="Arial"/>
              </a:rPr>
              <a:t>AUC with image flip + 2-model ensemble at test time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29768" y="201168"/>
            <a:ext cx="7589520" cy="502920"/>
          </a:xfrm>
          <a:prstGeom prst="rect">
            <a:avLst/>
          </a:prstGeom>
          <a:noFill/>
        </p:spPr>
        <p:txBody>
          <a:bodyPr wrap="square" lIns="18288" tIns="0" rIns="18288" bIns="0" anchor="t"/>
          <a:lstStyle/>
          <a:p>
            <a:pPr algn="l">
              <a:spcAft>
                <a:spcPts val="200"/>
              </a:spcAft>
              <a:buNone/>
            </a:pPr>
            <a:r>
              <a:rPr sz="2000" b="1" i="0">
                <a:solidFill>
                  <a:srgbClr val="00BFFF"/>
                </a:solidFill>
                <a:latin typeface="Arial"/>
              </a:rPr>
              <a:t>Text branch and fusion module</a:t>
            </a:r>
          </a:p>
        </p:txBody>
      </p:sp>
      <p:sp>
        <p:nvSpPr>
          <p:cNvPr id="3" name="Subtitle"/>
          <p:cNvSpPr txBox="1"/>
          <p:nvPr/>
        </p:nvSpPr>
        <p:spPr>
          <a:xfrm>
            <a:off x="429768" y="749808"/>
            <a:ext cx="8028432" cy="274320"/>
          </a:xfrm>
          <a:prstGeom prst="rect">
            <a:avLst/>
          </a:prstGeom>
          <a:noFill/>
        </p:spPr>
        <p:txBody>
          <a:bodyPr wrap="square" lIns="18288" tIns="0" rIns="18288" bIns="0" anchor="t"/>
          <a:lstStyle/>
          <a:p>
            <a:pPr algn="l">
              <a:spcAft>
                <a:spcPts val="300"/>
              </a:spcAft>
              <a:buNone/>
            </a:pPr>
            <a:r>
              <a:rPr sz="1200" b="1" i="0">
                <a:solidFill>
                  <a:srgbClr val="00BFFF"/>
                </a:solidFill>
                <a:latin typeface="Arial"/>
              </a:rPr>
              <a:t>Reads the URL offline, then learns how much to trust each branch</a:t>
            </a:r>
          </a:p>
        </p:txBody>
      </p:sp>
      <p:sp>
        <p:nvSpPr>
          <p:cNvPr id="4" name="Rounded Rectangle 3"/>
          <p:cNvSpPr/>
          <p:nvPr/>
        </p:nvSpPr>
        <p:spPr>
          <a:xfrm>
            <a:off x="429768" y="1143000"/>
            <a:ext cx="3922776" cy="178308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wrap="square" lIns="164592" tIns="109728" rIns="164592" bIns="109728" rtlCol="0" anchor="t"/>
          <a:lstStyle/>
          <a:p>
            <a:pPr algn="l">
              <a:spcAft>
                <a:spcPts val="600"/>
              </a:spcAft>
              <a:buNone/>
            </a:pPr>
            <a:r>
              <a:rPr sz="1400" b="1" i="0">
                <a:solidFill>
                  <a:srgbClr val="00BFFF"/>
                </a:solidFill>
                <a:latin typeface="Arial"/>
              </a:rPr>
              <a:t>Text branch · post-decode</a:t>
            </a:r>
          </a:p>
          <a:p>
            <a:pPr marL="155448" indent="-155448" algn="l">
              <a:spcAft>
                <a:spcPts val="400"/>
              </a:spcAft>
              <a:buClr>
                <a:srgbClr val="00BFFF"/>
              </a:buClr>
              <a:buFont typeface="Arial"/>
              <a:buChar char="•"/>
            </a:pPr>
            <a:r>
              <a:rPr sz="1200" b="0" i="0">
                <a:solidFill>
                  <a:srgbClr val="1A1A1A"/>
                </a:solidFill>
                <a:latin typeface="Arial"/>
              </a:rPr>
              <a:t>pyzbar decodes the QR locally — no internet, the link is never opened</a:t>
            </a:r>
          </a:p>
          <a:p>
            <a:pPr marL="155448" indent="-155448" algn="l">
              <a:spcAft>
                <a:spcPts val="400"/>
              </a:spcAft>
              <a:buClr>
                <a:srgbClr val="00BFFF"/>
              </a:buClr>
              <a:buFont typeface="Arial"/>
              <a:buChar char="•"/>
            </a:pPr>
            <a:r>
              <a:rPr sz="1200" b="0" i="0">
                <a:solidFill>
                  <a:srgbClr val="1A1A1A"/>
                </a:solidFill>
                <a:latin typeface="Arial"/>
              </a:rPr>
              <a:t>DistilBERT reads the URL</a:t>
            </a:r>
          </a:p>
          <a:p>
            <a:pPr marL="155448" indent="-155448" algn="l">
              <a:spcAft>
                <a:spcPts val="0"/>
              </a:spcAft>
              <a:buClr>
                <a:srgbClr val="00BFFF"/>
              </a:buClr>
              <a:buFont typeface="Arial"/>
              <a:buChar char="•"/>
            </a:pPr>
            <a:r>
              <a:rPr sz="1200" b="0" i="0">
                <a:solidFill>
                  <a:srgbClr val="1A1A1A"/>
                </a:solidFill>
                <a:latin typeface="Arial"/>
              </a:rPr>
              <a:t>If decoding fails: special &lt;UNDECODABLE&gt; token</a:t>
            </a:r>
          </a:p>
        </p:txBody>
      </p:sp>
      <p:sp>
        <p:nvSpPr>
          <p:cNvPr id="5" name="Rounded Rectangle 4"/>
          <p:cNvSpPr/>
          <p:nvPr/>
        </p:nvSpPr>
        <p:spPr>
          <a:xfrm>
            <a:off x="4535424" y="1143000"/>
            <a:ext cx="3922776" cy="178308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wrap="square" lIns="164592" tIns="109728" rIns="164592" bIns="109728" rtlCol="0" anchor="t"/>
          <a:lstStyle/>
          <a:p>
            <a:pPr algn="l">
              <a:spcAft>
                <a:spcPts val="600"/>
              </a:spcAft>
              <a:buNone/>
            </a:pPr>
            <a:r>
              <a:rPr sz="1400" b="1" i="0">
                <a:solidFill>
                  <a:srgbClr val="00BFFF"/>
                </a:solidFill>
                <a:latin typeface="Arial"/>
              </a:rPr>
              <a:t>Fusion module</a:t>
            </a:r>
          </a:p>
          <a:p>
            <a:pPr marL="155448" indent="-155448" algn="l">
              <a:spcAft>
                <a:spcPts val="400"/>
              </a:spcAft>
              <a:buClr>
                <a:srgbClr val="00BFFF"/>
              </a:buClr>
              <a:buFont typeface="Arial"/>
              <a:buChar char="•"/>
            </a:pPr>
            <a:r>
              <a:rPr sz="1200" b="0" i="0">
                <a:solidFill>
                  <a:srgbClr val="1A1A1A"/>
                </a:solidFill>
                <a:latin typeface="Arial"/>
              </a:rPr>
              <a:t>Tiny MLP: 3 inputs → 16 → 1</a:t>
            </a:r>
          </a:p>
          <a:p>
            <a:pPr marL="155448" indent="-155448" algn="l">
              <a:spcAft>
                <a:spcPts val="400"/>
              </a:spcAft>
              <a:buClr>
                <a:srgbClr val="00BFFF"/>
              </a:buClr>
              <a:buFont typeface="Arial"/>
              <a:buChar char="•"/>
            </a:pPr>
            <a:r>
              <a:rPr sz="1200" b="0" i="0">
                <a:solidFill>
                  <a:srgbClr val="1A1A1A"/>
                </a:solidFill>
                <a:latin typeface="Arial"/>
              </a:rPr>
              <a:t>Only 81 parameters</a:t>
            </a:r>
          </a:p>
          <a:p>
            <a:pPr marL="155448" indent="-155448" algn="l">
              <a:spcAft>
                <a:spcPts val="0"/>
              </a:spcAft>
              <a:buClr>
                <a:srgbClr val="00BFFF"/>
              </a:buClr>
              <a:buFont typeface="Arial"/>
              <a:buChar char="•"/>
            </a:pPr>
            <a:r>
              <a:rPr sz="1200" b="0" i="0">
                <a:solidFill>
                  <a:srgbClr val="1A1A1A"/>
                </a:solidFill>
                <a:latin typeface="Arial"/>
              </a:rPr>
              <a:t>Trains in under 1 minute on a CPU</a:t>
            </a:r>
          </a:p>
        </p:txBody>
      </p:sp>
      <p:sp>
        <p:nvSpPr>
          <p:cNvPr id="6" name="Rounded Rectangle 5"/>
          <p:cNvSpPr/>
          <p:nvPr/>
        </p:nvSpPr>
        <p:spPr>
          <a:xfrm>
            <a:off x="429768" y="3127248"/>
            <a:ext cx="3922776" cy="841248"/>
          </a:xfrm>
          <a:prstGeom prst="roundRect">
            <a:avLst>
              <a:gd name="adj" fmla="val 8000"/>
            </a:avLst>
          </a:prstGeom>
          <a:solidFill>
            <a:srgbClr val="EAF7FD"/>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wrap="square" lIns="164592" tIns="109728" rIns="164592" bIns="109728" rtlCol="0" anchor="ctr"/>
          <a:lstStyle/>
          <a:p>
            <a:pPr algn="l">
              <a:spcAft>
                <a:spcPts val="200"/>
              </a:spcAft>
              <a:buNone/>
            </a:pPr>
            <a:r>
              <a:rPr sz="1300" b="1" i="0">
                <a:solidFill>
                  <a:srgbClr val="1A1A1A"/>
                </a:solidFill>
                <a:latin typeface="Arial"/>
              </a:rPr>
              <a:t>Decoding works  ·  f = 0</a:t>
            </a:r>
          </a:p>
          <a:p>
            <a:pPr algn="l">
              <a:spcAft>
                <a:spcPts val="0"/>
              </a:spcAft>
              <a:buNone/>
            </a:pPr>
            <a:r>
              <a:rPr sz="1300" b="1" i="0">
                <a:solidFill>
                  <a:srgbClr val="00BFFF"/>
                </a:solidFill>
                <a:latin typeface="Arial"/>
              </a:rPr>
              <a:t>→  Trust the text branch more</a:t>
            </a:r>
          </a:p>
        </p:txBody>
      </p:sp>
      <p:sp>
        <p:nvSpPr>
          <p:cNvPr id="7" name="Rounded Rectangle 6"/>
          <p:cNvSpPr/>
          <p:nvPr/>
        </p:nvSpPr>
        <p:spPr>
          <a:xfrm>
            <a:off x="4535424" y="3127248"/>
            <a:ext cx="3922776" cy="841248"/>
          </a:xfrm>
          <a:prstGeom prst="roundRect">
            <a:avLst>
              <a:gd name="adj" fmla="val 8000"/>
            </a:avLst>
          </a:prstGeom>
          <a:solidFill>
            <a:srgbClr val="EAF7FD"/>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wrap="square" lIns="164592" tIns="109728" rIns="164592" bIns="109728" rtlCol="0" anchor="ctr"/>
          <a:lstStyle/>
          <a:p>
            <a:pPr algn="l">
              <a:spcAft>
                <a:spcPts val="200"/>
              </a:spcAft>
              <a:buNone/>
            </a:pPr>
            <a:r>
              <a:rPr sz="1300" b="1" i="0">
                <a:solidFill>
                  <a:srgbClr val="1A1A1A"/>
                </a:solidFill>
                <a:latin typeface="Arial"/>
              </a:rPr>
              <a:t>Decoding fails  ·  f = 1</a:t>
            </a:r>
          </a:p>
          <a:p>
            <a:pPr algn="l">
              <a:spcAft>
                <a:spcPts val="0"/>
              </a:spcAft>
              <a:buNone/>
            </a:pPr>
            <a:r>
              <a:rPr sz="1300" b="1" i="0">
                <a:solidFill>
                  <a:srgbClr val="00BFFF"/>
                </a:solidFill>
                <a:latin typeface="Arial"/>
              </a:rPr>
              <a:t>→  Trust the visual branch</a:t>
            </a:r>
          </a:p>
        </p:txBody>
      </p:sp>
      <p:sp>
        <p:nvSpPr>
          <p:cNvPr id="8" name="TextBox 7"/>
          <p:cNvSpPr txBox="1"/>
          <p:nvPr/>
        </p:nvSpPr>
        <p:spPr>
          <a:xfrm>
            <a:off x="429768" y="4069080"/>
            <a:ext cx="8028432" cy="274320"/>
          </a:xfrm>
          <a:prstGeom prst="rect">
            <a:avLst/>
          </a:prstGeom>
          <a:noFill/>
        </p:spPr>
        <p:txBody>
          <a:bodyPr wrap="square" lIns="0" tIns="0" rIns="0" bIns="0" anchor="t"/>
          <a:lstStyle/>
          <a:p>
            <a:pPr algn="ctr">
              <a:spcAft>
                <a:spcPts val="300"/>
              </a:spcAft>
              <a:buNone/>
            </a:pPr>
            <a:r>
              <a:rPr sz="1200" b="0" i="1">
                <a:solidFill>
                  <a:srgbClr val="595959"/>
                </a:solidFill>
                <a:latin typeface="Arial"/>
              </a:rPr>
              <a:t>The model learns this by itself — no hand-written rules.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1"/>
          <p:cNvCxnSpPr/>
          <p:nvPr/>
        </p:nvCxnSpPr>
        <p:spPr>
          <a:xfrm>
            <a:off x="1216152" y="2231136"/>
            <a:ext cx="2560320" cy="0"/>
          </a:xfrm>
          <a:prstGeom prst="line">
            <a:avLst/>
          </a:prstGeom>
          <a:ln w="19050">
            <a:solidFill>
              <a:srgbClr val="00BFFF"/>
            </a:solidFill>
          </a:ln>
        </p:spPr>
        <p:style>
          <a:lnRef idx="2">
            <a:schemeClr val="accent1"/>
          </a:lnRef>
          <a:fillRef idx="0">
            <a:schemeClr val="accent1"/>
          </a:fillRef>
          <a:effectRef idx="1">
            <a:schemeClr val="accent1"/>
          </a:effectRef>
          <a:fontRef idx="minor">
            <a:schemeClr val="tx1"/>
          </a:fontRef>
        </p:style>
      </p:cxnSp>
      <p:sp>
        <p:nvSpPr>
          <p:cNvPr id="3" name="Section title"/>
          <p:cNvSpPr txBox="1"/>
          <p:nvPr/>
        </p:nvSpPr>
        <p:spPr>
          <a:xfrm>
            <a:off x="1216152" y="2304288"/>
            <a:ext cx="2788920" cy="548640"/>
          </a:xfrm>
          <a:prstGeom prst="rect">
            <a:avLst/>
          </a:prstGeom>
          <a:noFill/>
        </p:spPr>
        <p:txBody>
          <a:bodyPr wrap="square" lIns="18288" tIns="0" rIns="18288" bIns="0" anchor="t"/>
          <a:lstStyle/>
          <a:p>
            <a:pPr algn="l">
              <a:spcAft>
                <a:spcPts val="300"/>
              </a:spcAft>
              <a:buNone/>
            </a:pPr>
            <a:r>
              <a:rPr sz="2000" b="1" i="0">
                <a:solidFill>
                  <a:srgbClr val="00BFFF"/>
                </a:solidFill>
                <a:latin typeface="Arial"/>
              </a:rPr>
              <a:t>Experimentation</a:t>
            </a:r>
          </a:p>
        </p:txBody>
      </p:sp>
      <p:sp>
        <p:nvSpPr>
          <p:cNvPr id="4" name="Section question"/>
          <p:cNvSpPr txBox="1"/>
          <p:nvPr/>
        </p:nvSpPr>
        <p:spPr>
          <a:xfrm>
            <a:off x="3794760" y="2304288"/>
            <a:ext cx="4663440" cy="822960"/>
          </a:xfrm>
          <a:prstGeom prst="rect">
            <a:avLst/>
          </a:prstGeom>
          <a:noFill/>
        </p:spPr>
        <p:txBody>
          <a:bodyPr wrap="square" lIns="18288" tIns="0" rIns="18288" bIns="0" anchor="t"/>
          <a:lstStyle/>
          <a:p>
            <a:pPr algn="l">
              <a:spcAft>
                <a:spcPts val="300"/>
              </a:spcAft>
              <a:buNone/>
            </a:pPr>
            <a:r>
              <a:rPr sz="2000" b="1" i="0">
                <a:solidFill>
                  <a:srgbClr val="1A1A1A"/>
                </a:solidFill>
                <a:latin typeface="Arial"/>
              </a:rPr>
              <a:t>Two datasets, one joint benchmark</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29768" y="201168"/>
            <a:ext cx="7589520" cy="502920"/>
          </a:xfrm>
          <a:prstGeom prst="rect">
            <a:avLst/>
          </a:prstGeom>
          <a:noFill/>
        </p:spPr>
        <p:txBody>
          <a:bodyPr wrap="square" lIns="18288" tIns="0" rIns="18288" bIns="0" anchor="t"/>
          <a:lstStyle/>
          <a:p>
            <a:pPr algn="l">
              <a:spcAft>
                <a:spcPts val="200"/>
              </a:spcAft>
              <a:buNone/>
            </a:pPr>
            <a:r>
              <a:rPr sz="2000" b="1" i="0">
                <a:solidFill>
                  <a:srgbClr val="00BFFF"/>
                </a:solidFill>
                <a:latin typeface="Arial"/>
              </a:rPr>
              <a:t>Datasets</a:t>
            </a:r>
          </a:p>
        </p:txBody>
      </p:sp>
      <p:sp>
        <p:nvSpPr>
          <p:cNvPr id="3" name="Subtitle"/>
          <p:cNvSpPr txBox="1"/>
          <p:nvPr/>
        </p:nvSpPr>
        <p:spPr>
          <a:xfrm>
            <a:off x="429768" y="749808"/>
            <a:ext cx="8028432" cy="274320"/>
          </a:xfrm>
          <a:prstGeom prst="rect">
            <a:avLst/>
          </a:prstGeom>
          <a:noFill/>
        </p:spPr>
        <p:txBody>
          <a:bodyPr wrap="square" lIns="18288" tIns="0" rIns="18288" bIns="0" anchor="t"/>
          <a:lstStyle/>
          <a:p>
            <a:pPr algn="l">
              <a:spcAft>
                <a:spcPts val="300"/>
              </a:spcAft>
              <a:buNone/>
            </a:pPr>
            <a:r>
              <a:rPr sz="1200" b="1" i="0">
                <a:solidFill>
                  <a:srgbClr val="00BFFF"/>
                </a:solidFill>
                <a:latin typeface="Arial"/>
              </a:rPr>
              <a:t>Two very different datasets — on purpose</a:t>
            </a:r>
          </a:p>
        </p:txBody>
      </p:sp>
      <p:graphicFrame>
        <p:nvGraphicFramePr>
          <p:cNvPr id="4" name="Table 3"/>
          <p:cNvGraphicFramePr>
            <a:graphicFrameLocks noGrp="1"/>
          </p:cNvGraphicFramePr>
          <p:nvPr/>
        </p:nvGraphicFramePr>
        <p:xfrm>
          <a:off x="429768" y="1143000"/>
          <a:ext cx="5120640" cy="2194560"/>
        </p:xfrm>
        <a:graphic>
          <a:graphicData uri="http://schemas.openxmlformats.org/drawingml/2006/table">
            <a:tbl>
              <a:tblPr firstRow="1">
                <a:tableStyleId>{5C22544A-7EE6-4342-B048-85BDC9FD1C3A}</a:tableStyleId>
              </a:tblPr>
              <a:tblGrid>
                <a:gridCol w="173736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tblGrid>
              <a:tr h="365760">
                <a:tc>
                  <a:txBody>
                    <a:bodyPr/>
                    <a:lstStyle/>
                    <a:p>
                      <a:pPr algn="l">
                        <a:spcAft>
                          <a:spcPts val="0"/>
                        </a:spcAft>
                        <a:buNone/>
                      </a:pPr>
                      <a:endParaRPr/>
                    </a:p>
                  </a:txBody>
                  <a:tcPr marL="73152" marR="73152" marT="27432" marB="27432" anchor="ctr">
                    <a:solidFill>
                      <a:srgbClr val="1A1A2E"/>
                    </a:solidFill>
                  </a:tcPr>
                </a:tc>
                <a:tc>
                  <a:txBody>
                    <a:bodyPr/>
                    <a:lstStyle/>
                    <a:p>
                      <a:pPr algn="ctr">
                        <a:spcAft>
                          <a:spcPts val="0"/>
                        </a:spcAft>
                        <a:buNone/>
                      </a:pPr>
                      <a:r>
                        <a:rPr sz="1200" b="1" i="0">
                          <a:solidFill>
                            <a:srgbClr val="FFFFFF"/>
                          </a:solidFill>
                          <a:latin typeface="Arial"/>
                        </a:rPr>
                        <a:t>Trad et al. 2025</a:t>
                      </a:r>
                    </a:p>
                  </a:txBody>
                  <a:tcPr marL="73152" marR="73152" marT="27432" marB="27432" anchor="ctr">
                    <a:solidFill>
                      <a:srgbClr val="1A1A2E"/>
                    </a:solidFill>
                  </a:tcPr>
                </a:tc>
                <a:tc>
                  <a:txBody>
                    <a:bodyPr/>
                    <a:lstStyle/>
                    <a:p>
                      <a:pPr algn="ctr">
                        <a:spcAft>
                          <a:spcPts val="0"/>
                        </a:spcAft>
                        <a:buNone/>
                      </a:pPr>
                      <a:r>
                        <a:rPr sz="1200" b="1" i="0">
                          <a:solidFill>
                            <a:srgbClr val="FFFFFF"/>
                          </a:solidFill>
                          <a:latin typeface="Arial"/>
                        </a:rPr>
                        <a:t>CIC-Trap4Phish 2025</a:t>
                      </a:r>
                    </a:p>
                  </a:txBody>
                  <a:tcPr marL="73152" marR="73152" marT="27432" marB="27432" anchor="ctr">
                    <a:solidFill>
                      <a:srgbClr val="1A1A2E"/>
                    </a:solidFill>
                  </a:tcPr>
                </a:tc>
                <a:extLst>
                  <a:ext uri="{0D108BD9-81ED-4DB2-BD59-A6C34878D82A}">
                    <a16:rowId xmlns:a16="http://schemas.microsoft.com/office/drawing/2014/main" val="10000"/>
                  </a:ext>
                </a:extLst>
              </a:tr>
              <a:tr h="365760">
                <a:tc>
                  <a:txBody>
                    <a:bodyPr/>
                    <a:lstStyle/>
                    <a:p>
                      <a:pPr algn="l">
                        <a:spcAft>
                          <a:spcPts val="0"/>
                        </a:spcAft>
                        <a:buNone/>
                      </a:pPr>
                      <a:r>
                        <a:rPr sz="1200" b="0" i="0">
                          <a:solidFill>
                            <a:srgbClr val="1A1A1A"/>
                          </a:solidFill>
                          <a:latin typeface="Arial"/>
                        </a:rPr>
                        <a:t>Samples</a:t>
                      </a:r>
                    </a:p>
                  </a:txBody>
                  <a:tcPr marL="73152" marR="73152" marT="27432" marB="27432" anchor="ctr">
                    <a:solidFill>
                      <a:srgbClr val="FFFFFF"/>
                    </a:solidFill>
                  </a:tcPr>
                </a:tc>
                <a:tc>
                  <a:txBody>
                    <a:bodyPr/>
                    <a:lstStyle/>
                    <a:p>
                      <a:pPr algn="ctr">
                        <a:spcAft>
                          <a:spcPts val="0"/>
                        </a:spcAft>
                        <a:buNone/>
                      </a:pPr>
                      <a:r>
                        <a:rPr sz="1200" b="0" i="0">
                          <a:solidFill>
                            <a:srgbClr val="1A1A1A"/>
                          </a:solidFill>
                          <a:latin typeface="Arial"/>
                        </a:rPr>
                        <a:t>9,987</a:t>
                      </a:r>
                    </a:p>
                  </a:txBody>
                  <a:tcPr marL="73152" marR="73152" marT="27432" marB="27432" anchor="ctr">
                    <a:solidFill>
                      <a:srgbClr val="FFFFFF"/>
                    </a:solidFill>
                  </a:tcPr>
                </a:tc>
                <a:tc>
                  <a:txBody>
                    <a:bodyPr/>
                    <a:lstStyle/>
                    <a:p>
                      <a:pPr algn="ctr">
                        <a:spcAft>
                          <a:spcPts val="0"/>
                        </a:spcAft>
                        <a:buNone/>
                      </a:pPr>
                      <a:r>
                        <a:rPr sz="1200" b="0" i="0">
                          <a:solidFill>
                            <a:srgbClr val="1A1A1A"/>
                          </a:solidFill>
                          <a:latin typeface="Arial"/>
                        </a:rPr>
                        <a:t>1,005,738</a:t>
                      </a:r>
                    </a:p>
                  </a:txBody>
                  <a:tcPr marL="73152" marR="73152" marT="27432" marB="27432" anchor="ctr">
                    <a:solidFill>
                      <a:srgbClr val="FFFFFF"/>
                    </a:solidFill>
                  </a:tcPr>
                </a:tc>
                <a:extLst>
                  <a:ext uri="{0D108BD9-81ED-4DB2-BD59-A6C34878D82A}">
                    <a16:rowId xmlns:a16="http://schemas.microsoft.com/office/drawing/2014/main" val="10001"/>
                  </a:ext>
                </a:extLst>
              </a:tr>
              <a:tr h="365760">
                <a:tc>
                  <a:txBody>
                    <a:bodyPr/>
                    <a:lstStyle/>
                    <a:p>
                      <a:pPr algn="l">
                        <a:spcAft>
                          <a:spcPts val="0"/>
                        </a:spcAft>
                        <a:buNone/>
                      </a:pPr>
                      <a:r>
                        <a:rPr sz="1200" b="0" i="0">
                          <a:solidFill>
                            <a:srgbClr val="1A1A1A"/>
                          </a:solidFill>
                          <a:latin typeface="Arial"/>
                        </a:rPr>
                        <a:t>Source</a:t>
                      </a:r>
                    </a:p>
                  </a:txBody>
                  <a:tcPr marL="73152" marR="73152" marT="27432" marB="27432" anchor="ctr">
                    <a:solidFill>
                      <a:srgbClr val="F4F6F8"/>
                    </a:solidFill>
                  </a:tcPr>
                </a:tc>
                <a:tc>
                  <a:txBody>
                    <a:bodyPr/>
                    <a:lstStyle/>
                    <a:p>
                      <a:pPr algn="ctr">
                        <a:spcAft>
                          <a:spcPts val="0"/>
                        </a:spcAft>
                        <a:buNone/>
                      </a:pPr>
                      <a:r>
                        <a:rPr sz="1200" b="0" i="0">
                          <a:solidFill>
                            <a:srgbClr val="1A1A1A"/>
                          </a:solidFill>
                          <a:latin typeface="Arial"/>
                        </a:rPr>
                        <a:t>Generated, clean</a:t>
                      </a:r>
                    </a:p>
                  </a:txBody>
                  <a:tcPr marL="73152" marR="73152" marT="27432" marB="27432" anchor="ctr">
                    <a:solidFill>
                      <a:srgbClr val="F4F6F8"/>
                    </a:solidFill>
                  </a:tcPr>
                </a:tc>
                <a:tc>
                  <a:txBody>
                    <a:bodyPr/>
                    <a:lstStyle/>
                    <a:p>
                      <a:pPr algn="ctr">
                        <a:spcAft>
                          <a:spcPts val="0"/>
                        </a:spcAft>
                        <a:buNone/>
                      </a:pPr>
                      <a:r>
                        <a:rPr sz="1200" b="0" i="0">
                          <a:solidFill>
                            <a:srgbClr val="1A1A1A"/>
                          </a:solidFill>
                          <a:latin typeface="Arial"/>
                        </a:rPr>
                        <a:t>Real-world</a:t>
                      </a:r>
                    </a:p>
                  </a:txBody>
                  <a:tcPr marL="73152" marR="73152" marT="27432" marB="27432" anchor="ctr">
                    <a:solidFill>
                      <a:srgbClr val="F4F6F8"/>
                    </a:solidFill>
                  </a:tcPr>
                </a:tc>
                <a:extLst>
                  <a:ext uri="{0D108BD9-81ED-4DB2-BD59-A6C34878D82A}">
                    <a16:rowId xmlns:a16="http://schemas.microsoft.com/office/drawing/2014/main" val="10002"/>
                  </a:ext>
                </a:extLst>
              </a:tr>
              <a:tr h="365760">
                <a:tc>
                  <a:txBody>
                    <a:bodyPr/>
                    <a:lstStyle/>
                    <a:p>
                      <a:pPr algn="l">
                        <a:spcAft>
                          <a:spcPts val="0"/>
                        </a:spcAft>
                        <a:buNone/>
                      </a:pPr>
                      <a:r>
                        <a:rPr sz="1200" b="0" i="0">
                          <a:solidFill>
                            <a:srgbClr val="1A1A1A"/>
                          </a:solidFill>
                          <a:latin typeface="Arial"/>
                        </a:rPr>
                        <a:t>Image size</a:t>
                      </a:r>
                    </a:p>
                  </a:txBody>
                  <a:tcPr marL="73152" marR="73152" marT="27432" marB="27432" anchor="ctr">
                    <a:solidFill>
                      <a:srgbClr val="FFFFFF"/>
                    </a:solidFill>
                  </a:tcPr>
                </a:tc>
                <a:tc>
                  <a:txBody>
                    <a:bodyPr/>
                    <a:lstStyle/>
                    <a:p>
                      <a:pPr algn="ctr">
                        <a:spcAft>
                          <a:spcPts val="0"/>
                        </a:spcAft>
                        <a:buNone/>
                      </a:pPr>
                      <a:r>
                        <a:rPr sz="1200" b="0" i="0">
                          <a:solidFill>
                            <a:srgbClr val="1A1A1A"/>
                          </a:solidFill>
                          <a:latin typeface="Arial"/>
                        </a:rPr>
                        <a:t>69 × 69</a:t>
                      </a:r>
                    </a:p>
                  </a:txBody>
                  <a:tcPr marL="73152" marR="73152" marT="27432" marB="27432" anchor="ctr">
                    <a:solidFill>
                      <a:srgbClr val="FFFFFF"/>
                    </a:solidFill>
                  </a:tcPr>
                </a:tc>
                <a:tc>
                  <a:txBody>
                    <a:bodyPr/>
                    <a:lstStyle/>
                    <a:p>
                      <a:pPr algn="ctr">
                        <a:spcAft>
                          <a:spcPts val="0"/>
                        </a:spcAft>
                        <a:buNone/>
                      </a:pPr>
                      <a:r>
                        <a:rPr sz="1200" b="0" i="0">
                          <a:solidFill>
                            <a:srgbClr val="1A1A1A"/>
                          </a:solidFill>
                          <a:latin typeface="Arial"/>
                        </a:rPr>
                        <a:t>114–582 px</a:t>
                      </a:r>
                    </a:p>
                  </a:txBody>
                  <a:tcPr marL="73152" marR="73152" marT="27432" marB="27432" anchor="ctr">
                    <a:solidFill>
                      <a:srgbClr val="FFFFFF"/>
                    </a:solidFill>
                  </a:tcPr>
                </a:tc>
                <a:extLst>
                  <a:ext uri="{0D108BD9-81ED-4DB2-BD59-A6C34878D82A}">
                    <a16:rowId xmlns:a16="http://schemas.microsoft.com/office/drawing/2014/main" val="10003"/>
                  </a:ext>
                </a:extLst>
              </a:tr>
              <a:tr h="365760">
                <a:tc>
                  <a:txBody>
                    <a:bodyPr/>
                    <a:lstStyle/>
                    <a:p>
                      <a:pPr algn="l">
                        <a:spcAft>
                          <a:spcPts val="0"/>
                        </a:spcAft>
                        <a:buNone/>
                      </a:pPr>
                      <a:r>
                        <a:rPr sz="1200" b="0" i="0">
                          <a:solidFill>
                            <a:srgbClr val="1A1A1A"/>
                          </a:solidFill>
                          <a:latin typeface="Arial"/>
                        </a:rPr>
                        <a:t>QR versions</a:t>
                      </a:r>
                    </a:p>
                  </a:txBody>
                  <a:tcPr marL="73152" marR="73152" marT="27432" marB="27432" anchor="ctr">
                    <a:solidFill>
                      <a:srgbClr val="F4F6F8"/>
                    </a:solidFill>
                  </a:tcPr>
                </a:tc>
                <a:tc>
                  <a:txBody>
                    <a:bodyPr/>
                    <a:lstStyle/>
                    <a:p>
                      <a:pPr algn="ctr">
                        <a:spcAft>
                          <a:spcPts val="0"/>
                        </a:spcAft>
                        <a:buNone/>
                      </a:pPr>
                      <a:r>
                        <a:rPr sz="1200" b="0" i="0">
                          <a:solidFill>
                            <a:srgbClr val="1A1A1A"/>
                          </a:solidFill>
                          <a:latin typeface="Arial"/>
                        </a:rPr>
                        <a:t>V13</a:t>
                      </a:r>
                    </a:p>
                  </a:txBody>
                  <a:tcPr marL="73152" marR="73152" marT="27432" marB="27432" anchor="ctr">
                    <a:solidFill>
                      <a:srgbClr val="F4F6F8"/>
                    </a:solidFill>
                  </a:tcPr>
                </a:tc>
                <a:tc>
                  <a:txBody>
                    <a:bodyPr/>
                    <a:lstStyle/>
                    <a:p>
                      <a:pPr algn="ctr">
                        <a:spcAft>
                          <a:spcPts val="0"/>
                        </a:spcAft>
                        <a:buNone/>
                      </a:pPr>
                      <a:r>
                        <a:rPr sz="1200" b="0" i="0">
                          <a:solidFill>
                            <a:srgbClr val="1A1A1A"/>
                          </a:solidFill>
                          <a:latin typeface="Arial"/>
                        </a:rPr>
                        <a:t>V5–V30</a:t>
                      </a:r>
                    </a:p>
                  </a:txBody>
                  <a:tcPr marL="73152" marR="73152" marT="27432" marB="27432" anchor="ctr">
                    <a:solidFill>
                      <a:srgbClr val="F4F6F8"/>
                    </a:solidFill>
                  </a:tcPr>
                </a:tc>
                <a:extLst>
                  <a:ext uri="{0D108BD9-81ED-4DB2-BD59-A6C34878D82A}">
                    <a16:rowId xmlns:a16="http://schemas.microsoft.com/office/drawing/2014/main" val="10004"/>
                  </a:ext>
                </a:extLst>
              </a:tr>
              <a:tr h="365760">
                <a:tc>
                  <a:txBody>
                    <a:bodyPr/>
                    <a:lstStyle/>
                    <a:p>
                      <a:pPr algn="l">
                        <a:spcAft>
                          <a:spcPts val="0"/>
                        </a:spcAft>
                        <a:buNone/>
                      </a:pPr>
                      <a:r>
                        <a:rPr sz="1200" b="1" i="0">
                          <a:solidFill>
                            <a:srgbClr val="0090C8"/>
                          </a:solidFill>
                          <a:latin typeface="Arial"/>
                        </a:rPr>
                        <a:t>Decoded offline</a:t>
                      </a:r>
                    </a:p>
                  </a:txBody>
                  <a:tcPr marL="73152" marR="73152" marT="27432" marB="27432" anchor="ctr">
                    <a:solidFill>
                      <a:srgbClr val="EAF7FD"/>
                    </a:solidFill>
                  </a:tcPr>
                </a:tc>
                <a:tc>
                  <a:txBody>
                    <a:bodyPr/>
                    <a:lstStyle/>
                    <a:p>
                      <a:pPr algn="ctr">
                        <a:spcAft>
                          <a:spcPts val="0"/>
                        </a:spcAft>
                        <a:buNone/>
                      </a:pPr>
                      <a:r>
                        <a:rPr sz="1200" b="1" i="0">
                          <a:solidFill>
                            <a:srgbClr val="0090C8"/>
                          </a:solidFill>
                          <a:latin typeface="Arial"/>
                        </a:rPr>
                        <a:t>100%</a:t>
                      </a:r>
                    </a:p>
                  </a:txBody>
                  <a:tcPr marL="73152" marR="73152" marT="27432" marB="27432" anchor="ctr">
                    <a:solidFill>
                      <a:srgbClr val="EAF7FD"/>
                    </a:solidFill>
                  </a:tcPr>
                </a:tc>
                <a:tc>
                  <a:txBody>
                    <a:bodyPr/>
                    <a:lstStyle/>
                    <a:p>
                      <a:pPr algn="ctr">
                        <a:spcAft>
                          <a:spcPts val="0"/>
                        </a:spcAft>
                        <a:buNone/>
                      </a:pPr>
                      <a:r>
                        <a:rPr sz="1200" b="1" i="0">
                          <a:solidFill>
                            <a:srgbClr val="0090C8"/>
                          </a:solidFill>
                          <a:latin typeface="Arial"/>
                        </a:rPr>
                        <a:t>95.7%</a:t>
                      </a:r>
                    </a:p>
                  </a:txBody>
                  <a:tcPr marL="73152" marR="73152" marT="27432" marB="27432" anchor="ctr">
                    <a:solidFill>
                      <a:srgbClr val="EAF7FD"/>
                    </a:solidFill>
                  </a:tcPr>
                </a:tc>
                <a:extLst>
                  <a:ext uri="{0D108BD9-81ED-4DB2-BD59-A6C34878D82A}">
                    <a16:rowId xmlns:a16="http://schemas.microsoft.com/office/drawing/2014/main" val="10005"/>
                  </a:ext>
                </a:extLst>
              </a:tr>
            </a:tbl>
          </a:graphicData>
        </a:graphic>
      </p:graphicFrame>
      <p:sp>
        <p:nvSpPr>
          <p:cNvPr id="5" name="Rounded Rectangle 4"/>
          <p:cNvSpPr/>
          <p:nvPr/>
        </p:nvSpPr>
        <p:spPr>
          <a:xfrm>
            <a:off x="5733288" y="1143000"/>
            <a:ext cx="2724912" cy="2194560"/>
          </a:xfrm>
          <a:prstGeom prst="roundRect">
            <a:avLst>
              <a:gd name="adj" fmla="val 8000"/>
            </a:avLst>
          </a:prstGeom>
          <a:solidFill>
            <a:srgbClr val="FFFFFF"/>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t"/>
          <a:lstStyle/>
          <a:p>
            <a:pPr algn="ctr">
              <a:spcAft>
                <a:spcPts val="200"/>
              </a:spcAft>
              <a:buNone/>
            </a:pPr>
            <a:r>
              <a:rPr sz="1400" b="1" i="0">
                <a:solidFill>
                  <a:srgbClr val="1A1A1A"/>
                </a:solidFill>
                <a:latin typeface="Arial"/>
              </a:rPr>
              <a:t>Joint benchmark</a:t>
            </a:r>
          </a:p>
          <a:p>
            <a:pPr algn="ctr">
              <a:spcAft>
                <a:spcPts val="0"/>
              </a:spcAft>
              <a:buNone/>
            </a:pPr>
            <a:r>
              <a:rPr sz="3000" b="1" i="0">
                <a:solidFill>
                  <a:srgbClr val="00BFFF"/>
                </a:solidFill>
                <a:latin typeface="Arial"/>
              </a:rPr>
              <a:t>21,998</a:t>
            </a:r>
          </a:p>
          <a:p>
            <a:pPr algn="ctr">
              <a:spcAft>
                <a:spcPts val="800"/>
              </a:spcAft>
              <a:buNone/>
            </a:pPr>
            <a:r>
              <a:rPr sz="1200" b="0" i="0">
                <a:solidFill>
                  <a:srgbClr val="595959"/>
                </a:solidFill>
                <a:latin typeface="Arial"/>
              </a:rPr>
              <a:t>test samples</a:t>
            </a:r>
          </a:p>
          <a:p>
            <a:pPr marL="155448" indent="-155448" algn="l">
              <a:spcAft>
                <a:spcPts val="200"/>
              </a:spcAft>
              <a:buClr>
                <a:srgbClr val="00BFFF"/>
              </a:buClr>
              <a:buFont typeface="Arial"/>
              <a:buChar char="•"/>
            </a:pPr>
            <a:r>
              <a:rPr sz="1100" b="0" i="0">
                <a:solidFill>
                  <a:srgbClr val="1A1A1A"/>
                </a:solidFill>
                <a:latin typeface="Arial"/>
              </a:rPr>
              <a:t>50,000 per class from CIC</a:t>
            </a:r>
          </a:p>
          <a:p>
            <a:pPr marL="155448" indent="-155448" algn="l">
              <a:spcAft>
                <a:spcPts val="200"/>
              </a:spcAft>
              <a:buClr>
                <a:srgbClr val="00BFFF"/>
              </a:buClr>
              <a:buFont typeface="Arial"/>
              <a:buChar char="•"/>
            </a:pPr>
            <a:r>
              <a:rPr sz="1100" b="0" i="0">
                <a:solidFill>
                  <a:srgbClr val="1A1A1A"/>
                </a:solidFill>
                <a:latin typeface="Arial"/>
              </a:rPr>
              <a:t>80/20 split on each dataset</a:t>
            </a:r>
          </a:p>
          <a:p>
            <a:pPr marL="155448" indent="-155448" algn="l">
              <a:spcAft>
                <a:spcPts val="0"/>
              </a:spcAft>
              <a:buClr>
                <a:srgbClr val="00BFFF"/>
              </a:buClr>
              <a:buFont typeface="Arial"/>
              <a:buChar char="•"/>
            </a:pPr>
            <a:r>
              <a:rPr sz="1100" b="0" i="0">
                <a:solidFill>
                  <a:srgbClr val="1A1A1A"/>
                </a:solidFill>
                <a:latin typeface="Arial"/>
              </a:rPr>
              <a:t>Train on both training sets</a:t>
            </a:r>
          </a:p>
        </p:txBody>
      </p:sp>
      <p:sp>
        <p:nvSpPr>
          <p:cNvPr id="6" name="Rounded Rectangle 5"/>
          <p:cNvSpPr/>
          <p:nvPr/>
        </p:nvSpPr>
        <p:spPr>
          <a:xfrm>
            <a:off x="429768" y="3566160"/>
            <a:ext cx="8028432" cy="685800"/>
          </a:xfrm>
          <a:prstGeom prst="roundRect">
            <a:avLst>
              <a:gd name="adj" fmla="val 8000"/>
            </a:avLst>
          </a:prstGeom>
          <a:solidFill>
            <a:srgbClr val="EAF7FD"/>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wrap="square" lIns="182880" tIns="109728" rIns="182880" bIns="109728" rtlCol="0" anchor="ctr"/>
          <a:lstStyle/>
          <a:p>
            <a:pPr algn="l">
              <a:spcAft>
                <a:spcPts val="0"/>
              </a:spcAft>
              <a:buNone/>
            </a:pPr>
            <a:r>
              <a:rPr sz="1300" b="0" i="0">
                <a:solidFill>
                  <a:srgbClr val="1A1A1A"/>
                </a:solidFill>
                <a:latin typeface="Arial"/>
              </a:rPr>
              <a:t>The 4.3% of CIC that cannot be decoded is not noise to remove — </a:t>
            </a:r>
            <a:r>
              <a:rPr sz="1300" b="1" i="0">
                <a:solidFill>
                  <a:srgbClr val="1A1A1A"/>
                </a:solidFill>
                <a:latin typeface="Arial"/>
              </a:rPr>
              <a:t>it is exactly where the visual branch is the only signal.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1"/>
          <p:cNvCxnSpPr/>
          <p:nvPr/>
        </p:nvCxnSpPr>
        <p:spPr>
          <a:xfrm>
            <a:off x="1216152" y="2231136"/>
            <a:ext cx="2560320" cy="0"/>
          </a:xfrm>
          <a:prstGeom prst="line">
            <a:avLst/>
          </a:prstGeom>
          <a:ln w="19050">
            <a:solidFill>
              <a:srgbClr val="00BFFF"/>
            </a:solidFill>
          </a:ln>
        </p:spPr>
        <p:style>
          <a:lnRef idx="2">
            <a:schemeClr val="accent1"/>
          </a:lnRef>
          <a:fillRef idx="0">
            <a:schemeClr val="accent1"/>
          </a:fillRef>
          <a:effectRef idx="1">
            <a:schemeClr val="accent1"/>
          </a:effectRef>
          <a:fontRef idx="minor">
            <a:schemeClr val="tx1"/>
          </a:fontRef>
        </p:style>
      </p:cxnSp>
      <p:sp>
        <p:nvSpPr>
          <p:cNvPr id="3" name="Section title"/>
          <p:cNvSpPr txBox="1"/>
          <p:nvPr/>
        </p:nvSpPr>
        <p:spPr>
          <a:xfrm>
            <a:off x="1216152" y="2304288"/>
            <a:ext cx="2788920" cy="548640"/>
          </a:xfrm>
          <a:prstGeom prst="rect">
            <a:avLst/>
          </a:prstGeom>
          <a:noFill/>
        </p:spPr>
        <p:txBody>
          <a:bodyPr wrap="square" lIns="18288" tIns="0" rIns="18288" bIns="0" anchor="t"/>
          <a:lstStyle/>
          <a:p>
            <a:pPr algn="l">
              <a:spcAft>
                <a:spcPts val="300"/>
              </a:spcAft>
              <a:buNone/>
            </a:pPr>
            <a:r>
              <a:rPr sz="2000" b="1" i="0">
                <a:solidFill>
                  <a:srgbClr val="00BFFF"/>
                </a:solidFill>
                <a:latin typeface="Arial"/>
              </a:rPr>
              <a:t>Results</a:t>
            </a:r>
          </a:p>
        </p:txBody>
      </p:sp>
      <p:sp>
        <p:nvSpPr>
          <p:cNvPr id="4" name="Section question"/>
          <p:cNvSpPr txBox="1"/>
          <p:nvPr/>
        </p:nvSpPr>
        <p:spPr>
          <a:xfrm>
            <a:off x="3794760" y="2304288"/>
            <a:ext cx="4663440" cy="822960"/>
          </a:xfrm>
          <a:prstGeom prst="rect">
            <a:avLst/>
          </a:prstGeom>
          <a:noFill/>
        </p:spPr>
        <p:txBody>
          <a:bodyPr wrap="square" lIns="18288" tIns="0" rIns="18288" bIns="0" anchor="t"/>
          <a:lstStyle/>
          <a:p>
            <a:pPr algn="l">
              <a:spcAft>
                <a:spcPts val="300"/>
              </a:spcAft>
              <a:buNone/>
            </a:pPr>
            <a:r>
              <a:rPr sz="2000" b="1" i="0">
                <a:solidFill>
                  <a:srgbClr val="1A1A1A"/>
                </a:solidFill>
                <a:latin typeface="Arial"/>
              </a:rPr>
              <a:t>Six experiments, one benchmark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29768" y="201168"/>
            <a:ext cx="7589520" cy="502920"/>
          </a:xfrm>
          <a:prstGeom prst="rect">
            <a:avLst/>
          </a:prstGeom>
          <a:noFill/>
        </p:spPr>
        <p:txBody>
          <a:bodyPr wrap="square" lIns="18288" tIns="0" rIns="18288" bIns="0" anchor="t"/>
          <a:lstStyle/>
          <a:p>
            <a:pPr algn="l">
              <a:spcAft>
                <a:spcPts val="200"/>
              </a:spcAft>
              <a:buNone/>
            </a:pPr>
            <a:r>
              <a:rPr sz="2000" b="1" i="0">
                <a:solidFill>
                  <a:srgbClr val="00BFFF"/>
                </a:solidFill>
                <a:latin typeface="Arial"/>
              </a:rPr>
              <a:t>Experiment 1 — the visual fallback</a:t>
            </a:r>
          </a:p>
        </p:txBody>
      </p:sp>
      <p:sp>
        <p:nvSpPr>
          <p:cNvPr id="3" name="Subtitle"/>
          <p:cNvSpPr txBox="1"/>
          <p:nvPr/>
        </p:nvSpPr>
        <p:spPr>
          <a:xfrm>
            <a:off x="429768" y="749808"/>
            <a:ext cx="8028432" cy="274320"/>
          </a:xfrm>
          <a:prstGeom prst="rect">
            <a:avLst/>
          </a:prstGeom>
          <a:noFill/>
        </p:spPr>
        <p:txBody>
          <a:bodyPr wrap="square" lIns="18288" tIns="0" rIns="18288" bIns="0" anchor="t"/>
          <a:lstStyle/>
          <a:p>
            <a:pPr algn="l">
              <a:spcAft>
                <a:spcPts val="300"/>
              </a:spcAft>
              <a:buNone/>
            </a:pPr>
            <a:r>
              <a:rPr sz="1200" b="1" i="0">
                <a:solidFill>
                  <a:srgbClr val="00BFFF"/>
                </a:solidFill>
                <a:latin typeface="Arial"/>
              </a:rPr>
              <a:t>How good is Q-Shield when the QR code cannot be decoded?</a:t>
            </a:r>
          </a:p>
        </p:txBody>
      </p:sp>
      <p:graphicFrame>
        <p:nvGraphicFramePr>
          <p:cNvPr id="4" name="AUC chart"/>
          <p:cNvGraphicFramePr>
            <a:graphicFrameLocks noGrp="1"/>
          </p:cNvGraphicFramePr>
          <p:nvPr/>
        </p:nvGraphicFramePr>
        <p:xfrm>
          <a:off x="429768" y="1097280"/>
          <a:ext cx="489204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5" name="Rounded Rectangle 4"/>
          <p:cNvSpPr/>
          <p:nvPr/>
        </p:nvSpPr>
        <p:spPr>
          <a:xfrm>
            <a:off x="5532120" y="1143000"/>
            <a:ext cx="2926080" cy="96012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spcAft>
                <a:spcPts val="200"/>
              </a:spcAft>
              <a:buNone/>
            </a:pPr>
            <a:r>
              <a:rPr sz="2200" b="1" i="0">
                <a:solidFill>
                  <a:srgbClr val="00BFFF"/>
                </a:solidFill>
                <a:latin typeface="Arial"/>
              </a:rPr>
              <a:t>+0.10 AUC</a:t>
            </a:r>
          </a:p>
          <a:p>
            <a:pPr algn="ctr">
              <a:spcAft>
                <a:spcPts val="0"/>
              </a:spcAft>
              <a:buNone/>
            </a:pPr>
            <a:r>
              <a:rPr sz="1100" b="0" i="0">
                <a:solidFill>
                  <a:srgbClr val="595959"/>
                </a:solidFill>
                <a:latin typeface="Arial"/>
              </a:rPr>
              <a:t>over Random Forest and XGBoost</a:t>
            </a:r>
          </a:p>
        </p:txBody>
      </p:sp>
      <p:sp>
        <p:nvSpPr>
          <p:cNvPr id="6" name="Rounded Rectangle 5"/>
          <p:cNvSpPr/>
          <p:nvPr/>
        </p:nvSpPr>
        <p:spPr>
          <a:xfrm>
            <a:off x="5532120" y="2240280"/>
            <a:ext cx="2926080" cy="96012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spcAft>
                <a:spcPts val="200"/>
              </a:spcAft>
              <a:buNone/>
            </a:pPr>
            <a:r>
              <a:rPr sz="2000" b="1" i="0">
                <a:solidFill>
                  <a:srgbClr val="00BFFF"/>
                </a:solidFill>
                <a:latin typeface="Arial"/>
              </a:rPr>
              <a:t>≈ previous best</a:t>
            </a:r>
          </a:p>
          <a:p>
            <a:pPr algn="ctr">
              <a:spcAft>
                <a:spcPts val="0"/>
              </a:spcAft>
              <a:buNone/>
            </a:pPr>
            <a:r>
              <a:rPr sz="1100" b="0" i="0">
                <a:solidFill>
                  <a:srgbClr val="595959"/>
                </a:solidFill>
                <a:latin typeface="Arial"/>
              </a:rPr>
              <a:t>matches Trad et al. (0.913) on a benchmark 11× larger</a:t>
            </a:r>
          </a:p>
        </p:txBody>
      </p:sp>
      <p:sp>
        <p:nvSpPr>
          <p:cNvPr id="7" name="Rounded Rectangle 6"/>
          <p:cNvSpPr/>
          <p:nvPr/>
        </p:nvSpPr>
        <p:spPr>
          <a:xfrm>
            <a:off x="5532120" y="3337560"/>
            <a:ext cx="2926080" cy="868680"/>
          </a:xfrm>
          <a:prstGeom prst="roundRect">
            <a:avLst>
              <a:gd name="adj" fmla="val 8000"/>
            </a:avLst>
          </a:prstGeom>
          <a:solidFill>
            <a:srgbClr val="EAF7FD"/>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l">
              <a:spcAft>
                <a:spcPts val="0"/>
              </a:spcAft>
              <a:buNone/>
            </a:pPr>
            <a:r>
              <a:rPr sz="1200" b="1" i="0">
                <a:solidFill>
                  <a:srgbClr val="1A1A1A"/>
                </a:solidFill>
                <a:latin typeface="Arial"/>
              </a:rPr>
              <a:t>This is the floor of the system: what it still does without the URL.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29768" y="201168"/>
            <a:ext cx="7589520" cy="502920"/>
          </a:xfrm>
          <a:prstGeom prst="rect">
            <a:avLst/>
          </a:prstGeom>
          <a:noFill/>
        </p:spPr>
        <p:txBody>
          <a:bodyPr wrap="square" lIns="18288" tIns="0" rIns="18288" bIns="0" anchor="t"/>
          <a:lstStyle/>
          <a:p>
            <a:pPr algn="l">
              <a:spcAft>
                <a:spcPts val="200"/>
              </a:spcAft>
              <a:buNone/>
            </a:pPr>
            <a:r>
              <a:rPr sz="2000" b="1" i="0">
                <a:solidFill>
                  <a:srgbClr val="00BFFF"/>
                </a:solidFill>
                <a:latin typeface="Arial"/>
              </a:rPr>
              <a:t>Experiment 2 — multimodal fusion</a:t>
            </a:r>
          </a:p>
        </p:txBody>
      </p:sp>
      <p:sp>
        <p:nvSpPr>
          <p:cNvPr id="3" name="Subtitle"/>
          <p:cNvSpPr txBox="1"/>
          <p:nvPr/>
        </p:nvSpPr>
        <p:spPr>
          <a:xfrm>
            <a:off x="429768" y="749808"/>
            <a:ext cx="8028432" cy="274320"/>
          </a:xfrm>
          <a:prstGeom prst="rect">
            <a:avLst/>
          </a:prstGeom>
          <a:noFill/>
        </p:spPr>
        <p:txBody>
          <a:bodyPr wrap="square" lIns="18288" tIns="0" rIns="18288" bIns="0" anchor="t"/>
          <a:lstStyle/>
          <a:p>
            <a:pPr algn="l">
              <a:spcAft>
                <a:spcPts val="300"/>
              </a:spcAft>
              <a:buNone/>
            </a:pPr>
            <a:r>
              <a:rPr sz="1200" b="1" i="0">
                <a:solidFill>
                  <a:srgbClr val="00BFFF"/>
                </a:solidFill>
                <a:latin typeface="Arial"/>
              </a:rPr>
              <a:t>Main result: image + URL together work best</a:t>
            </a:r>
          </a:p>
        </p:txBody>
      </p:sp>
      <p:graphicFrame>
        <p:nvGraphicFramePr>
          <p:cNvPr id="4" name="FNR chart"/>
          <p:cNvGraphicFramePr>
            <a:graphicFrameLocks noGrp="1"/>
          </p:cNvGraphicFramePr>
          <p:nvPr/>
        </p:nvGraphicFramePr>
        <p:xfrm>
          <a:off x="429768" y="1097280"/>
          <a:ext cx="4160520" cy="2377440"/>
        </p:xfrm>
        <a:graphic>
          <a:graphicData uri="http://schemas.openxmlformats.org/drawingml/2006/chart">
            <c:chart xmlns:c="http://schemas.openxmlformats.org/drawingml/2006/chart" xmlns:r="http://schemas.openxmlformats.org/officeDocument/2006/relationships" r:id="rId3"/>
          </a:graphicData>
        </a:graphic>
      </p:graphicFrame>
      <p:sp>
        <p:nvSpPr>
          <p:cNvPr id="5" name="Rounded Rectangle 4"/>
          <p:cNvSpPr/>
          <p:nvPr/>
        </p:nvSpPr>
        <p:spPr>
          <a:xfrm>
            <a:off x="4800600" y="1143000"/>
            <a:ext cx="1783080" cy="1078992"/>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spcAft>
                <a:spcPts val="200"/>
              </a:spcAft>
              <a:buNone/>
            </a:pPr>
            <a:r>
              <a:rPr sz="2400" b="1" i="0">
                <a:solidFill>
                  <a:srgbClr val="00BFFF"/>
                </a:solidFill>
                <a:latin typeface="Arial"/>
              </a:rPr>
              <a:t>0.9749</a:t>
            </a:r>
          </a:p>
          <a:p>
            <a:pPr algn="ctr">
              <a:spcAft>
                <a:spcPts val="0"/>
              </a:spcAft>
              <a:buNone/>
            </a:pPr>
            <a:r>
              <a:rPr sz="1100" b="0" i="0">
                <a:solidFill>
                  <a:srgbClr val="595959"/>
                </a:solidFill>
                <a:latin typeface="Arial"/>
              </a:rPr>
              <a:t>AUC</a:t>
            </a:r>
          </a:p>
        </p:txBody>
      </p:sp>
      <p:sp>
        <p:nvSpPr>
          <p:cNvPr id="6" name="Rounded Rectangle 5"/>
          <p:cNvSpPr/>
          <p:nvPr/>
        </p:nvSpPr>
        <p:spPr>
          <a:xfrm>
            <a:off x="6675120" y="1143000"/>
            <a:ext cx="1783080" cy="1078992"/>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spcAft>
                <a:spcPts val="200"/>
              </a:spcAft>
              <a:buNone/>
            </a:pPr>
            <a:r>
              <a:rPr sz="2400" b="1" i="0">
                <a:solidFill>
                  <a:srgbClr val="00BFFF"/>
                </a:solidFill>
                <a:latin typeface="Arial"/>
              </a:rPr>
              <a:t>0.936</a:t>
            </a:r>
          </a:p>
          <a:p>
            <a:pPr algn="ctr">
              <a:spcAft>
                <a:spcPts val="0"/>
              </a:spcAft>
              <a:buNone/>
            </a:pPr>
            <a:r>
              <a:rPr sz="1100" b="0" i="0">
                <a:solidFill>
                  <a:srgbClr val="595959"/>
                </a:solidFill>
                <a:latin typeface="Arial"/>
              </a:rPr>
              <a:t>F1</a:t>
            </a:r>
          </a:p>
        </p:txBody>
      </p:sp>
      <p:sp>
        <p:nvSpPr>
          <p:cNvPr id="7" name="Rounded Rectangle 6"/>
          <p:cNvSpPr/>
          <p:nvPr/>
        </p:nvSpPr>
        <p:spPr>
          <a:xfrm>
            <a:off x="4800600" y="2359152"/>
            <a:ext cx="1783080" cy="1078992"/>
          </a:xfrm>
          <a:prstGeom prst="roundRect">
            <a:avLst>
              <a:gd name="adj" fmla="val 8000"/>
            </a:avLst>
          </a:prstGeom>
          <a:solidFill>
            <a:srgbClr val="FFFFFF"/>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spcAft>
                <a:spcPts val="200"/>
              </a:spcAft>
              <a:buNone/>
            </a:pPr>
            <a:r>
              <a:rPr sz="2400" b="1" i="0">
                <a:solidFill>
                  <a:srgbClr val="00BFFF"/>
                </a:solidFill>
                <a:latin typeface="Arial"/>
              </a:rPr>
              <a:t>0.057</a:t>
            </a:r>
          </a:p>
          <a:p>
            <a:pPr algn="ctr">
              <a:spcAft>
                <a:spcPts val="0"/>
              </a:spcAft>
              <a:buNone/>
            </a:pPr>
            <a:r>
              <a:rPr sz="1100" b="0" i="0">
                <a:solidFill>
                  <a:srgbClr val="595959"/>
                </a:solidFill>
                <a:latin typeface="Arial"/>
              </a:rPr>
              <a:t>FNR</a:t>
            </a:r>
          </a:p>
        </p:txBody>
      </p:sp>
      <p:sp>
        <p:nvSpPr>
          <p:cNvPr id="8" name="Rounded Rectangle 7"/>
          <p:cNvSpPr/>
          <p:nvPr/>
        </p:nvSpPr>
        <p:spPr>
          <a:xfrm>
            <a:off x="6675120" y="2359152"/>
            <a:ext cx="1783080" cy="1078992"/>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spcAft>
                <a:spcPts val="200"/>
              </a:spcAft>
              <a:buNone/>
            </a:pPr>
            <a:r>
              <a:rPr sz="2400" b="1" i="0">
                <a:solidFill>
                  <a:srgbClr val="00BFFF"/>
                </a:solidFill>
                <a:latin typeface="Arial"/>
              </a:rPr>
              <a:t>3.5×</a:t>
            </a:r>
          </a:p>
          <a:p>
            <a:pPr algn="ctr">
              <a:spcAft>
                <a:spcPts val="0"/>
              </a:spcAft>
              <a:buNone/>
            </a:pPr>
            <a:r>
              <a:rPr sz="1000" b="0" i="0">
                <a:solidFill>
                  <a:srgbClr val="595959"/>
                </a:solidFill>
                <a:latin typeface="Arial"/>
              </a:rPr>
              <a:t>fewer missed attacks than visual only</a:t>
            </a:r>
          </a:p>
        </p:txBody>
      </p:sp>
      <p:sp>
        <p:nvSpPr>
          <p:cNvPr id="9" name="Rounded Rectangle 8"/>
          <p:cNvSpPr/>
          <p:nvPr/>
        </p:nvSpPr>
        <p:spPr>
          <a:xfrm>
            <a:off x="429768" y="3639312"/>
            <a:ext cx="8028432" cy="658368"/>
          </a:xfrm>
          <a:prstGeom prst="roundRect">
            <a:avLst>
              <a:gd name="adj" fmla="val 8000"/>
            </a:avLst>
          </a:prstGeom>
          <a:solidFill>
            <a:srgbClr val="EAF7FD"/>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wrap="square" lIns="182880" tIns="109728" rIns="182880" bIns="109728" rtlCol="0" anchor="ctr"/>
          <a:lstStyle/>
          <a:p>
            <a:pPr algn="l">
              <a:spcAft>
                <a:spcPts val="0"/>
              </a:spcAft>
              <a:buNone/>
            </a:pPr>
            <a:r>
              <a:rPr sz="1300" b="0" i="0">
                <a:solidFill>
                  <a:srgbClr val="1A1A1A"/>
                </a:solidFill>
                <a:latin typeface="Arial"/>
              </a:rPr>
              <a:t>The gain over text-only is small on average (+0.016 AUC), </a:t>
            </a:r>
            <a:r>
              <a:rPr sz="1300" b="1" i="0">
                <a:solidFill>
                  <a:srgbClr val="1A1A1A"/>
                </a:solidFill>
                <a:latin typeface="Arial"/>
              </a:rPr>
              <a:t>but it is concentrated in the 4.3% of codes that cannot be decoded.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29768" y="201168"/>
            <a:ext cx="7589520" cy="502920"/>
          </a:xfrm>
          <a:prstGeom prst="rect">
            <a:avLst/>
          </a:prstGeom>
          <a:noFill/>
        </p:spPr>
        <p:txBody>
          <a:bodyPr wrap="square" lIns="18288" tIns="0" rIns="18288" bIns="0" anchor="t"/>
          <a:lstStyle/>
          <a:p>
            <a:pPr algn="l">
              <a:spcAft>
                <a:spcPts val="200"/>
              </a:spcAft>
              <a:buNone/>
            </a:pPr>
            <a:r>
              <a:rPr sz="2000" b="1" i="0">
                <a:solidFill>
                  <a:srgbClr val="00BFFF"/>
                </a:solidFill>
                <a:latin typeface="Arial"/>
              </a:rPr>
              <a:t>Experiment 3 — ablation study</a:t>
            </a:r>
          </a:p>
        </p:txBody>
      </p:sp>
      <p:sp>
        <p:nvSpPr>
          <p:cNvPr id="3" name="Subtitle"/>
          <p:cNvSpPr txBox="1"/>
          <p:nvPr/>
        </p:nvSpPr>
        <p:spPr>
          <a:xfrm>
            <a:off x="429768" y="749808"/>
            <a:ext cx="8028432" cy="274320"/>
          </a:xfrm>
          <a:prstGeom prst="rect">
            <a:avLst/>
          </a:prstGeom>
          <a:noFill/>
        </p:spPr>
        <p:txBody>
          <a:bodyPr wrap="square" lIns="18288" tIns="0" rIns="18288" bIns="0" anchor="t"/>
          <a:lstStyle/>
          <a:p>
            <a:pPr algn="l">
              <a:spcAft>
                <a:spcPts val="300"/>
              </a:spcAft>
              <a:buNone/>
            </a:pPr>
            <a:r>
              <a:rPr sz="1200" b="1" i="0">
                <a:solidFill>
                  <a:srgbClr val="00BFFF"/>
                </a:solidFill>
                <a:latin typeface="Arial"/>
              </a:rPr>
              <a:t>Every design choice helps us miss fewer attacks</a:t>
            </a:r>
          </a:p>
        </p:txBody>
      </p:sp>
      <p:graphicFrame>
        <p:nvGraphicFramePr>
          <p:cNvPr id="4" name="Ablation chart"/>
          <p:cNvGraphicFramePr>
            <a:graphicFrameLocks noGrp="1"/>
          </p:cNvGraphicFramePr>
          <p:nvPr/>
        </p:nvGraphicFramePr>
        <p:xfrm>
          <a:off x="429768" y="1097280"/>
          <a:ext cx="4434840" cy="2697480"/>
        </p:xfrm>
        <a:graphic>
          <a:graphicData uri="http://schemas.openxmlformats.org/drawingml/2006/chart">
            <c:chart xmlns:c="http://schemas.openxmlformats.org/drawingml/2006/chart" xmlns:r="http://schemas.openxmlformats.org/officeDocument/2006/relationships" r:id="rId3"/>
          </a:graphicData>
        </a:graphic>
      </p:graphicFrame>
      <p:sp>
        <p:nvSpPr>
          <p:cNvPr id="5" name="Rounded Rectangle 4"/>
          <p:cNvSpPr/>
          <p:nvPr/>
        </p:nvSpPr>
        <p:spPr>
          <a:xfrm>
            <a:off x="5074920" y="1188720"/>
            <a:ext cx="3383280" cy="114300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wrap="square" lIns="164592" tIns="109728" rIns="164592" bIns="109728" rtlCol="0" anchor="ctr"/>
          <a:lstStyle/>
          <a:p>
            <a:pPr algn="l">
              <a:spcAft>
                <a:spcPts val="400"/>
              </a:spcAft>
              <a:buNone/>
            </a:pPr>
            <a:r>
              <a:rPr sz="1300" b="1" i="0">
                <a:solidFill>
                  <a:srgbClr val="1A1A1A"/>
                </a:solidFill>
                <a:latin typeface="Arial"/>
              </a:rPr>
              <a:t>Without Siamese pretraining</a:t>
            </a:r>
          </a:p>
          <a:p>
            <a:pPr algn="l">
              <a:spcAft>
                <a:spcPts val="0"/>
              </a:spcAft>
              <a:buNone/>
            </a:pPr>
            <a:r>
              <a:rPr sz="1200" b="0" i="0">
                <a:solidFill>
                  <a:srgbClr val="595959"/>
                </a:solidFill>
                <a:latin typeface="Arial"/>
              </a:rPr>
              <a:t>AUC drops by about 0.02 and FNR goes from 0.202 to 0.267</a:t>
            </a:r>
          </a:p>
        </p:txBody>
      </p:sp>
      <p:sp>
        <p:nvSpPr>
          <p:cNvPr id="6" name="Rounded Rectangle 5"/>
          <p:cNvSpPr/>
          <p:nvPr/>
        </p:nvSpPr>
        <p:spPr>
          <a:xfrm>
            <a:off x="5074920" y="2514600"/>
            <a:ext cx="3383280" cy="114300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wrap="square" lIns="164592" tIns="109728" rIns="164592" bIns="109728" rtlCol="0" anchor="ctr"/>
          <a:lstStyle/>
          <a:p>
            <a:pPr algn="l">
              <a:spcAft>
                <a:spcPts val="400"/>
              </a:spcAft>
              <a:buNone/>
            </a:pPr>
            <a:r>
              <a:rPr sz="1300" b="1" i="0">
                <a:solidFill>
                  <a:srgbClr val="1A1A1A"/>
                </a:solidFill>
                <a:latin typeface="Arial"/>
              </a:rPr>
              <a:t>Without focal loss</a:t>
            </a:r>
          </a:p>
          <a:p>
            <a:pPr algn="l">
              <a:spcAft>
                <a:spcPts val="0"/>
              </a:spcAft>
              <a:buNone/>
            </a:pPr>
            <a:r>
              <a:rPr sz="1200" b="0" i="0">
                <a:solidFill>
                  <a:srgbClr val="595959"/>
                </a:solidFill>
                <a:latin typeface="Arial"/>
              </a:rPr>
              <a:t>AUC is almost the same, but FNR goes from 0.202 to 0.271</a:t>
            </a:r>
          </a:p>
        </p:txBody>
      </p:sp>
      <p:sp>
        <p:nvSpPr>
          <p:cNvPr id="7" name="Rounded Rectangle 6"/>
          <p:cNvSpPr/>
          <p:nvPr/>
        </p:nvSpPr>
        <p:spPr>
          <a:xfrm>
            <a:off x="429768" y="3886200"/>
            <a:ext cx="8028432" cy="457200"/>
          </a:xfrm>
          <a:prstGeom prst="roundRect">
            <a:avLst>
              <a:gd name="adj" fmla="val 8000"/>
            </a:avLst>
          </a:prstGeom>
          <a:solidFill>
            <a:srgbClr val="EAF7FD"/>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0"/>
              </a:spcAft>
              <a:buNone/>
            </a:pPr>
            <a:r>
              <a:rPr sz="1300" b="1" i="0">
                <a:solidFill>
                  <a:srgbClr val="1A1A1A"/>
                </a:solidFill>
                <a:latin typeface="Arial"/>
              </a:rPr>
              <a:t>When a missed attack is expensive, the loss function matters.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29768" y="201168"/>
            <a:ext cx="7589520" cy="502920"/>
          </a:xfrm>
          <a:prstGeom prst="rect">
            <a:avLst/>
          </a:prstGeom>
          <a:noFill/>
        </p:spPr>
        <p:txBody>
          <a:bodyPr wrap="square" lIns="18288" tIns="0" rIns="18288" bIns="0" anchor="t"/>
          <a:lstStyle/>
          <a:p>
            <a:pPr algn="l">
              <a:spcAft>
                <a:spcPts val="200"/>
              </a:spcAft>
              <a:buNone/>
            </a:pPr>
            <a:r>
              <a:rPr sz="2000" b="1" i="0">
                <a:solidFill>
                  <a:srgbClr val="00BFFF"/>
                </a:solidFill>
                <a:latin typeface="Arial"/>
              </a:rPr>
              <a:t>Experiment 4 — cross-dataset generalization</a:t>
            </a:r>
          </a:p>
        </p:txBody>
      </p:sp>
      <p:sp>
        <p:nvSpPr>
          <p:cNvPr id="3" name="Subtitle"/>
          <p:cNvSpPr txBox="1"/>
          <p:nvPr/>
        </p:nvSpPr>
        <p:spPr>
          <a:xfrm>
            <a:off x="429768" y="749808"/>
            <a:ext cx="8028432" cy="274320"/>
          </a:xfrm>
          <a:prstGeom prst="rect">
            <a:avLst/>
          </a:prstGeom>
          <a:noFill/>
        </p:spPr>
        <p:txBody>
          <a:bodyPr wrap="square" lIns="18288" tIns="0" rIns="18288" bIns="0" anchor="t"/>
          <a:lstStyle/>
          <a:p>
            <a:pPr algn="l">
              <a:spcAft>
                <a:spcPts val="300"/>
              </a:spcAft>
              <a:buNone/>
            </a:pPr>
            <a:r>
              <a:rPr sz="1200" b="1" i="0">
                <a:solidFill>
                  <a:srgbClr val="00BFFF"/>
                </a:solidFill>
                <a:latin typeface="Arial"/>
              </a:rPr>
              <a:t>What happens when we train on one dataset and test on the other?</a:t>
            </a:r>
          </a:p>
        </p:txBody>
      </p:sp>
      <p:sp>
        <p:nvSpPr>
          <p:cNvPr id="4" name="Rounded Rectangle 3"/>
          <p:cNvSpPr/>
          <p:nvPr/>
        </p:nvSpPr>
        <p:spPr>
          <a:xfrm>
            <a:off x="429768" y="1188720"/>
            <a:ext cx="2560320" cy="201168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t"/>
          <a:lstStyle/>
          <a:p>
            <a:pPr algn="ctr">
              <a:spcAft>
                <a:spcPts val="600"/>
              </a:spcAft>
              <a:buNone/>
            </a:pPr>
            <a:r>
              <a:rPr sz="1300" b="1" i="0">
                <a:solidFill>
                  <a:srgbClr val="1A1A1A"/>
                </a:solidFill>
                <a:latin typeface="Arial"/>
              </a:rPr>
              <a:t>Train Trad → test CIC</a:t>
            </a:r>
          </a:p>
          <a:p>
            <a:pPr algn="ctr">
              <a:spcAft>
                <a:spcPts val="400"/>
              </a:spcAft>
              <a:buNone/>
            </a:pPr>
            <a:r>
              <a:rPr sz="4000" b="1" i="0">
                <a:solidFill>
                  <a:srgbClr val="C8463D"/>
                </a:solidFill>
                <a:latin typeface="Arial"/>
              </a:rPr>
              <a:t>0.52</a:t>
            </a:r>
          </a:p>
          <a:p>
            <a:pPr algn="ctr">
              <a:spcAft>
                <a:spcPts val="0"/>
              </a:spcAft>
              <a:buNone/>
            </a:pPr>
            <a:r>
              <a:rPr sz="1200" b="0" i="0">
                <a:solidFill>
                  <a:srgbClr val="595959"/>
                </a:solidFill>
                <a:latin typeface="Arial"/>
              </a:rPr>
              <a:t>AUC: almost random</a:t>
            </a:r>
          </a:p>
        </p:txBody>
      </p:sp>
      <p:sp>
        <p:nvSpPr>
          <p:cNvPr id="5" name="Rounded Rectangle 4"/>
          <p:cNvSpPr/>
          <p:nvPr/>
        </p:nvSpPr>
        <p:spPr>
          <a:xfrm>
            <a:off x="3163824" y="1188720"/>
            <a:ext cx="2560320" cy="201168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t"/>
          <a:lstStyle/>
          <a:p>
            <a:pPr algn="ctr">
              <a:spcAft>
                <a:spcPts val="600"/>
              </a:spcAft>
              <a:buNone/>
            </a:pPr>
            <a:r>
              <a:rPr sz="1300" b="1" i="0">
                <a:solidFill>
                  <a:srgbClr val="1A1A1A"/>
                </a:solidFill>
                <a:latin typeface="Arial"/>
              </a:rPr>
              <a:t>Train CIC → test Trad</a:t>
            </a:r>
          </a:p>
          <a:p>
            <a:pPr algn="ctr">
              <a:spcAft>
                <a:spcPts val="400"/>
              </a:spcAft>
              <a:buNone/>
            </a:pPr>
            <a:r>
              <a:rPr sz="4000" b="1" i="0">
                <a:solidFill>
                  <a:srgbClr val="C8463D"/>
                </a:solidFill>
                <a:latin typeface="Arial"/>
              </a:rPr>
              <a:t>0.72</a:t>
            </a:r>
          </a:p>
          <a:p>
            <a:pPr algn="ctr">
              <a:spcAft>
                <a:spcPts val="0"/>
              </a:spcAft>
              <a:buNone/>
            </a:pPr>
            <a:r>
              <a:rPr sz="1200" b="0" i="0">
                <a:solidFill>
                  <a:srgbClr val="595959"/>
                </a:solidFill>
                <a:latin typeface="Arial"/>
              </a:rPr>
              <a:t>AUC: says “phishing” for almost everything</a:t>
            </a:r>
          </a:p>
        </p:txBody>
      </p:sp>
      <p:sp>
        <p:nvSpPr>
          <p:cNvPr id="6" name="Rounded Rectangle 5"/>
          <p:cNvSpPr/>
          <p:nvPr/>
        </p:nvSpPr>
        <p:spPr>
          <a:xfrm>
            <a:off x="5897880" y="1188720"/>
            <a:ext cx="2560320" cy="2011680"/>
          </a:xfrm>
          <a:prstGeom prst="roundRect">
            <a:avLst>
              <a:gd name="adj" fmla="val 8000"/>
            </a:avLst>
          </a:prstGeom>
          <a:solidFill>
            <a:srgbClr val="FFFFFF"/>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wrap="square" lIns="201168" tIns="201168" rIns="201168" bIns="201168" rtlCol="0" anchor="t"/>
          <a:lstStyle/>
          <a:p>
            <a:pPr algn="ctr">
              <a:spcAft>
                <a:spcPts val="600"/>
              </a:spcAft>
              <a:buNone/>
            </a:pPr>
            <a:r>
              <a:rPr sz="1300" b="1" i="0">
                <a:solidFill>
                  <a:srgbClr val="1A1A1A"/>
                </a:solidFill>
                <a:latin typeface="Arial"/>
              </a:rPr>
              <a:t>Train on both</a:t>
            </a:r>
          </a:p>
          <a:p>
            <a:pPr algn="ctr">
              <a:spcAft>
                <a:spcPts val="400"/>
              </a:spcAft>
              <a:buNone/>
            </a:pPr>
            <a:r>
              <a:rPr sz="4000" b="1" i="0">
                <a:solidFill>
                  <a:srgbClr val="00BFFF"/>
                </a:solidFill>
                <a:latin typeface="Arial"/>
              </a:rPr>
              <a:t>0.896</a:t>
            </a:r>
          </a:p>
          <a:p>
            <a:pPr algn="ctr">
              <a:spcAft>
                <a:spcPts val="0"/>
              </a:spcAft>
              <a:buNone/>
            </a:pPr>
            <a:r>
              <a:rPr sz="1200" b="0" i="0">
                <a:solidFill>
                  <a:srgbClr val="595959"/>
                </a:solidFill>
                <a:latin typeface="Arial"/>
              </a:rPr>
              <a:t>AUC: works on both datasets</a:t>
            </a:r>
          </a:p>
        </p:txBody>
      </p:sp>
      <p:sp>
        <p:nvSpPr>
          <p:cNvPr id="7" name="Rounded Rectangle 6"/>
          <p:cNvSpPr/>
          <p:nvPr/>
        </p:nvSpPr>
        <p:spPr>
          <a:xfrm>
            <a:off x="429768" y="3429000"/>
            <a:ext cx="8028432" cy="777240"/>
          </a:xfrm>
          <a:prstGeom prst="roundRect">
            <a:avLst>
              <a:gd name="adj" fmla="val 8000"/>
            </a:avLst>
          </a:prstGeom>
          <a:solidFill>
            <a:srgbClr val="EAF7FD"/>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wrap="square" lIns="182880" tIns="109728" rIns="182880" bIns="109728" rtlCol="0" anchor="ctr"/>
          <a:lstStyle/>
          <a:p>
            <a:pPr algn="l">
              <a:spcAft>
                <a:spcPts val="200"/>
              </a:spcAft>
              <a:buNone/>
            </a:pPr>
            <a:r>
              <a:rPr sz="1400" b="1" i="0">
                <a:solidFill>
                  <a:srgbClr val="1A1A1A"/>
                </a:solidFill>
                <a:latin typeface="Arial"/>
              </a:rPr>
              <a:t>Training on one dataset is not just weaker — it breaks.</a:t>
            </a:r>
          </a:p>
          <a:p>
            <a:pPr algn="l">
              <a:spcAft>
                <a:spcPts val="0"/>
              </a:spcAft>
              <a:buNone/>
            </a:pPr>
            <a:r>
              <a:rPr sz="1300" b="0" i="0">
                <a:solidFill>
                  <a:srgbClr val="595959"/>
                </a:solidFill>
                <a:latin typeface="Arial"/>
              </a:rPr>
              <a:t>Mixed training is a requirement, not a tuning choice.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29768" y="201168"/>
            <a:ext cx="7589520" cy="502920"/>
          </a:xfrm>
          <a:prstGeom prst="rect">
            <a:avLst/>
          </a:prstGeom>
          <a:noFill/>
        </p:spPr>
        <p:txBody>
          <a:bodyPr wrap="square" lIns="18288" tIns="0" rIns="18288" bIns="0" anchor="t"/>
          <a:lstStyle/>
          <a:p>
            <a:pPr algn="l">
              <a:spcAft>
                <a:spcPts val="200"/>
              </a:spcAft>
              <a:buNone/>
            </a:pPr>
            <a:r>
              <a:rPr sz="2000" b="1" i="0">
                <a:solidFill>
                  <a:srgbClr val="00BFFF"/>
                </a:solidFill>
                <a:latin typeface="Arial"/>
              </a:rPr>
              <a:t>Experiment 5 — operational trade-offs</a:t>
            </a:r>
          </a:p>
        </p:txBody>
      </p:sp>
      <p:sp>
        <p:nvSpPr>
          <p:cNvPr id="3" name="Subtitle"/>
          <p:cNvSpPr txBox="1"/>
          <p:nvPr/>
        </p:nvSpPr>
        <p:spPr>
          <a:xfrm>
            <a:off x="429768" y="749808"/>
            <a:ext cx="8028432" cy="274320"/>
          </a:xfrm>
          <a:prstGeom prst="rect">
            <a:avLst/>
          </a:prstGeom>
          <a:noFill/>
        </p:spPr>
        <p:txBody>
          <a:bodyPr wrap="square" lIns="18288" tIns="0" rIns="18288" bIns="0" anchor="t"/>
          <a:lstStyle/>
          <a:p>
            <a:pPr algn="l">
              <a:spcAft>
                <a:spcPts val="300"/>
              </a:spcAft>
              <a:buNone/>
            </a:pPr>
            <a:r>
              <a:rPr sz="1200" b="1" i="0">
                <a:solidFill>
                  <a:srgbClr val="00BFFF"/>
                </a:solidFill>
                <a:latin typeface="Arial"/>
              </a:rPr>
              <a:t>Choosing a threshold and a configuration for deployment</a:t>
            </a:r>
          </a:p>
        </p:txBody>
      </p:sp>
      <p:sp>
        <p:nvSpPr>
          <p:cNvPr id="4" name="TextBox 3"/>
          <p:cNvSpPr txBox="1"/>
          <p:nvPr/>
        </p:nvSpPr>
        <p:spPr>
          <a:xfrm>
            <a:off x="429768" y="1097280"/>
            <a:ext cx="3922776" cy="256032"/>
          </a:xfrm>
          <a:prstGeom prst="rect">
            <a:avLst/>
          </a:prstGeom>
          <a:noFill/>
        </p:spPr>
        <p:txBody>
          <a:bodyPr wrap="square" lIns="0" tIns="0" rIns="0" bIns="0" anchor="t"/>
          <a:lstStyle/>
          <a:p>
            <a:pPr algn="l">
              <a:spcAft>
                <a:spcPts val="300"/>
              </a:spcAft>
              <a:buNone/>
            </a:pPr>
            <a:r>
              <a:rPr sz="1200" b="1" i="0">
                <a:solidFill>
                  <a:srgbClr val="1A1A1A"/>
                </a:solidFill>
                <a:latin typeface="Arial"/>
              </a:rPr>
              <a:t>Threshold on the visual fallback</a:t>
            </a:r>
          </a:p>
        </p:txBody>
      </p:sp>
      <p:graphicFrame>
        <p:nvGraphicFramePr>
          <p:cNvPr id="5" name="Table 4"/>
          <p:cNvGraphicFramePr>
            <a:graphicFrameLocks noGrp="1"/>
          </p:cNvGraphicFramePr>
          <p:nvPr/>
        </p:nvGraphicFramePr>
        <p:xfrm>
          <a:off x="429768" y="1389888"/>
          <a:ext cx="3922776" cy="1316736"/>
        </p:xfrm>
        <a:graphic>
          <a:graphicData uri="http://schemas.openxmlformats.org/drawingml/2006/table">
            <a:tbl>
              <a:tblPr firstRow="1">
                <a:tableStyleId>{5C22544A-7EE6-4342-B048-85BDC9FD1C3A}</a:tableStyleId>
              </a:tblPr>
              <a:tblGrid>
                <a:gridCol w="1261872">
                  <a:extLst>
                    <a:ext uri="{9D8B030D-6E8A-4147-A177-3AD203B41FA5}">
                      <a16:colId xmlns:a16="http://schemas.microsoft.com/office/drawing/2014/main" val="20000"/>
                    </a:ext>
                  </a:extLst>
                </a:gridCol>
                <a:gridCol w="886968">
                  <a:extLst>
                    <a:ext uri="{9D8B030D-6E8A-4147-A177-3AD203B41FA5}">
                      <a16:colId xmlns:a16="http://schemas.microsoft.com/office/drawing/2014/main" val="20001"/>
                    </a:ext>
                  </a:extLst>
                </a:gridCol>
                <a:gridCol w="886968">
                  <a:extLst>
                    <a:ext uri="{9D8B030D-6E8A-4147-A177-3AD203B41FA5}">
                      <a16:colId xmlns:a16="http://schemas.microsoft.com/office/drawing/2014/main" val="20002"/>
                    </a:ext>
                  </a:extLst>
                </a:gridCol>
                <a:gridCol w="886968">
                  <a:extLst>
                    <a:ext uri="{9D8B030D-6E8A-4147-A177-3AD203B41FA5}">
                      <a16:colId xmlns:a16="http://schemas.microsoft.com/office/drawing/2014/main" val="20003"/>
                    </a:ext>
                  </a:extLst>
                </a:gridCol>
              </a:tblGrid>
              <a:tr h="329184">
                <a:tc>
                  <a:txBody>
                    <a:bodyPr/>
                    <a:lstStyle/>
                    <a:p>
                      <a:pPr algn="l">
                        <a:spcAft>
                          <a:spcPts val="0"/>
                        </a:spcAft>
                        <a:buNone/>
                      </a:pPr>
                      <a:r>
                        <a:rPr sz="1100" b="1" i="0">
                          <a:solidFill>
                            <a:srgbClr val="FFFFFF"/>
                          </a:solidFill>
                          <a:latin typeface="Arial"/>
                        </a:rPr>
                        <a:t>Threshold τ</a:t>
                      </a:r>
                    </a:p>
                  </a:txBody>
                  <a:tcPr marL="73152" marR="73152" marT="27432" marB="27432" anchor="ctr">
                    <a:solidFill>
                      <a:srgbClr val="1A1A2E"/>
                    </a:solidFill>
                  </a:tcPr>
                </a:tc>
                <a:tc>
                  <a:txBody>
                    <a:bodyPr/>
                    <a:lstStyle/>
                    <a:p>
                      <a:pPr algn="ctr">
                        <a:spcAft>
                          <a:spcPts val="0"/>
                        </a:spcAft>
                        <a:buNone/>
                      </a:pPr>
                      <a:r>
                        <a:rPr sz="1100" b="1" i="0">
                          <a:solidFill>
                            <a:srgbClr val="FFFFFF"/>
                          </a:solidFill>
                          <a:latin typeface="Arial"/>
                        </a:rPr>
                        <a:t>Recall</a:t>
                      </a:r>
                    </a:p>
                  </a:txBody>
                  <a:tcPr marL="73152" marR="73152" marT="27432" marB="27432" anchor="ctr">
                    <a:solidFill>
                      <a:srgbClr val="1A1A2E"/>
                    </a:solidFill>
                  </a:tcPr>
                </a:tc>
                <a:tc>
                  <a:txBody>
                    <a:bodyPr/>
                    <a:lstStyle/>
                    <a:p>
                      <a:pPr algn="ctr">
                        <a:spcAft>
                          <a:spcPts val="0"/>
                        </a:spcAft>
                        <a:buNone/>
                      </a:pPr>
                      <a:r>
                        <a:rPr sz="1100" b="1" i="0">
                          <a:solidFill>
                            <a:srgbClr val="FFFFFF"/>
                          </a:solidFill>
                          <a:latin typeface="Arial"/>
                        </a:rPr>
                        <a:t>FNR</a:t>
                      </a:r>
                    </a:p>
                  </a:txBody>
                  <a:tcPr marL="73152" marR="73152" marT="27432" marB="27432" anchor="ctr">
                    <a:solidFill>
                      <a:srgbClr val="1A1A2E"/>
                    </a:solidFill>
                  </a:tcPr>
                </a:tc>
                <a:tc>
                  <a:txBody>
                    <a:bodyPr/>
                    <a:lstStyle/>
                    <a:p>
                      <a:pPr algn="ctr">
                        <a:spcAft>
                          <a:spcPts val="0"/>
                        </a:spcAft>
                        <a:buNone/>
                      </a:pPr>
                      <a:r>
                        <a:rPr sz="1100" b="1" i="0">
                          <a:solidFill>
                            <a:srgbClr val="FFFFFF"/>
                          </a:solidFill>
                          <a:latin typeface="Arial"/>
                        </a:rPr>
                        <a:t>Precision</a:t>
                      </a:r>
                    </a:p>
                  </a:txBody>
                  <a:tcPr marL="73152" marR="73152" marT="27432" marB="27432" anchor="ctr">
                    <a:solidFill>
                      <a:srgbClr val="1A1A2E"/>
                    </a:solidFill>
                  </a:tcPr>
                </a:tc>
                <a:extLst>
                  <a:ext uri="{0D108BD9-81ED-4DB2-BD59-A6C34878D82A}">
                    <a16:rowId xmlns:a16="http://schemas.microsoft.com/office/drawing/2014/main" val="10000"/>
                  </a:ext>
                </a:extLst>
              </a:tr>
              <a:tr h="329184">
                <a:tc>
                  <a:txBody>
                    <a:bodyPr/>
                    <a:lstStyle/>
                    <a:p>
                      <a:pPr algn="l">
                        <a:spcAft>
                          <a:spcPts val="0"/>
                        </a:spcAft>
                        <a:buNone/>
                      </a:pPr>
                      <a:r>
                        <a:rPr sz="1100" b="0" i="0">
                          <a:solidFill>
                            <a:srgbClr val="1A1A1A"/>
                          </a:solidFill>
                          <a:latin typeface="Arial"/>
                        </a:rPr>
                        <a:t>0.50 (default)</a:t>
                      </a:r>
                    </a:p>
                  </a:txBody>
                  <a:tcPr marL="73152" marR="73152" marT="27432" marB="27432" anchor="ctr">
                    <a:solidFill>
                      <a:srgbClr val="FFFFFF"/>
                    </a:solidFill>
                  </a:tcPr>
                </a:tc>
                <a:tc>
                  <a:txBody>
                    <a:bodyPr/>
                    <a:lstStyle/>
                    <a:p>
                      <a:pPr algn="ctr">
                        <a:spcAft>
                          <a:spcPts val="0"/>
                        </a:spcAft>
                        <a:buNone/>
                      </a:pPr>
                      <a:r>
                        <a:rPr sz="1100" b="0" i="0">
                          <a:solidFill>
                            <a:srgbClr val="1A1A1A"/>
                          </a:solidFill>
                          <a:latin typeface="Arial"/>
                        </a:rPr>
                        <a:t>0.818</a:t>
                      </a:r>
                    </a:p>
                  </a:txBody>
                  <a:tcPr marL="73152" marR="73152" marT="27432" marB="27432" anchor="ctr">
                    <a:solidFill>
                      <a:srgbClr val="FFFFFF"/>
                    </a:solidFill>
                  </a:tcPr>
                </a:tc>
                <a:tc>
                  <a:txBody>
                    <a:bodyPr/>
                    <a:lstStyle/>
                    <a:p>
                      <a:pPr algn="ctr">
                        <a:spcAft>
                          <a:spcPts val="0"/>
                        </a:spcAft>
                        <a:buNone/>
                      </a:pPr>
                      <a:r>
                        <a:rPr sz="1100" b="0" i="0">
                          <a:solidFill>
                            <a:srgbClr val="1A1A1A"/>
                          </a:solidFill>
                          <a:latin typeface="Arial"/>
                        </a:rPr>
                        <a:t>0.182</a:t>
                      </a:r>
                    </a:p>
                  </a:txBody>
                  <a:tcPr marL="73152" marR="73152" marT="27432" marB="27432" anchor="ctr">
                    <a:solidFill>
                      <a:srgbClr val="FFFFFF"/>
                    </a:solidFill>
                  </a:tcPr>
                </a:tc>
                <a:tc>
                  <a:txBody>
                    <a:bodyPr/>
                    <a:lstStyle/>
                    <a:p>
                      <a:pPr algn="ctr">
                        <a:spcAft>
                          <a:spcPts val="0"/>
                        </a:spcAft>
                        <a:buNone/>
                      </a:pPr>
                      <a:r>
                        <a:rPr sz="1100" b="0" i="0">
                          <a:solidFill>
                            <a:srgbClr val="1A1A1A"/>
                          </a:solidFill>
                          <a:latin typeface="Arial"/>
                        </a:rPr>
                        <a:t>0.860</a:t>
                      </a:r>
                    </a:p>
                  </a:txBody>
                  <a:tcPr marL="73152" marR="73152" marT="27432" marB="27432" anchor="ctr">
                    <a:solidFill>
                      <a:srgbClr val="FFFFFF"/>
                    </a:solidFill>
                  </a:tcPr>
                </a:tc>
                <a:extLst>
                  <a:ext uri="{0D108BD9-81ED-4DB2-BD59-A6C34878D82A}">
                    <a16:rowId xmlns:a16="http://schemas.microsoft.com/office/drawing/2014/main" val="10001"/>
                  </a:ext>
                </a:extLst>
              </a:tr>
              <a:tr h="329184">
                <a:tc>
                  <a:txBody>
                    <a:bodyPr/>
                    <a:lstStyle/>
                    <a:p>
                      <a:pPr algn="l">
                        <a:spcAft>
                          <a:spcPts val="0"/>
                        </a:spcAft>
                        <a:buNone/>
                      </a:pPr>
                      <a:r>
                        <a:rPr sz="1100" b="1" i="0">
                          <a:solidFill>
                            <a:srgbClr val="0090C8"/>
                          </a:solidFill>
                          <a:latin typeface="Arial"/>
                        </a:rPr>
                        <a:t>0.40</a:t>
                      </a:r>
                    </a:p>
                  </a:txBody>
                  <a:tcPr marL="73152" marR="73152" marT="27432" marB="27432" anchor="ctr">
                    <a:solidFill>
                      <a:srgbClr val="EAF7FD"/>
                    </a:solidFill>
                  </a:tcPr>
                </a:tc>
                <a:tc>
                  <a:txBody>
                    <a:bodyPr/>
                    <a:lstStyle/>
                    <a:p>
                      <a:pPr algn="ctr">
                        <a:spcAft>
                          <a:spcPts val="0"/>
                        </a:spcAft>
                        <a:buNone/>
                      </a:pPr>
                      <a:r>
                        <a:rPr sz="1100" b="1" i="0">
                          <a:solidFill>
                            <a:srgbClr val="0090C8"/>
                          </a:solidFill>
                          <a:latin typeface="Arial"/>
                        </a:rPr>
                        <a:t>0.902</a:t>
                      </a:r>
                    </a:p>
                  </a:txBody>
                  <a:tcPr marL="73152" marR="73152" marT="27432" marB="27432" anchor="ctr">
                    <a:solidFill>
                      <a:srgbClr val="EAF7FD"/>
                    </a:solidFill>
                  </a:tcPr>
                </a:tc>
                <a:tc>
                  <a:txBody>
                    <a:bodyPr/>
                    <a:lstStyle/>
                    <a:p>
                      <a:pPr algn="ctr">
                        <a:spcAft>
                          <a:spcPts val="0"/>
                        </a:spcAft>
                        <a:buNone/>
                      </a:pPr>
                      <a:r>
                        <a:rPr sz="1100" b="1" i="0">
                          <a:solidFill>
                            <a:srgbClr val="0090C8"/>
                          </a:solidFill>
                          <a:latin typeface="Arial"/>
                        </a:rPr>
                        <a:t>0.098</a:t>
                      </a:r>
                    </a:p>
                  </a:txBody>
                  <a:tcPr marL="73152" marR="73152" marT="27432" marB="27432" anchor="ctr">
                    <a:solidFill>
                      <a:srgbClr val="EAF7FD"/>
                    </a:solidFill>
                  </a:tcPr>
                </a:tc>
                <a:tc>
                  <a:txBody>
                    <a:bodyPr/>
                    <a:lstStyle/>
                    <a:p>
                      <a:pPr algn="ctr">
                        <a:spcAft>
                          <a:spcPts val="0"/>
                        </a:spcAft>
                        <a:buNone/>
                      </a:pPr>
                      <a:r>
                        <a:rPr sz="1100" b="1" i="0">
                          <a:solidFill>
                            <a:srgbClr val="0090C8"/>
                          </a:solidFill>
                          <a:latin typeface="Arial"/>
                        </a:rPr>
                        <a:t>0.752</a:t>
                      </a:r>
                    </a:p>
                  </a:txBody>
                  <a:tcPr marL="73152" marR="73152" marT="27432" marB="27432" anchor="ctr">
                    <a:solidFill>
                      <a:srgbClr val="EAF7FD"/>
                    </a:solidFill>
                  </a:tcPr>
                </a:tc>
                <a:extLst>
                  <a:ext uri="{0D108BD9-81ED-4DB2-BD59-A6C34878D82A}">
                    <a16:rowId xmlns:a16="http://schemas.microsoft.com/office/drawing/2014/main" val="10002"/>
                  </a:ext>
                </a:extLst>
              </a:tr>
              <a:tr h="329184">
                <a:tc>
                  <a:txBody>
                    <a:bodyPr/>
                    <a:lstStyle/>
                    <a:p>
                      <a:pPr algn="l">
                        <a:spcAft>
                          <a:spcPts val="0"/>
                        </a:spcAft>
                        <a:buNone/>
                      </a:pPr>
                      <a:r>
                        <a:rPr sz="1100" b="0" i="0">
                          <a:solidFill>
                            <a:srgbClr val="1A1A1A"/>
                          </a:solidFill>
                          <a:latin typeface="Arial"/>
                        </a:rPr>
                        <a:t>0.30</a:t>
                      </a:r>
                    </a:p>
                  </a:txBody>
                  <a:tcPr marL="73152" marR="73152" marT="27432" marB="27432" anchor="ctr">
                    <a:solidFill>
                      <a:srgbClr val="FFFFFF"/>
                    </a:solidFill>
                  </a:tcPr>
                </a:tc>
                <a:tc>
                  <a:txBody>
                    <a:bodyPr/>
                    <a:lstStyle/>
                    <a:p>
                      <a:pPr algn="ctr">
                        <a:spcAft>
                          <a:spcPts val="0"/>
                        </a:spcAft>
                        <a:buNone/>
                      </a:pPr>
                      <a:r>
                        <a:rPr sz="1100" b="0" i="0">
                          <a:solidFill>
                            <a:srgbClr val="1A1A1A"/>
                          </a:solidFill>
                          <a:latin typeface="Arial"/>
                        </a:rPr>
                        <a:t>0.961</a:t>
                      </a:r>
                    </a:p>
                  </a:txBody>
                  <a:tcPr marL="73152" marR="73152" marT="27432" marB="27432" anchor="ctr">
                    <a:solidFill>
                      <a:srgbClr val="FFFFFF"/>
                    </a:solidFill>
                  </a:tcPr>
                </a:tc>
                <a:tc>
                  <a:txBody>
                    <a:bodyPr/>
                    <a:lstStyle/>
                    <a:p>
                      <a:pPr algn="ctr">
                        <a:spcAft>
                          <a:spcPts val="0"/>
                        </a:spcAft>
                        <a:buNone/>
                      </a:pPr>
                      <a:r>
                        <a:rPr sz="1100" b="0" i="0">
                          <a:solidFill>
                            <a:srgbClr val="1A1A1A"/>
                          </a:solidFill>
                          <a:latin typeface="Arial"/>
                        </a:rPr>
                        <a:t>0.039</a:t>
                      </a:r>
                    </a:p>
                  </a:txBody>
                  <a:tcPr marL="73152" marR="73152" marT="27432" marB="27432" anchor="ctr">
                    <a:solidFill>
                      <a:srgbClr val="FFFFFF"/>
                    </a:solidFill>
                  </a:tcPr>
                </a:tc>
                <a:tc>
                  <a:txBody>
                    <a:bodyPr/>
                    <a:lstStyle/>
                    <a:p>
                      <a:pPr algn="ctr">
                        <a:spcAft>
                          <a:spcPts val="0"/>
                        </a:spcAft>
                        <a:buNone/>
                      </a:pPr>
                      <a:r>
                        <a:rPr sz="1100" b="0" i="0">
                          <a:solidFill>
                            <a:srgbClr val="1A1A1A"/>
                          </a:solidFill>
                          <a:latin typeface="Arial"/>
                        </a:rPr>
                        <a:t>0.607</a:t>
                      </a:r>
                    </a:p>
                  </a:txBody>
                  <a:tcPr marL="73152" marR="73152"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6" name="TextBox 5"/>
          <p:cNvSpPr txBox="1"/>
          <p:nvPr/>
        </p:nvSpPr>
        <p:spPr>
          <a:xfrm>
            <a:off x="4535424" y="1097280"/>
            <a:ext cx="3922776" cy="256032"/>
          </a:xfrm>
          <a:prstGeom prst="rect">
            <a:avLst/>
          </a:prstGeom>
          <a:noFill/>
        </p:spPr>
        <p:txBody>
          <a:bodyPr wrap="square" lIns="0" tIns="0" rIns="0" bIns="0" anchor="t"/>
          <a:lstStyle/>
          <a:p>
            <a:pPr algn="l">
              <a:spcAft>
                <a:spcPts val="300"/>
              </a:spcAft>
              <a:buNone/>
            </a:pPr>
            <a:r>
              <a:rPr sz="1200" b="1" i="0">
                <a:solidFill>
                  <a:srgbClr val="1A1A1A"/>
                </a:solidFill>
                <a:latin typeface="Arial"/>
              </a:rPr>
              <a:t>Cost per configuration (CPU)</a:t>
            </a:r>
          </a:p>
        </p:txBody>
      </p:sp>
      <p:graphicFrame>
        <p:nvGraphicFramePr>
          <p:cNvPr id="7" name="Table 6"/>
          <p:cNvGraphicFramePr>
            <a:graphicFrameLocks noGrp="1"/>
          </p:cNvGraphicFramePr>
          <p:nvPr/>
        </p:nvGraphicFramePr>
        <p:xfrm>
          <a:off x="4535424" y="1389888"/>
          <a:ext cx="3922776" cy="1316736"/>
        </p:xfrm>
        <a:graphic>
          <a:graphicData uri="http://schemas.openxmlformats.org/drawingml/2006/table">
            <a:tbl>
              <a:tblPr firstRow="1">
                <a:tableStyleId>{5C22544A-7EE6-4342-B048-85BDC9FD1C3A}</a:tableStyleId>
              </a:tblPr>
              <a:tblGrid>
                <a:gridCol w="1801368">
                  <a:extLst>
                    <a:ext uri="{9D8B030D-6E8A-4147-A177-3AD203B41FA5}">
                      <a16:colId xmlns:a16="http://schemas.microsoft.com/office/drawing/2014/main" val="20000"/>
                    </a:ext>
                  </a:extLst>
                </a:gridCol>
                <a:gridCol w="713232">
                  <a:extLst>
                    <a:ext uri="{9D8B030D-6E8A-4147-A177-3AD203B41FA5}">
                      <a16:colId xmlns:a16="http://schemas.microsoft.com/office/drawing/2014/main" val="20001"/>
                    </a:ext>
                  </a:extLst>
                </a:gridCol>
                <a:gridCol w="768096">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329184">
                <a:tc>
                  <a:txBody>
                    <a:bodyPr/>
                    <a:lstStyle/>
                    <a:p>
                      <a:pPr algn="l">
                        <a:spcAft>
                          <a:spcPts val="0"/>
                        </a:spcAft>
                        <a:buNone/>
                      </a:pPr>
                      <a:r>
                        <a:rPr sz="1100" b="1" i="0">
                          <a:solidFill>
                            <a:srgbClr val="FFFFFF"/>
                          </a:solidFill>
                          <a:latin typeface="Arial"/>
                        </a:rPr>
                        <a:t>Configuration</a:t>
                      </a:r>
                    </a:p>
                  </a:txBody>
                  <a:tcPr marL="73152" marR="73152" marT="27432" marB="27432" anchor="ctr">
                    <a:solidFill>
                      <a:srgbClr val="1A1A2E"/>
                    </a:solidFill>
                  </a:tcPr>
                </a:tc>
                <a:tc>
                  <a:txBody>
                    <a:bodyPr/>
                    <a:lstStyle/>
                    <a:p>
                      <a:pPr algn="ctr">
                        <a:spcAft>
                          <a:spcPts val="0"/>
                        </a:spcAft>
                        <a:buNone/>
                      </a:pPr>
                      <a:r>
                        <a:rPr sz="1100" b="1" i="0">
                          <a:solidFill>
                            <a:srgbClr val="FFFFFF"/>
                          </a:solidFill>
                          <a:latin typeface="Arial"/>
                        </a:rPr>
                        <a:t>Params</a:t>
                      </a:r>
                    </a:p>
                  </a:txBody>
                  <a:tcPr marL="73152" marR="73152" marT="27432" marB="27432" anchor="ctr">
                    <a:solidFill>
                      <a:srgbClr val="1A1A2E"/>
                    </a:solidFill>
                  </a:tcPr>
                </a:tc>
                <a:tc>
                  <a:txBody>
                    <a:bodyPr/>
                    <a:lstStyle/>
                    <a:p>
                      <a:pPr algn="ctr">
                        <a:spcAft>
                          <a:spcPts val="0"/>
                        </a:spcAft>
                        <a:buNone/>
                      </a:pPr>
                      <a:r>
                        <a:rPr sz="1100" b="1" i="0">
                          <a:solidFill>
                            <a:srgbClr val="FFFFFF"/>
                          </a:solidFill>
                          <a:latin typeface="Arial"/>
                        </a:rPr>
                        <a:t>Time</a:t>
                      </a:r>
                    </a:p>
                  </a:txBody>
                  <a:tcPr marL="73152" marR="73152" marT="27432" marB="27432" anchor="ctr">
                    <a:solidFill>
                      <a:srgbClr val="1A1A2E"/>
                    </a:solidFill>
                  </a:tcPr>
                </a:tc>
                <a:tc>
                  <a:txBody>
                    <a:bodyPr/>
                    <a:lstStyle/>
                    <a:p>
                      <a:pPr algn="ctr">
                        <a:spcAft>
                          <a:spcPts val="0"/>
                        </a:spcAft>
                        <a:buNone/>
                      </a:pPr>
                      <a:r>
                        <a:rPr sz="1100" b="1" i="0">
                          <a:solidFill>
                            <a:srgbClr val="FFFFFF"/>
                          </a:solidFill>
                          <a:latin typeface="Arial"/>
                        </a:rPr>
                        <a:t>AUC</a:t>
                      </a:r>
                    </a:p>
                  </a:txBody>
                  <a:tcPr marL="73152" marR="73152" marT="27432" marB="27432" anchor="ctr">
                    <a:solidFill>
                      <a:srgbClr val="1A1A2E"/>
                    </a:solidFill>
                  </a:tcPr>
                </a:tc>
                <a:extLst>
                  <a:ext uri="{0D108BD9-81ED-4DB2-BD59-A6C34878D82A}">
                    <a16:rowId xmlns:a16="http://schemas.microsoft.com/office/drawing/2014/main" val="10000"/>
                  </a:ext>
                </a:extLst>
              </a:tr>
              <a:tr h="329184">
                <a:tc>
                  <a:txBody>
                    <a:bodyPr/>
                    <a:lstStyle/>
                    <a:p>
                      <a:pPr algn="l">
                        <a:spcAft>
                          <a:spcPts val="0"/>
                        </a:spcAft>
                        <a:buNone/>
                      </a:pPr>
                      <a:r>
                        <a:rPr sz="1100" b="0" i="0">
                          <a:solidFill>
                            <a:srgbClr val="1A1A1A"/>
                          </a:solidFill>
                          <a:latin typeface="Arial"/>
                        </a:rPr>
                        <a:t>Visual, 1 model</a:t>
                      </a:r>
                    </a:p>
                  </a:txBody>
                  <a:tcPr marL="73152" marR="73152" marT="27432" marB="27432" anchor="ctr">
                    <a:solidFill>
                      <a:srgbClr val="FFFFFF"/>
                    </a:solidFill>
                  </a:tcPr>
                </a:tc>
                <a:tc>
                  <a:txBody>
                    <a:bodyPr/>
                    <a:lstStyle/>
                    <a:p>
                      <a:pPr algn="ctr">
                        <a:spcAft>
                          <a:spcPts val="0"/>
                        </a:spcAft>
                        <a:buNone/>
                      </a:pPr>
                      <a:r>
                        <a:rPr sz="1100" b="0" i="0">
                          <a:solidFill>
                            <a:srgbClr val="1A1A1A"/>
                          </a:solidFill>
                          <a:latin typeface="Arial"/>
                        </a:rPr>
                        <a:t>3.08 M</a:t>
                      </a:r>
                    </a:p>
                  </a:txBody>
                  <a:tcPr marL="73152" marR="73152" marT="27432" marB="27432" anchor="ctr">
                    <a:solidFill>
                      <a:srgbClr val="FFFFFF"/>
                    </a:solidFill>
                  </a:tcPr>
                </a:tc>
                <a:tc>
                  <a:txBody>
                    <a:bodyPr/>
                    <a:lstStyle/>
                    <a:p>
                      <a:pPr algn="ctr">
                        <a:spcAft>
                          <a:spcPts val="0"/>
                        </a:spcAft>
                        <a:buNone/>
                      </a:pPr>
                      <a:r>
                        <a:rPr sz="1100" b="0" i="0">
                          <a:solidFill>
                            <a:srgbClr val="1A1A1A"/>
                          </a:solidFill>
                          <a:latin typeface="Arial"/>
                        </a:rPr>
                        <a:t>25 ms</a:t>
                      </a:r>
                    </a:p>
                  </a:txBody>
                  <a:tcPr marL="73152" marR="73152" marT="27432" marB="27432" anchor="ctr">
                    <a:solidFill>
                      <a:srgbClr val="FFFFFF"/>
                    </a:solidFill>
                  </a:tcPr>
                </a:tc>
                <a:tc>
                  <a:txBody>
                    <a:bodyPr/>
                    <a:lstStyle/>
                    <a:p>
                      <a:pPr algn="ctr">
                        <a:spcAft>
                          <a:spcPts val="0"/>
                        </a:spcAft>
                        <a:buNone/>
                      </a:pPr>
                      <a:r>
                        <a:rPr sz="1100" b="0" i="0">
                          <a:solidFill>
                            <a:srgbClr val="1A1A1A"/>
                          </a:solidFill>
                          <a:latin typeface="Arial"/>
                        </a:rPr>
                        <a:t>0.896</a:t>
                      </a:r>
                    </a:p>
                  </a:txBody>
                  <a:tcPr marL="73152" marR="73152" marT="27432" marB="27432" anchor="ctr">
                    <a:solidFill>
                      <a:srgbClr val="FFFFFF"/>
                    </a:solidFill>
                  </a:tcPr>
                </a:tc>
                <a:extLst>
                  <a:ext uri="{0D108BD9-81ED-4DB2-BD59-A6C34878D82A}">
                    <a16:rowId xmlns:a16="http://schemas.microsoft.com/office/drawing/2014/main" val="10001"/>
                  </a:ext>
                </a:extLst>
              </a:tr>
              <a:tr h="329184">
                <a:tc>
                  <a:txBody>
                    <a:bodyPr/>
                    <a:lstStyle/>
                    <a:p>
                      <a:pPr algn="l">
                        <a:spcAft>
                          <a:spcPts val="0"/>
                        </a:spcAft>
                        <a:buNone/>
                      </a:pPr>
                      <a:r>
                        <a:rPr sz="1100" b="0" i="0">
                          <a:solidFill>
                            <a:srgbClr val="1A1A1A"/>
                          </a:solidFill>
                          <a:latin typeface="Arial"/>
                        </a:rPr>
                        <a:t>Visual, ensemble</a:t>
                      </a:r>
                    </a:p>
                  </a:txBody>
                  <a:tcPr marL="73152" marR="73152" marT="27432" marB="27432" anchor="ctr">
                    <a:solidFill>
                      <a:srgbClr val="F4F6F8"/>
                    </a:solidFill>
                  </a:tcPr>
                </a:tc>
                <a:tc>
                  <a:txBody>
                    <a:bodyPr/>
                    <a:lstStyle/>
                    <a:p>
                      <a:pPr algn="ctr">
                        <a:spcAft>
                          <a:spcPts val="0"/>
                        </a:spcAft>
                        <a:buNone/>
                      </a:pPr>
                      <a:r>
                        <a:rPr sz="1100" b="0" i="0">
                          <a:solidFill>
                            <a:srgbClr val="1A1A1A"/>
                          </a:solidFill>
                          <a:latin typeface="Arial"/>
                        </a:rPr>
                        <a:t>6.16 M</a:t>
                      </a:r>
                    </a:p>
                  </a:txBody>
                  <a:tcPr marL="73152" marR="73152" marT="27432" marB="27432" anchor="ctr">
                    <a:solidFill>
                      <a:srgbClr val="F4F6F8"/>
                    </a:solidFill>
                  </a:tcPr>
                </a:tc>
                <a:tc>
                  <a:txBody>
                    <a:bodyPr/>
                    <a:lstStyle/>
                    <a:p>
                      <a:pPr algn="ctr">
                        <a:spcAft>
                          <a:spcPts val="0"/>
                        </a:spcAft>
                        <a:buNone/>
                      </a:pPr>
                      <a:r>
                        <a:rPr sz="1100" b="0" i="0">
                          <a:solidFill>
                            <a:srgbClr val="1A1A1A"/>
                          </a:solidFill>
                          <a:latin typeface="Arial"/>
                        </a:rPr>
                        <a:t>100 ms</a:t>
                      </a:r>
                    </a:p>
                  </a:txBody>
                  <a:tcPr marL="73152" marR="73152" marT="27432" marB="27432" anchor="ctr">
                    <a:solidFill>
                      <a:srgbClr val="F4F6F8"/>
                    </a:solidFill>
                  </a:tcPr>
                </a:tc>
                <a:tc>
                  <a:txBody>
                    <a:bodyPr/>
                    <a:lstStyle/>
                    <a:p>
                      <a:pPr algn="ctr">
                        <a:spcAft>
                          <a:spcPts val="0"/>
                        </a:spcAft>
                        <a:buNone/>
                      </a:pPr>
                      <a:r>
                        <a:rPr sz="1100" b="0" i="0">
                          <a:solidFill>
                            <a:srgbClr val="1A1A1A"/>
                          </a:solidFill>
                          <a:latin typeface="Arial"/>
                        </a:rPr>
                        <a:t>0.915</a:t>
                      </a:r>
                    </a:p>
                  </a:txBody>
                  <a:tcPr marL="73152" marR="73152" marT="27432" marB="27432" anchor="ctr">
                    <a:solidFill>
                      <a:srgbClr val="F4F6F8"/>
                    </a:solidFill>
                  </a:tcPr>
                </a:tc>
                <a:extLst>
                  <a:ext uri="{0D108BD9-81ED-4DB2-BD59-A6C34878D82A}">
                    <a16:rowId xmlns:a16="http://schemas.microsoft.com/office/drawing/2014/main" val="10002"/>
                  </a:ext>
                </a:extLst>
              </a:tr>
              <a:tr h="329184">
                <a:tc>
                  <a:txBody>
                    <a:bodyPr/>
                    <a:lstStyle/>
                    <a:p>
                      <a:pPr algn="l">
                        <a:spcAft>
                          <a:spcPts val="0"/>
                        </a:spcAft>
                        <a:buNone/>
                      </a:pPr>
                      <a:r>
                        <a:rPr sz="1100" b="1" i="0">
                          <a:solidFill>
                            <a:srgbClr val="0090C8"/>
                          </a:solidFill>
                          <a:latin typeface="Arial"/>
                        </a:rPr>
                        <a:t>Fusion (image + URL)</a:t>
                      </a:r>
                    </a:p>
                  </a:txBody>
                  <a:tcPr marL="73152" marR="73152" marT="27432" marB="27432" anchor="ctr">
                    <a:solidFill>
                      <a:srgbClr val="EAF7FD"/>
                    </a:solidFill>
                  </a:tcPr>
                </a:tc>
                <a:tc>
                  <a:txBody>
                    <a:bodyPr/>
                    <a:lstStyle/>
                    <a:p>
                      <a:pPr algn="ctr">
                        <a:spcAft>
                          <a:spcPts val="0"/>
                        </a:spcAft>
                        <a:buNone/>
                      </a:pPr>
                      <a:r>
                        <a:rPr sz="1100" b="1" i="0">
                          <a:solidFill>
                            <a:srgbClr val="0090C8"/>
                          </a:solidFill>
                          <a:latin typeface="Arial"/>
                        </a:rPr>
                        <a:t>69.1 M</a:t>
                      </a:r>
                    </a:p>
                  </a:txBody>
                  <a:tcPr marL="73152" marR="73152" marT="27432" marB="27432" anchor="ctr">
                    <a:solidFill>
                      <a:srgbClr val="EAF7FD"/>
                    </a:solidFill>
                  </a:tcPr>
                </a:tc>
                <a:tc>
                  <a:txBody>
                    <a:bodyPr/>
                    <a:lstStyle/>
                    <a:p>
                      <a:pPr algn="ctr">
                        <a:spcAft>
                          <a:spcPts val="0"/>
                        </a:spcAft>
                        <a:buNone/>
                      </a:pPr>
                      <a:r>
                        <a:rPr sz="1100" b="1" i="0">
                          <a:solidFill>
                            <a:srgbClr val="0090C8"/>
                          </a:solidFill>
                          <a:latin typeface="Arial"/>
                        </a:rPr>
                        <a:t>~100 ms</a:t>
                      </a:r>
                    </a:p>
                  </a:txBody>
                  <a:tcPr marL="73152" marR="73152" marT="27432" marB="27432" anchor="ctr">
                    <a:solidFill>
                      <a:srgbClr val="EAF7FD"/>
                    </a:solidFill>
                  </a:tcPr>
                </a:tc>
                <a:tc>
                  <a:txBody>
                    <a:bodyPr/>
                    <a:lstStyle/>
                    <a:p>
                      <a:pPr algn="ctr">
                        <a:spcAft>
                          <a:spcPts val="0"/>
                        </a:spcAft>
                        <a:buNone/>
                      </a:pPr>
                      <a:r>
                        <a:rPr sz="1100" b="1" i="0">
                          <a:solidFill>
                            <a:srgbClr val="0090C8"/>
                          </a:solidFill>
                          <a:latin typeface="Arial"/>
                        </a:rPr>
                        <a:t>0.975</a:t>
                      </a:r>
                    </a:p>
                  </a:txBody>
                  <a:tcPr marL="73152" marR="73152" marT="27432" marB="27432" anchor="ctr">
                    <a:solidFill>
                      <a:srgbClr val="EAF7FD"/>
                    </a:solidFill>
                  </a:tcPr>
                </a:tc>
                <a:extLst>
                  <a:ext uri="{0D108BD9-81ED-4DB2-BD59-A6C34878D82A}">
                    <a16:rowId xmlns:a16="http://schemas.microsoft.com/office/drawing/2014/main" val="10003"/>
                  </a:ext>
                </a:extLst>
              </a:tr>
            </a:tbl>
          </a:graphicData>
        </a:graphic>
      </p:graphicFrame>
      <p:sp>
        <p:nvSpPr>
          <p:cNvPr id="8" name="Rounded Rectangle 7"/>
          <p:cNvSpPr/>
          <p:nvPr/>
        </p:nvSpPr>
        <p:spPr>
          <a:xfrm>
            <a:off x="429768" y="2907792"/>
            <a:ext cx="3922776" cy="96012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wrap="square" lIns="164592" tIns="109728" rIns="164592" bIns="109728" rtlCol="0" anchor="ctr"/>
          <a:lstStyle/>
          <a:p>
            <a:pPr algn="l">
              <a:spcAft>
                <a:spcPts val="0"/>
              </a:spcAft>
              <a:buNone/>
            </a:pPr>
            <a:r>
              <a:rPr sz="1200" b="1" i="0">
                <a:solidFill>
                  <a:srgbClr val="00BFFF"/>
                </a:solidFill>
                <a:latin typeface="Arial"/>
              </a:rPr>
              <a:t>τ = 0.40</a:t>
            </a:r>
            <a:r>
              <a:rPr sz="1200" b="0" i="0">
                <a:solidFill>
                  <a:srgbClr val="1A1A1A"/>
                </a:solidFill>
                <a:latin typeface="Arial"/>
              </a:rPr>
              <a:t> brings FNR below 0.10 without retraining. The fusion model meets this at the default 0.50.</a:t>
            </a:r>
          </a:p>
        </p:txBody>
      </p:sp>
      <p:sp>
        <p:nvSpPr>
          <p:cNvPr id="9" name="Rounded Rectangle 8"/>
          <p:cNvSpPr/>
          <p:nvPr/>
        </p:nvSpPr>
        <p:spPr>
          <a:xfrm>
            <a:off x="4535424" y="2907792"/>
            <a:ext cx="3922776" cy="96012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wrap="square" lIns="164592" tIns="109728" rIns="164592" bIns="109728" rtlCol="0" anchor="ctr"/>
          <a:lstStyle/>
          <a:p>
            <a:pPr algn="l">
              <a:spcAft>
                <a:spcPts val="0"/>
              </a:spcAft>
              <a:buNone/>
            </a:pPr>
            <a:r>
              <a:rPr sz="1200" b="1" i="0">
                <a:solidFill>
                  <a:srgbClr val="00BFFF"/>
                </a:solidFill>
                <a:latin typeface="Arial"/>
              </a:rPr>
              <a:t>About 100 ms or less</a:t>
            </a:r>
            <a:r>
              <a:rPr sz="1200" b="0" i="0">
                <a:solidFill>
                  <a:srgbClr val="1A1A1A"/>
                </a:solidFill>
                <a:latin typeface="Arial"/>
              </a:rPr>
              <a:t> per image on a CPU — fast enough for mobile use.</a:t>
            </a:r>
          </a:p>
        </p:txBody>
      </p:sp>
      <p:sp>
        <p:nvSpPr>
          <p:cNvPr id="10" name="TextBox 9"/>
          <p:cNvSpPr txBox="1"/>
          <p:nvPr/>
        </p:nvSpPr>
        <p:spPr>
          <a:xfrm>
            <a:off x="429768" y="4005072"/>
            <a:ext cx="8028432" cy="274320"/>
          </a:xfrm>
          <a:prstGeom prst="rect">
            <a:avLst/>
          </a:prstGeom>
          <a:noFill/>
        </p:spPr>
        <p:txBody>
          <a:bodyPr wrap="square" lIns="0" tIns="0" rIns="0" bIns="0" anchor="t"/>
          <a:lstStyle/>
          <a:p>
            <a:pPr algn="ctr">
              <a:spcAft>
                <a:spcPts val="300"/>
              </a:spcAft>
              <a:buNone/>
            </a:pPr>
            <a:r>
              <a:rPr sz="1200" b="0" i="1">
                <a:solidFill>
                  <a:srgbClr val="595959"/>
                </a:solidFill>
                <a:latin typeface="Arial"/>
              </a:rPr>
              <a:t>Same trained models, three options: light, balanced, or most accurate.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29768" y="201168"/>
            <a:ext cx="7589520" cy="502920"/>
          </a:xfrm>
          <a:prstGeom prst="rect">
            <a:avLst/>
          </a:prstGeom>
          <a:noFill/>
        </p:spPr>
        <p:txBody>
          <a:bodyPr wrap="square" lIns="18288" tIns="0" rIns="18288" bIns="0" anchor="t"/>
          <a:lstStyle/>
          <a:p>
            <a:pPr algn="l">
              <a:spcAft>
                <a:spcPts val="200"/>
              </a:spcAft>
              <a:buNone/>
            </a:pPr>
            <a:r>
              <a:rPr sz="2000" b="1" i="0">
                <a:solidFill>
                  <a:srgbClr val="00BFFF"/>
                </a:solidFill>
                <a:latin typeface="Arial"/>
              </a:rPr>
              <a:t>Experiment 6 — explainability</a:t>
            </a:r>
          </a:p>
        </p:txBody>
      </p:sp>
      <p:sp>
        <p:nvSpPr>
          <p:cNvPr id="3" name="Subtitle"/>
          <p:cNvSpPr txBox="1"/>
          <p:nvPr/>
        </p:nvSpPr>
        <p:spPr>
          <a:xfrm>
            <a:off x="429768" y="749808"/>
            <a:ext cx="8028432" cy="274320"/>
          </a:xfrm>
          <a:prstGeom prst="rect">
            <a:avLst/>
          </a:prstGeom>
          <a:noFill/>
        </p:spPr>
        <p:txBody>
          <a:bodyPr wrap="square" lIns="18288" tIns="0" rIns="18288" bIns="0" anchor="t"/>
          <a:lstStyle/>
          <a:p>
            <a:pPr algn="l">
              <a:spcAft>
                <a:spcPts val="300"/>
              </a:spcAft>
              <a:buNone/>
            </a:pPr>
            <a:r>
              <a:rPr sz="1200" b="1" i="0">
                <a:solidFill>
                  <a:srgbClr val="00BFFF"/>
                </a:solidFill>
                <a:latin typeface="Arial"/>
              </a:rPr>
              <a:t>Does the model look at the QR structure, or at dataset tricks?</a:t>
            </a:r>
          </a:p>
        </p:txBody>
      </p:sp>
      <p:pic>
        <p:nvPicPr>
          <p:cNvPr id="4" name="Picture 3" descr="gradcam_samples_cropped.png"/>
          <p:cNvPicPr>
            <a:picLocks noChangeAspect="1"/>
          </p:cNvPicPr>
          <p:nvPr/>
        </p:nvPicPr>
        <p:blipFill>
          <a:blip r:embed="rId3"/>
          <a:stretch>
            <a:fillRect/>
          </a:stretch>
        </p:blipFill>
        <p:spPr>
          <a:xfrm>
            <a:off x="429768" y="1115568"/>
            <a:ext cx="3522771" cy="2331720"/>
          </a:xfrm>
          <a:prstGeom prst="rect">
            <a:avLst/>
          </a:prstGeom>
        </p:spPr>
      </p:pic>
      <p:sp>
        <p:nvSpPr>
          <p:cNvPr id="5" name="Rounded Rectangle 4"/>
          <p:cNvSpPr/>
          <p:nvPr/>
        </p:nvSpPr>
        <p:spPr>
          <a:xfrm>
            <a:off x="4069080" y="1115568"/>
            <a:ext cx="4389120" cy="109728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wrap="square" lIns="164592" tIns="109728" rIns="164592" bIns="109728" rtlCol="0" anchor="ctr"/>
          <a:lstStyle/>
          <a:p>
            <a:pPr algn="l">
              <a:spcAft>
                <a:spcPts val="400"/>
              </a:spcAft>
              <a:buNone/>
            </a:pPr>
            <a:r>
              <a:rPr sz="1300" b="1" i="0">
                <a:solidFill>
                  <a:srgbClr val="00BFFF"/>
                </a:solidFill>
                <a:latin typeface="Arial"/>
              </a:rPr>
              <a:t>Grad-CAM · where the model looks</a:t>
            </a:r>
          </a:p>
          <a:p>
            <a:pPr algn="l">
              <a:spcAft>
                <a:spcPts val="0"/>
              </a:spcAft>
              <a:buNone/>
            </a:pPr>
            <a:r>
              <a:rPr sz="1200" b="0" i="0">
                <a:solidFill>
                  <a:srgbClr val="1A1A1A"/>
                </a:solidFill>
                <a:latin typeface="Arial"/>
              </a:rPr>
              <a:t>Alignment patterns and data regions — the parts that carry the QR content</a:t>
            </a:r>
          </a:p>
        </p:txBody>
      </p:sp>
      <p:sp>
        <p:nvSpPr>
          <p:cNvPr id="6" name="Rounded Rectangle 5"/>
          <p:cNvSpPr/>
          <p:nvPr/>
        </p:nvSpPr>
        <p:spPr>
          <a:xfrm>
            <a:off x="4069080" y="2350008"/>
            <a:ext cx="4389120" cy="109728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wrap="square" lIns="164592" tIns="109728" rIns="164592" bIns="109728" rtlCol="0" anchor="ctr"/>
          <a:lstStyle/>
          <a:p>
            <a:pPr algn="l">
              <a:spcAft>
                <a:spcPts val="400"/>
              </a:spcAft>
              <a:buNone/>
            </a:pPr>
            <a:r>
              <a:rPr sz="1300" b="1" i="0">
                <a:solidFill>
                  <a:srgbClr val="00BFFF"/>
                </a:solidFill>
                <a:latin typeface="Arial"/>
              </a:rPr>
              <a:t>SHAP · which features matter</a:t>
            </a:r>
          </a:p>
          <a:p>
            <a:pPr algn="l">
              <a:spcAft>
                <a:spcPts val="0"/>
              </a:spcAft>
              <a:buNone/>
            </a:pPr>
            <a:r>
              <a:rPr sz="1200" b="0" i="0">
                <a:solidFill>
                  <a:srgbClr val="1A1A1A"/>
                </a:solidFill>
                <a:latin typeface="Arial"/>
              </a:rPr>
              <a:t>A few of the 128 embedding dimensions drive the decision</a:t>
            </a:r>
          </a:p>
        </p:txBody>
      </p:sp>
      <p:sp>
        <p:nvSpPr>
          <p:cNvPr id="7" name="Rounded Rectangle 6"/>
          <p:cNvSpPr/>
          <p:nvPr/>
        </p:nvSpPr>
        <p:spPr>
          <a:xfrm>
            <a:off x="429768" y="3630168"/>
            <a:ext cx="3922776" cy="731520"/>
          </a:xfrm>
          <a:prstGeom prst="roundRect">
            <a:avLst>
              <a:gd name="adj" fmla="val 8000"/>
            </a:avLst>
          </a:prstGeom>
          <a:solidFill>
            <a:srgbClr val="EAF7FD"/>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21208" y="3630168"/>
            <a:ext cx="1417320" cy="731520"/>
          </a:xfrm>
          <a:prstGeom prst="rect">
            <a:avLst/>
          </a:prstGeom>
          <a:noFill/>
        </p:spPr>
        <p:txBody>
          <a:bodyPr wrap="square" lIns="0" tIns="0" rIns="0" bIns="0" anchor="ctr"/>
          <a:lstStyle/>
          <a:p>
            <a:pPr algn="ctr">
              <a:spcAft>
                <a:spcPts val="0"/>
              </a:spcAft>
              <a:buNone/>
            </a:pPr>
            <a:r>
              <a:rPr sz="2200" b="1" i="0">
                <a:solidFill>
                  <a:srgbClr val="00BFFF"/>
                </a:solidFill>
                <a:latin typeface="Arial"/>
              </a:rPr>
              <a:t>r = 0.43</a:t>
            </a:r>
          </a:p>
        </p:txBody>
      </p:sp>
      <p:sp>
        <p:nvSpPr>
          <p:cNvPr id="9" name="TextBox 8"/>
          <p:cNvSpPr txBox="1"/>
          <p:nvPr/>
        </p:nvSpPr>
        <p:spPr>
          <a:xfrm>
            <a:off x="1984248" y="3630168"/>
            <a:ext cx="2240280" cy="731520"/>
          </a:xfrm>
          <a:prstGeom prst="rect">
            <a:avLst/>
          </a:prstGeom>
          <a:noFill/>
        </p:spPr>
        <p:txBody>
          <a:bodyPr wrap="square" lIns="0" tIns="0" rIns="0" bIns="0" anchor="ctr"/>
          <a:lstStyle/>
          <a:p>
            <a:pPr algn="l">
              <a:spcAft>
                <a:spcPts val="300"/>
              </a:spcAft>
              <a:buNone/>
            </a:pPr>
            <a:r>
              <a:rPr sz="1200" b="0" i="0">
                <a:solidFill>
                  <a:srgbClr val="1A1A1A"/>
                </a:solidFill>
                <a:latin typeface="Arial"/>
              </a:rPr>
              <a:t>Grad-CAM maps agree across the two datasets</a:t>
            </a:r>
          </a:p>
        </p:txBody>
      </p:sp>
      <p:sp>
        <p:nvSpPr>
          <p:cNvPr id="10" name="Rounded Rectangle 9"/>
          <p:cNvSpPr/>
          <p:nvPr/>
        </p:nvSpPr>
        <p:spPr>
          <a:xfrm>
            <a:off x="4535424" y="3630168"/>
            <a:ext cx="3922776" cy="731520"/>
          </a:xfrm>
          <a:prstGeom prst="roundRect">
            <a:avLst>
              <a:gd name="adj" fmla="val 8000"/>
            </a:avLst>
          </a:prstGeom>
          <a:solidFill>
            <a:srgbClr val="EAF7FD"/>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4626864" y="3630168"/>
            <a:ext cx="1417320" cy="731520"/>
          </a:xfrm>
          <a:prstGeom prst="rect">
            <a:avLst/>
          </a:prstGeom>
          <a:noFill/>
        </p:spPr>
        <p:txBody>
          <a:bodyPr wrap="square" lIns="0" tIns="0" rIns="0" bIns="0" anchor="ctr"/>
          <a:lstStyle/>
          <a:p>
            <a:pPr algn="ctr">
              <a:spcAft>
                <a:spcPts val="0"/>
              </a:spcAft>
              <a:buNone/>
            </a:pPr>
            <a:r>
              <a:rPr sz="2200" b="1" i="0">
                <a:solidFill>
                  <a:srgbClr val="00BFFF"/>
                </a:solidFill>
                <a:latin typeface="Arial"/>
              </a:rPr>
              <a:t>1.94</a:t>
            </a:r>
          </a:p>
        </p:txBody>
      </p:sp>
      <p:sp>
        <p:nvSpPr>
          <p:cNvPr id="12" name="TextBox 11"/>
          <p:cNvSpPr txBox="1"/>
          <p:nvPr/>
        </p:nvSpPr>
        <p:spPr>
          <a:xfrm>
            <a:off x="6089904" y="3630168"/>
            <a:ext cx="2240280" cy="731520"/>
          </a:xfrm>
          <a:prstGeom prst="rect">
            <a:avLst/>
          </a:prstGeom>
          <a:noFill/>
        </p:spPr>
        <p:txBody>
          <a:bodyPr wrap="square" lIns="0" tIns="0" rIns="0" bIns="0" anchor="ctr"/>
          <a:lstStyle/>
          <a:p>
            <a:pPr algn="l">
              <a:spcAft>
                <a:spcPts val="300"/>
              </a:spcAft>
              <a:buNone/>
            </a:pPr>
            <a:r>
              <a:rPr sz="1200" b="0" i="0">
                <a:solidFill>
                  <a:srgbClr val="1A1A1A"/>
                </a:solidFill>
                <a:latin typeface="Arial"/>
              </a:rPr>
              <a:t>Between-class / within-class distance in the embedding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1"/>
          <p:cNvCxnSpPr/>
          <p:nvPr/>
        </p:nvCxnSpPr>
        <p:spPr>
          <a:xfrm>
            <a:off x="1216152" y="2231136"/>
            <a:ext cx="2560320" cy="0"/>
          </a:xfrm>
          <a:prstGeom prst="line">
            <a:avLst/>
          </a:prstGeom>
          <a:ln w="19050">
            <a:solidFill>
              <a:srgbClr val="00BFFF"/>
            </a:solidFill>
          </a:ln>
        </p:spPr>
        <p:style>
          <a:lnRef idx="2">
            <a:schemeClr val="accent1"/>
          </a:lnRef>
          <a:fillRef idx="0">
            <a:schemeClr val="accent1"/>
          </a:fillRef>
          <a:effectRef idx="1">
            <a:schemeClr val="accent1"/>
          </a:effectRef>
          <a:fontRef idx="minor">
            <a:schemeClr val="tx1"/>
          </a:fontRef>
        </p:style>
      </p:cxnSp>
      <p:sp>
        <p:nvSpPr>
          <p:cNvPr id="3" name="Section title"/>
          <p:cNvSpPr txBox="1"/>
          <p:nvPr/>
        </p:nvSpPr>
        <p:spPr>
          <a:xfrm>
            <a:off x="1216152" y="2304288"/>
            <a:ext cx="2788920" cy="548640"/>
          </a:xfrm>
          <a:prstGeom prst="rect">
            <a:avLst/>
          </a:prstGeom>
          <a:noFill/>
        </p:spPr>
        <p:txBody>
          <a:bodyPr wrap="square" lIns="18288" tIns="0" rIns="18288" bIns="0" anchor="t"/>
          <a:lstStyle/>
          <a:p>
            <a:pPr algn="l">
              <a:spcAft>
                <a:spcPts val="300"/>
              </a:spcAft>
              <a:buNone/>
            </a:pPr>
            <a:r>
              <a:rPr sz="2000" b="1" i="0">
                <a:solidFill>
                  <a:srgbClr val="00BFFF"/>
                </a:solidFill>
                <a:latin typeface="Arial"/>
              </a:rPr>
              <a:t>Limitations</a:t>
            </a:r>
          </a:p>
        </p:txBody>
      </p:sp>
      <p:sp>
        <p:nvSpPr>
          <p:cNvPr id="4" name="Section question"/>
          <p:cNvSpPr txBox="1"/>
          <p:nvPr/>
        </p:nvSpPr>
        <p:spPr>
          <a:xfrm>
            <a:off x="3794760" y="2304288"/>
            <a:ext cx="4663440" cy="822960"/>
          </a:xfrm>
          <a:prstGeom prst="rect">
            <a:avLst/>
          </a:prstGeom>
          <a:noFill/>
        </p:spPr>
        <p:txBody>
          <a:bodyPr wrap="square" lIns="18288" tIns="0" rIns="18288" bIns="0" anchor="t"/>
          <a:lstStyle/>
          <a:p>
            <a:pPr algn="l">
              <a:spcAft>
                <a:spcPts val="300"/>
              </a:spcAft>
              <a:buNone/>
            </a:pPr>
            <a:r>
              <a:rPr sz="2000" b="1" i="0">
                <a:solidFill>
                  <a:srgbClr val="1A1A1A"/>
                </a:solidFill>
                <a:latin typeface="Arial"/>
              </a:rPr>
              <a:t>What is still missing?</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29768" y="201168"/>
            <a:ext cx="7589520" cy="502920"/>
          </a:xfrm>
          <a:prstGeom prst="rect">
            <a:avLst/>
          </a:prstGeom>
          <a:noFill/>
        </p:spPr>
        <p:txBody>
          <a:bodyPr wrap="square" lIns="18288" tIns="0" rIns="18288" bIns="0" anchor="t"/>
          <a:lstStyle/>
          <a:p>
            <a:pPr algn="l">
              <a:spcAft>
                <a:spcPts val="200"/>
              </a:spcAft>
              <a:buNone/>
            </a:pPr>
            <a:r>
              <a:rPr sz="2000" b="1" i="0">
                <a:solidFill>
                  <a:srgbClr val="00BFFF"/>
                </a:solidFill>
                <a:latin typeface="Arial"/>
              </a:rPr>
              <a:t>Limitations</a:t>
            </a:r>
          </a:p>
        </p:txBody>
      </p:sp>
      <p:sp>
        <p:nvSpPr>
          <p:cNvPr id="3" name="Subtitle"/>
          <p:cNvSpPr txBox="1"/>
          <p:nvPr/>
        </p:nvSpPr>
        <p:spPr>
          <a:xfrm>
            <a:off x="429768" y="749808"/>
            <a:ext cx="8028432" cy="274320"/>
          </a:xfrm>
          <a:prstGeom prst="rect">
            <a:avLst/>
          </a:prstGeom>
          <a:noFill/>
        </p:spPr>
        <p:txBody>
          <a:bodyPr wrap="square" lIns="18288" tIns="0" rIns="18288" bIns="0" anchor="t"/>
          <a:lstStyle/>
          <a:p>
            <a:pPr algn="l">
              <a:spcAft>
                <a:spcPts val="300"/>
              </a:spcAft>
              <a:buNone/>
            </a:pPr>
            <a:r>
              <a:rPr sz="1200" b="1" i="0">
                <a:solidFill>
                  <a:srgbClr val="00BFFF"/>
                </a:solidFill>
                <a:latin typeface="Arial"/>
              </a:rPr>
              <a:t>What is still weak in our results</a:t>
            </a:r>
          </a:p>
        </p:txBody>
      </p:sp>
      <p:sp>
        <p:nvSpPr>
          <p:cNvPr id="4" name="Rounded Rectangle 3"/>
          <p:cNvSpPr/>
          <p:nvPr/>
        </p:nvSpPr>
        <p:spPr>
          <a:xfrm>
            <a:off x="429768" y="1143000"/>
            <a:ext cx="3922776" cy="1078992"/>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t"/>
          <a:lstStyle/>
          <a:p>
            <a:endParaRPr/>
          </a:p>
        </p:txBody>
      </p:sp>
      <p:sp>
        <p:nvSpPr>
          <p:cNvPr id="5" name="Badge 1"/>
          <p:cNvSpPr/>
          <p:nvPr/>
        </p:nvSpPr>
        <p:spPr>
          <a:xfrm>
            <a:off x="576072" y="1289304"/>
            <a:ext cx="384048" cy="384048"/>
          </a:xfrm>
          <a:prstGeom prst="ellipse">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buNone/>
            </a:pPr>
            <a:r>
              <a:rPr sz="1200" b="1" i="0">
                <a:solidFill>
                  <a:srgbClr val="FFFFFF"/>
                </a:solidFill>
                <a:latin typeface="Arial"/>
              </a:rPr>
              <a:t>1</a:t>
            </a:r>
          </a:p>
        </p:txBody>
      </p:sp>
      <p:sp>
        <p:nvSpPr>
          <p:cNvPr id="6" name="TextBox 5"/>
          <p:cNvSpPr txBox="1"/>
          <p:nvPr/>
        </p:nvSpPr>
        <p:spPr>
          <a:xfrm>
            <a:off x="1069848" y="1289304"/>
            <a:ext cx="3136392" cy="411480"/>
          </a:xfrm>
          <a:prstGeom prst="rect">
            <a:avLst/>
          </a:prstGeom>
          <a:noFill/>
        </p:spPr>
        <p:txBody>
          <a:bodyPr wrap="square" lIns="0" tIns="0" rIns="0" bIns="0" anchor="ctr"/>
          <a:lstStyle/>
          <a:p>
            <a:pPr algn="l">
              <a:spcAft>
                <a:spcPts val="0"/>
              </a:spcAft>
              <a:buNone/>
            </a:pPr>
            <a:r>
              <a:rPr sz="1400" b="1" i="0">
                <a:solidFill>
                  <a:srgbClr val="1A1A1A"/>
                </a:solidFill>
                <a:latin typeface="Arial"/>
              </a:rPr>
              <a:t>Visual fallback misses ~20%</a:t>
            </a:r>
          </a:p>
        </p:txBody>
      </p:sp>
      <p:sp>
        <p:nvSpPr>
          <p:cNvPr id="7" name="TextBox 6"/>
          <p:cNvSpPr txBox="1"/>
          <p:nvPr/>
        </p:nvSpPr>
        <p:spPr>
          <a:xfrm>
            <a:off x="594360" y="1801368"/>
            <a:ext cx="3611880" cy="329184"/>
          </a:xfrm>
          <a:prstGeom prst="rect">
            <a:avLst/>
          </a:prstGeom>
          <a:noFill/>
        </p:spPr>
        <p:txBody>
          <a:bodyPr wrap="square" lIns="0" tIns="0" rIns="0" bIns="0" anchor="t"/>
          <a:lstStyle/>
          <a:p>
            <a:pPr algn="l">
              <a:spcAft>
                <a:spcPts val="300"/>
              </a:spcAft>
              <a:buNone/>
            </a:pPr>
            <a:r>
              <a:rPr sz="1200" b="0" i="0">
                <a:solidFill>
                  <a:srgbClr val="595959"/>
                </a:solidFill>
                <a:latin typeface="Arial"/>
              </a:rPr>
              <a:t>FNR 0.199 when the QR code cannot be decoded</a:t>
            </a:r>
          </a:p>
        </p:txBody>
      </p:sp>
      <p:sp>
        <p:nvSpPr>
          <p:cNvPr id="8" name="Rounded Rectangle 7"/>
          <p:cNvSpPr/>
          <p:nvPr/>
        </p:nvSpPr>
        <p:spPr>
          <a:xfrm>
            <a:off x="4535424" y="1143000"/>
            <a:ext cx="3922776" cy="1078992"/>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t"/>
          <a:lstStyle/>
          <a:p>
            <a:endParaRPr/>
          </a:p>
        </p:txBody>
      </p:sp>
      <p:sp>
        <p:nvSpPr>
          <p:cNvPr id="9" name="Badge 2"/>
          <p:cNvSpPr/>
          <p:nvPr/>
        </p:nvSpPr>
        <p:spPr>
          <a:xfrm>
            <a:off x="4681728" y="1289304"/>
            <a:ext cx="384048" cy="384048"/>
          </a:xfrm>
          <a:prstGeom prst="ellipse">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buNone/>
            </a:pPr>
            <a:r>
              <a:rPr sz="1200" b="1" i="0">
                <a:solidFill>
                  <a:srgbClr val="FFFFFF"/>
                </a:solidFill>
                <a:latin typeface="Arial"/>
              </a:rPr>
              <a:t>2</a:t>
            </a:r>
          </a:p>
        </p:txBody>
      </p:sp>
      <p:sp>
        <p:nvSpPr>
          <p:cNvPr id="10" name="TextBox 9"/>
          <p:cNvSpPr txBox="1"/>
          <p:nvPr/>
        </p:nvSpPr>
        <p:spPr>
          <a:xfrm>
            <a:off x="5175504" y="1289304"/>
            <a:ext cx="3136392" cy="411480"/>
          </a:xfrm>
          <a:prstGeom prst="rect">
            <a:avLst/>
          </a:prstGeom>
          <a:noFill/>
        </p:spPr>
        <p:txBody>
          <a:bodyPr wrap="square" lIns="0" tIns="0" rIns="0" bIns="0" anchor="ctr"/>
          <a:lstStyle/>
          <a:p>
            <a:pPr algn="l">
              <a:spcAft>
                <a:spcPts val="0"/>
              </a:spcAft>
              <a:buNone/>
            </a:pPr>
            <a:r>
              <a:rPr sz="1400" b="1" i="0">
                <a:solidFill>
                  <a:srgbClr val="1A1A1A"/>
                </a:solidFill>
                <a:latin typeface="Arial"/>
              </a:rPr>
              <a:t>Mild overfitting in Phase 2</a:t>
            </a:r>
          </a:p>
        </p:txBody>
      </p:sp>
      <p:sp>
        <p:nvSpPr>
          <p:cNvPr id="11" name="TextBox 10"/>
          <p:cNvSpPr txBox="1"/>
          <p:nvPr/>
        </p:nvSpPr>
        <p:spPr>
          <a:xfrm>
            <a:off x="4700016" y="1801368"/>
            <a:ext cx="3611880" cy="329184"/>
          </a:xfrm>
          <a:prstGeom prst="rect">
            <a:avLst/>
          </a:prstGeom>
          <a:noFill/>
        </p:spPr>
        <p:txBody>
          <a:bodyPr wrap="square" lIns="0" tIns="0" rIns="0" bIns="0" anchor="t"/>
          <a:lstStyle/>
          <a:p>
            <a:pPr algn="l">
              <a:spcAft>
                <a:spcPts val="300"/>
              </a:spcAft>
              <a:buNone/>
            </a:pPr>
            <a:r>
              <a:rPr sz="1200" b="0" i="0">
                <a:solidFill>
                  <a:srgbClr val="595959"/>
                </a:solidFill>
                <a:latin typeface="Arial"/>
              </a:rPr>
              <a:t>Controlled with early stopping at epoch 8</a:t>
            </a:r>
          </a:p>
        </p:txBody>
      </p:sp>
      <p:sp>
        <p:nvSpPr>
          <p:cNvPr id="12" name="Rounded Rectangle 11"/>
          <p:cNvSpPr/>
          <p:nvPr/>
        </p:nvSpPr>
        <p:spPr>
          <a:xfrm>
            <a:off x="429768" y="2359152"/>
            <a:ext cx="3922776" cy="1078992"/>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t"/>
          <a:lstStyle/>
          <a:p>
            <a:endParaRPr/>
          </a:p>
        </p:txBody>
      </p:sp>
      <p:sp>
        <p:nvSpPr>
          <p:cNvPr id="13" name="Badge 3"/>
          <p:cNvSpPr/>
          <p:nvPr/>
        </p:nvSpPr>
        <p:spPr>
          <a:xfrm>
            <a:off x="576072" y="2505456"/>
            <a:ext cx="384048" cy="384048"/>
          </a:xfrm>
          <a:prstGeom prst="ellipse">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buNone/>
            </a:pPr>
            <a:r>
              <a:rPr sz="1200" b="1" i="0">
                <a:solidFill>
                  <a:srgbClr val="FFFFFF"/>
                </a:solidFill>
                <a:latin typeface="Arial"/>
              </a:rPr>
              <a:t>3</a:t>
            </a:r>
          </a:p>
        </p:txBody>
      </p:sp>
      <p:sp>
        <p:nvSpPr>
          <p:cNvPr id="14" name="TextBox 13"/>
          <p:cNvSpPr txBox="1"/>
          <p:nvPr/>
        </p:nvSpPr>
        <p:spPr>
          <a:xfrm>
            <a:off x="1069848" y="2505456"/>
            <a:ext cx="3136392" cy="411480"/>
          </a:xfrm>
          <a:prstGeom prst="rect">
            <a:avLst/>
          </a:prstGeom>
          <a:noFill/>
        </p:spPr>
        <p:txBody>
          <a:bodyPr wrap="square" lIns="0" tIns="0" rIns="0" bIns="0" anchor="ctr"/>
          <a:lstStyle/>
          <a:p>
            <a:pPr algn="l">
              <a:spcAft>
                <a:spcPts val="0"/>
              </a:spcAft>
              <a:buNone/>
            </a:pPr>
            <a:r>
              <a:rPr sz="1400" b="1" i="0">
                <a:solidFill>
                  <a:srgbClr val="1A1A1A"/>
                </a:solidFill>
                <a:latin typeface="Arial"/>
              </a:rPr>
              <a:t>Large QR codes are harder</a:t>
            </a:r>
          </a:p>
        </p:txBody>
      </p:sp>
      <p:sp>
        <p:nvSpPr>
          <p:cNvPr id="15" name="TextBox 14"/>
          <p:cNvSpPr txBox="1"/>
          <p:nvPr/>
        </p:nvSpPr>
        <p:spPr>
          <a:xfrm>
            <a:off x="594360" y="3017520"/>
            <a:ext cx="3611880" cy="329184"/>
          </a:xfrm>
          <a:prstGeom prst="rect">
            <a:avLst/>
          </a:prstGeom>
          <a:noFill/>
        </p:spPr>
        <p:txBody>
          <a:bodyPr wrap="square" lIns="0" tIns="0" rIns="0" bIns="0" anchor="t"/>
          <a:lstStyle/>
          <a:p>
            <a:pPr algn="l">
              <a:spcAft>
                <a:spcPts val="300"/>
              </a:spcAft>
              <a:buNone/>
            </a:pPr>
            <a:r>
              <a:rPr sz="1200" b="0" i="0">
                <a:solidFill>
                  <a:srgbClr val="595959"/>
                </a:solidFill>
                <a:latin typeface="Arial"/>
              </a:rPr>
              <a:t>Performance drops on high-resolution images</a:t>
            </a:r>
          </a:p>
        </p:txBody>
      </p:sp>
      <p:sp>
        <p:nvSpPr>
          <p:cNvPr id="16" name="Rounded Rectangle 15"/>
          <p:cNvSpPr/>
          <p:nvPr/>
        </p:nvSpPr>
        <p:spPr>
          <a:xfrm>
            <a:off x="4535424" y="2359152"/>
            <a:ext cx="3922776" cy="1078992"/>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t"/>
          <a:lstStyle/>
          <a:p>
            <a:endParaRPr/>
          </a:p>
        </p:txBody>
      </p:sp>
      <p:sp>
        <p:nvSpPr>
          <p:cNvPr id="17" name="Badge 4"/>
          <p:cNvSpPr/>
          <p:nvPr/>
        </p:nvSpPr>
        <p:spPr>
          <a:xfrm>
            <a:off x="4681728" y="2505456"/>
            <a:ext cx="384048" cy="384048"/>
          </a:xfrm>
          <a:prstGeom prst="ellipse">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buNone/>
            </a:pPr>
            <a:r>
              <a:rPr sz="1200" b="1" i="0">
                <a:solidFill>
                  <a:srgbClr val="FFFFFF"/>
                </a:solidFill>
                <a:latin typeface="Arial"/>
              </a:rPr>
              <a:t>4</a:t>
            </a:r>
          </a:p>
        </p:txBody>
      </p:sp>
      <p:sp>
        <p:nvSpPr>
          <p:cNvPr id="18" name="TextBox 17"/>
          <p:cNvSpPr txBox="1"/>
          <p:nvPr/>
        </p:nvSpPr>
        <p:spPr>
          <a:xfrm>
            <a:off x="5175504" y="2505456"/>
            <a:ext cx="3136392" cy="411480"/>
          </a:xfrm>
          <a:prstGeom prst="rect">
            <a:avLst/>
          </a:prstGeom>
          <a:noFill/>
        </p:spPr>
        <p:txBody>
          <a:bodyPr wrap="square" lIns="0" tIns="0" rIns="0" bIns="0" anchor="ctr"/>
          <a:lstStyle/>
          <a:p>
            <a:pPr algn="l">
              <a:spcAft>
                <a:spcPts val="0"/>
              </a:spcAft>
              <a:buNone/>
            </a:pPr>
            <a:r>
              <a:rPr sz="1400" b="1" i="0">
                <a:solidFill>
                  <a:srgbClr val="1A1A1A"/>
                </a:solidFill>
                <a:latin typeface="Arial"/>
              </a:rPr>
              <a:t>Visual-only calibration</a:t>
            </a:r>
          </a:p>
        </p:txBody>
      </p:sp>
      <p:sp>
        <p:nvSpPr>
          <p:cNvPr id="19" name="TextBox 18"/>
          <p:cNvSpPr txBox="1"/>
          <p:nvPr/>
        </p:nvSpPr>
        <p:spPr>
          <a:xfrm>
            <a:off x="4700016" y="3017520"/>
            <a:ext cx="3611880" cy="329184"/>
          </a:xfrm>
          <a:prstGeom prst="rect">
            <a:avLst/>
          </a:prstGeom>
          <a:noFill/>
        </p:spPr>
        <p:txBody>
          <a:bodyPr wrap="square" lIns="0" tIns="0" rIns="0" bIns="0" anchor="t"/>
          <a:lstStyle/>
          <a:p>
            <a:pPr algn="l">
              <a:spcAft>
                <a:spcPts val="300"/>
              </a:spcAft>
              <a:buNone/>
            </a:pPr>
            <a:r>
              <a:rPr sz="1200" b="0" i="0">
                <a:solidFill>
                  <a:srgbClr val="595959"/>
                </a:solidFill>
                <a:latin typeface="Arial"/>
              </a:rPr>
              <a:t>Its probabilities are not perfectly calibrated</a:t>
            </a:r>
          </a:p>
        </p:txBody>
      </p:sp>
      <p:sp>
        <p:nvSpPr>
          <p:cNvPr id="20" name="Rounded Rectangle 19"/>
          <p:cNvSpPr/>
          <p:nvPr/>
        </p:nvSpPr>
        <p:spPr>
          <a:xfrm>
            <a:off x="429768" y="3630168"/>
            <a:ext cx="8028432" cy="713232"/>
          </a:xfrm>
          <a:prstGeom prst="roundRect">
            <a:avLst>
              <a:gd name="adj" fmla="val 8000"/>
            </a:avLst>
          </a:prstGeom>
          <a:solidFill>
            <a:srgbClr val="EAF7FD"/>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wrap="square" lIns="182880" tIns="109728" rIns="182880" bIns="109728" rtlCol="0" anchor="ctr"/>
          <a:lstStyle/>
          <a:p>
            <a:pPr algn="l">
              <a:spcAft>
                <a:spcPts val="0"/>
              </a:spcAft>
              <a:buNone/>
            </a:pPr>
            <a:r>
              <a:rPr sz="1200" b="1" i="0">
                <a:solidFill>
                  <a:srgbClr val="00BFFF"/>
                </a:solidFill>
                <a:latin typeface="Arial"/>
              </a:rPr>
              <a:t>Scope: </a:t>
            </a:r>
            <a:r>
              <a:rPr sz="1200" b="0" i="0">
                <a:solidFill>
                  <a:srgbClr val="1A1A1A"/>
                </a:solidFill>
                <a:latin typeface="Arial"/>
              </a:rPr>
              <a:t>static QR images and their URL only — no message, sender or page context. </a:t>
            </a:r>
            <a:r>
              <a:rPr sz="1200" b="1" i="0">
                <a:solidFill>
                  <a:srgbClr val="1A1A1A"/>
                </a:solidFill>
                <a:latin typeface="Arial"/>
              </a:rPr>
              <a:t>Q-Shield is one layer of defense, not the whole defense.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1"/>
          <p:cNvCxnSpPr/>
          <p:nvPr/>
        </p:nvCxnSpPr>
        <p:spPr>
          <a:xfrm>
            <a:off x="1216152" y="2231136"/>
            <a:ext cx="2560320" cy="0"/>
          </a:xfrm>
          <a:prstGeom prst="line">
            <a:avLst/>
          </a:prstGeom>
          <a:ln w="19050">
            <a:solidFill>
              <a:srgbClr val="00BFFF"/>
            </a:solidFill>
          </a:ln>
        </p:spPr>
        <p:style>
          <a:lnRef idx="2">
            <a:schemeClr val="accent1"/>
          </a:lnRef>
          <a:fillRef idx="0">
            <a:schemeClr val="accent1"/>
          </a:fillRef>
          <a:effectRef idx="1">
            <a:schemeClr val="accent1"/>
          </a:effectRef>
          <a:fontRef idx="minor">
            <a:schemeClr val="tx1"/>
          </a:fontRef>
        </p:style>
      </p:cxnSp>
      <p:sp>
        <p:nvSpPr>
          <p:cNvPr id="3" name="Section title"/>
          <p:cNvSpPr txBox="1"/>
          <p:nvPr/>
        </p:nvSpPr>
        <p:spPr>
          <a:xfrm>
            <a:off x="1216152" y="2304288"/>
            <a:ext cx="2788920" cy="548640"/>
          </a:xfrm>
          <a:prstGeom prst="rect">
            <a:avLst/>
          </a:prstGeom>
          <a:noFill/>
        </p:spPr>
        <p:txBody>
          <a:bodyPr wrap="square" lIns="18288" tIns="0" rIns="18288" bIns="0" anchor="t"/>
          <a:lstStyle/>
          <a:p>
            <a:pPr algn="l">
              <a:spcAft>
                <a:spcPts val="300"/>
              </a:spcAft>
              <a:buNone/>
            </a:pPr>
            <a:r>
              <a:rPr sz="2000" b="1" i="0">
                <a:solidFill>
                  <a:srgbClr val="00BFFF"/>
                </a:solidFill>
                <a:latin typeface="Arial"/>
              </a:rPr>
              <a:t>Conclusions</a:t>
            </a:r>
          </a:p>
        </p:txBody>
      </p:sp>
      <p:sp>
        <p:nvSpPr>
          <p:cNvPr id="4" name="Section question"/>
          <p:cNvSpPr txBox="1"/>
          <p:nvPr/>
        </p:nvSpPr>
        <p:spPr>
          <a:xfrm>
            <a:off x="3794760" y="2304288"/>
            <a:ext cx="4663440" cy="822960"/>
          </a:xfrm>
          <a:prstGeom prst="rect">
            <a:avLst/>
          </a:prstGeom>
          <a:noFill/>
        </p:spPr>
        <p:txBody>
          <a:bodyPr wrap="square" lIns="18288" tIns="0" rIns="18288" bIns="0" anchor="t"/>
          <a:lstStyle/>
          <a:p>
            <a:pPr algn="l">
              <a:spcAft>
                <a:spcPts val="300"/>
              </a:spcAft>
              <a:buNone/>
            </a:pPr>
            <a:r>
              <a:rPr sz="2000" b="1" i="0">
                <a:solidFill>
                  <a:srgbClr val="1A1A1A"/>
                </a:solidFill>
                <a:latin typeface="Arial"/>
              </a:rPr>
              <a:t>Closing the three objectives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29768" y="201168"/>
            <a:ext cx="7589520" cy="502920"/>
          </a:xfrm>
          <a:prstGeom prst="rect">
            <a:avLst/>
          </a:prstGeom>
          <a:noFill/>
        </p:spPr>
        <p:txBody>
          <a:bodyPr wrap="square" lIns="18288" tIns="0" rIns="18288" bIns="0" anchor="t"/>
          <a:lstStyle/>
          <a:p>
            <a:pPr algn="l">
              <a:spcAft>
                <a:spcPts val="200"/>
              </a:spcAft>
              <a:buNone/>
            </a:pPr>
            <a:r>
              <a:rPr sz="2000" b="1" i="0">
                <a:solidFill>
                  <a:srgbClr val="00BFFF"/>
                </a:solidFill>
                <a:latin typeface="Arial"/>
              </a:rPr>
              <a:t>Conclusions</a:t>
            </a:r>
          </a:p>
        </p:txBody>
      </p:sp>
      <p:sp>
        <p:nvSpPr>
          <p:cNvPr id="3" name="Rounded Rectangle 2"/>
          <p:cNvSpPr/>
          <p:nvPr/>
        </p:nvSpPr>
        <p:spPr>
          <a:xfrm>
            <a:off x="429768" y="804672"/>
            <a:ext cx="8028432" cy="777240"/>
          </a:xfrm>
          <a:prstGeom prst="roundRect">
            <a:avLst>
              <a:gd name="adj" fmla="val 8000"/>
            </a:avLst>
          </a:prstGeom>
          <a:solidFill>
            <a:srgbClr val="EAF7FD"/>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wrap="square" lIns="182880" tIns="109728" rIns="182880" bIns="109728" rtlCol="0" anchor="ctr"/>
          <a:lstStyle/>
          <a:p>
            <a:pPr algn="l">
              <a:spcAft>
                <a:spcPts val="0"/>
              </a:spcAft>
              <a:buNone/>
            </a:pPr>
            <a:r>
              <a:rPr sz="1400" b="1" i="0">
                <a:solidFill>
                  <a:srgbClr val="00BFFF"/>
                </a:solidFill>
                <a:latin typeface="Arial"/>
              </a:rPr>
              <a:t>Main finding: </a:t>
            </a:r>
            <a:r>
              <a:rPr sz="1400" b="1" i="0">
                <a:solidFill>
                  <a:srgbClr val="1A1A1A"/>
                </a:solidFill>
                <a:latin typeface="Arial"/>
              </a:rPr>
              <a:t>multimodal fusion turns FNR 0.202 into FNR 0.057 — and still covers QR codes that cannot be decoded.</a:t>
            </a:r>
          </a:p>
        </p:txBody>
      </p:sp>
      <p:sp>
        <p:nvSpPr>
          <p:cNvPr id="4" name="TextBox 3"/>
          <p:cNvSpPr txBox="1"/>
          <p:nvPr/>
        </p:nvSpPr>
        <p:spPr>
          <a:xfrm>
            <a:off x="429768" y="1755648"/>
            <a:ext cx="8028432" cy="256032"/>
          </a:xfrm>
          <a:prstGeom prst="rect">
            <a:avLst/>
          </a:prstGeom>
          <a:noFill/>
        </p:spPr>
        <p:txBody>
          <a:bodyPr wrap="square" lIns="0" tIns="0" rIns="0" bIns="0" anchor="t"/>
          <a:lstStyle/>
          <a:p>
            <a:pPr algn="l">
              <a:spcAft>
                <a:spcPts val="300"/>
              </a:spcAft>
              <a:buNone/>
            </a:pPr>
            <a:r>
              <a:rPr sz="1200" b="1" i="0">
                <a:solidFill>
                  <a:srgbClr val="00BFFF"/>
                </a:solidFill>
                <a:latin typeface="Arial"/>
              </a:rPr>
              <a:t>Our three objectives</a:t>
            </a:r>
          </a:p>
        </p:txBody>
      </p:sp>
      <p:sp>
        <p:nvSpPr>
          <p:cNvPr id="5" name="Rounded Rectangle 4"/>
          <p:cNvSpPr/>
          <p:nvPr/>
        </p:nvSpPr>
        <p:spPr>
          <a:xfrm>
            <a:off x="429768" y="2103120"/>
            <a:ext cx="2560320" cy="178308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t"/>
          <a:lstStyle/>
          <a:p>
            <a:pPr algn="ctr">
              <a:spcAft>
                <a:spcPts val="1000"/>
              </a:spcAft>
              <a:buNone/>
            </a:pPr>
            <a:r>
              <a:rPr sz="1300" b="1" i="0">
                <a:solidFill>
                  <a:srgbClr val="1A1A1A"/>
                </a:solidFill>
                <a:latin typeface="Arial"/>
              </a:rPr>
              <a:t>(i) Pipeline alignment</a:t>
            </a:r>
          </a:p>
          <a:p>
            <a:pPr algn="ctr">
              <a:spcAft>
                <a:spcPts val="800"/>
              </a:spcAft>
              <a:buNone/>
            </a:pPr>
            <a:r>
              <a:rPr sz="2400" b="1" i="0">
                <a:solidFill>
                  <a:srgbClr val="00BFFF"/>
                </a:solidFill>
                <a:latin typeface="Arial"/>
              </a:rPr>
              <a:t>0.202 → 0.057</a:t>
            </a:r>
          </a:p>
          <a:p>
            <a:pPr algn="ctr">
              <a:spcAft>
                <a:spcPts val="0"/>
              </a:spcAft>
              <a:buNone/>
            </a:pPr>
            <a:r>
              <a:rPr sz="1200" b="0" i="0">
                <a:solidFill>
                  <a:srgbClr val="595959"/>
                </a:solidFill>
                <a:latin typeface="Arial"/>
              </a:rPr>
              <a:t>FNR, while still covering undecodable codes</a:t>
            </a:r>
          </a:p>
        </p:txBody>
      </p:sp>
      <p:sp>
        <p:nvSpPr>
          <p:cNvPr id="6" name="Rounded Rectangle 5"/>
          <p:cNvSpPr/>
          <p:nvPr/>
        </p:nvSpPr>
        <p:spPr>
          <a:xfrm>
            <a:off x="3163824" y="2103120"/>
            <a:ext cx="2560320" cy="178308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t"/>
          <a:lstStyle/>
          <a:p>
            <a:pPr algn="ctr">
              <a:spcAft>
                <a:spcPts val="1000"/>
              </a:spcAft>
              <a:buNone/>
            </a:pPr>
            <a:r>
              <a:rPr sz="1300" b="1" i="0">
                <a:solidFill>
                  <a:srgbClr val="1A1A1A"/>
                </a:solidFill>
                <a:latin typeface="Arial"/>
              </a:rPr>
              <a:t>(ii) Generalization</a:t>
            </a:r>
          </a:p>
          <a:p>
            <a:pPr algn="ctr">
              <a:spcAft>
                <a:spcPts val="800"/>
              </a:spcAft>
              <a:buNone/>
            </a:pPr>
            <a:r>
              <a:rPr sz="2400" b="1" i="0">
                <a:solidFill>
                  <a:srgbClr val="00BFFF"/>
                </a:solidFill>
                <a:latin typeface="Arial"/>
              </a:rPr>
              <a:t>0.52 → 0.896</a:t>
            </a:r>
          </a:p>
          <a:p>
            <a:pPr algn="ctr">
              <a:spcAft>
                <a:spcPts val="0"/>
              </a:spcAft>
              <a:buNone/>
            </a:pPr>
            <a:r>
              <a:rPr sz="1200" b="0" i="0">
                <a:solidFill>
                  <a:srgbClr val="595959"/>
                </a:solidFill>
                <a:latin typeface="Arial"/>
              </a:rPr>
              <a:t>AUC when we train on both datasets</a:t>
            </a:r>
          </a:p>
        </p:txBody>
      </p:sp>
      <p:sp>
        <p:nvSpPr>
          <p:cNvPr id="7" name="Rounded Rectangle 6"/>
          <p:cNvSpPr/>
          <p:nvPr/>
        </p:nvSpPr>
        <p:spPr>
          <a:xfrm>
            <a:off x="5897880" y="2103120"/>
            <a:ext cx="2560320" cy="178308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t"/>
          <a:lstStyle/>
          <a:p>
            <a:pPr algn="ctr">
              <a:spcAft>
                <a:spcPts val="1000"/>
              </a:spcAft>
              <a:buNone/>
            </a:pPr>
            <a:r>
              <a:rPr sz="1300" b="1" i="0">
                <a:solidFill>
                  <a:srgbClr val="1A1A1A"/>
                </a:solidFill>
                <a:latin typeface="Arial"/>
              </a:rPr>
              <a:t>(iii) Explainability</a:t>
            </a:r>
          </a:p>
          <a:p>
            <a:pPr algn="ctr">
              <a:spcAft>
                <a:spcPts val="800"/>
              </a:spcAft>
              <a:buNone/>
            </a:pPr>
            <a:r>
              <a:rPr sz="2400" b="1" i="0">
                <a:solidFill>
                  <a:srgbClr val="00BFFF"/>
                </a:solidFill>
                <a:latin typeface="Arial"/>
              </a:rPr>
              <a:t>r = 0.43</a:t>
            </a:r>
          </a:p>
          <a:p>
            <a:pPr algn="ctr">
              <a:spcAft>
                <a:spcPts val="0"/>
              </a:spcAft>
              <a:buNone/>
            </a:pPr>
            <a:r>
              <a:rPr sz="1200" b="0" i="0">
                <a:solidFill>
                  <a:srgbClr val="595959"/>
                </a:solidFill>
                <a:latin typeface="Arial"/>
              </a:rPr>
              <a:t>Grad-CAM agreement across the two datasets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1"/>
          <p:cNvCxnSpPr/>
          <p:nvPr/>
        </p:nvCxnSpPr>
        <p:spPr>
          <a:xfrm>
            <a:off x="1216152" y="2231136"/>
            <a:ext cx="2560320" cy="0"/>
          </a:xfrm>
          <a:prstGeom prst="line">
            <a:avLst/>
          </a:prstGeom>
          <a:ln w="19050">
            <a:solidFill>
              <a:srgbClr val="00BFFF"/>
            </a:solidFill>
          </a:ln>
        </p:spPr>
        <p:style>
          <a:lnRef idx="2">
            <a:schemeClr val="accent1"/>
          </a:lnRef>
          <a:fillRef idx="0">
            <a:schemeClr val="accent1"/>
          </a:fillRef>
          <a:effectRef idx="1">
            <a:schemeClr val="accent1"/>
          </a:effectRef>
          <a:fontRef idx="minor">
            <a:schemeClr val="tx1"/>
          </a:fontRef>
        </p:style>
      </p:cxnSp>
      <p:sp>
        <p:nvSpPr>
          <p:cNvPr id="3" name="Section title"/>
          <p:cNvSpPr txBox="1"/>
          <p:nvPr/>
        </p:nvSpPr>
        <p:spPr>
          <a:xfrm>
            <a:off x="1216152" y="2304288"/>
            <a:ext cx="2788920" cy="548640"/>
          </a:xfrm>
          <a:prstGeom prst="rect">
            <a:avLst/>
          </a:prstGeom>
          <a:noFill/>
        </p:spPr>
        <p:txBody>
          <a:bodyPr wrap="square" lIns="18288" tIns="0" rIns="18288" bIns="0" anchor="t"/>
          <a:lstStyle/>
          <a:p>
            <a:pPr algn="l">
              <a:spcAft>
                <a:spcPts val="300"/>
              </a:spcAft>
              <a:buNone/>
            </a:pPr>
            <a:r>
              <a:rPr sz="2000" b="1" i="0">
                <a:solidFill>
                  <a:srgbClr val="00BFFF"/>
                </a:solidFill>
                <a:latin typeface="Arial"/>
              </a:rPr>
              <a:t>Future Work</a:t>
            </a:r>
          </a:p>
        </p:txBody>
      </p:sp>
      <p:sp>
        <p:nvSpPr>
          <p:cNvPr id="4" name="Section question"/>
          <p:cNvSpPr txBox="1"/>
          <p:nvPr/>
        </p:nvSpPr>
        <p:spPr>
          <a:xfrm>
            <a:off x="3794760" y="2304288"/>
            <a:ext cx="4663440" cy="822960"/>
          </a:xfrm>
          <a:prstGeom prst="rect">
            <a:avLst/>
          </a:prstGeom>
          <a:noFill/>
        </p:spPr>
        <p:txBody>
          <a:bodyPr wrap="square" lIns="18288" tIns="0" rIns="18288" bIns="0" anchor="t"/>
          <a:lstStyle/>
          <a:p>
            <a:pPr algn="l">
              <a:spcAft>
                <a:spcPts val="300"/>
              </a:spcAft>
              <a:buNone/>
            </a:pPr>
            <a:r>
              <a:rPr sz="2000" b="1" i="0">
                <a:solidFill>
                  <a:srgbClr val="1A1A1A"/>
                </a:solidFill>
                <a:latin typeface="Arial"/>
              </a:rPr>
              <a:t>Where this goes next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29768" y="201168"/>
            <a:ext cx="7589520" cy="502920"/>
          </a:xfrm>
          <a:prstGeom prst="rect">
            <a:avLst/>
          </a:prstGeom>
          <a:noFill/>
        </p:spPr>
        <p:txBody>
          <a:bodyPr wrap="square" lIns="18288" tIns="0" rIns="18288" bIns="0" anchor="t"/>
          <a:lstStyle/>
          <a:p>
            <a:pPr algn="l">
              <a:spcAft>
                <a:spcPts val="200"/>
              </a:spcAft>
              <a:buNone/>
            </a:pPr>
            <a:r>
              <a:rPr sz="2000" b="1" i="0">
                <a:solidFill>
                  <a:srgbClr val="00BFFF"/>
                </a:solidFill>
                <a:latin typeface="Arial"/>
              </a:rPr>
              <a:t>Future Work</a:t>
            </a:r>
          </a:p>
        </p:txBody>
      </p:sp>
      <p:sp>
        <p:nvSpPr>
          <p:cNvPr id="3" name="Subtitle"/>
          <p:cNvSpPr txBox="1"/>
          <p:nvPr/>
        </p:nvSpPr>
        <p:spPr>
          <a:xfrm>
            <a:off x="429768" y="749808"/>
            <a:ext cx="8028432" cy="274320"/>
          </a:xfrm>
          <a:prstGeom prst="rect">
            <a:avLst/>
          </a:prstGeom>
          <a:noFill/>
        </p:spPr>
        <p:txBody>
          <a:bodyPr wrap="square" lIns="18288" tIns="0" rIns="18288" bIns="0" anchor="t"/>
          <a:lstStyle/>
          <a:p>
            <a:pPr algn="l">
              <a:spcAft>
                <a:spcPts val="300"/>
              </a:spcAft>
              <a:buNone/>
            </a:pPr>
            <a:r>
              <a:rPr sz="1200" b="1" i="0">
                <a:solidFill>
                  <a:srgbClr val="00BFFF"/>
                </a:solidFill>
                <a:latin typeface="Arial"/>
              </a:rPr>
              <a:t>Four next steps</a:t>
            </a:r>
          </a:p>
        </p:txBody>
      </p:sp>
      <p:sp>
        <p:nvSpPr>
          <p:cNvPr id="4" name="Rounded Rectangle 3"/>
          <p:cNvSpPr/>
          <p:nvPr/>
        </p:nvSpPr>
        <p:spPr>
          <a:xfrm>
            <a:off x="429768" y="1143000"/>
            <a:ext cx="1874520" cy="2377440"/>
          </a:xfrm>
          <a:prstGeom prst="roundRect">
            <a:avLst>
              <a:gd name="adj" fmla="val 8000"/>
            </a:avLst>
          </a:prstGeom>
          <a:solidFill>
            <a:srgbClr val="FFFFFF"/>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t"/>
          <a:lstStyle/>
          <a:p>
            <a:endParaRPr/>
          </a:p>
        </p:txBody>
      </p:sp>
      <p:sp>
        <p:nvSpPr>
          <p:cNvPr id="5" name="Badge 01"/>
          <p:cNvSpPr/>
          <p:nvPr/>
        </p:nvSpPr>
        <p:spPr>
          <a:xfrm>
            <a:off x="576072" y="1289304"/>
            <a:ext cx="384048" cy="384048"/>
          </a:xfrm>
          <a:prstGeom prst="ellipse">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buNone/>
            </a:pPr>
            <a:r>
              <a:rPr sz="1200" b="1" i="0">
                <a:solidFill>
                  <a:srgbClr val="FFFFFF"/>
                </a:solidFill>
                <a:latin typeface="Arial"/>
              </a:rPr>
              <a:t>01</a:t>
            </a:r>
          </a:p>
        </p:txBody>
      </p:sp>
      <p:sp>
        <p:nvSpPr>
          <p:cNvPr id="6" name="TextBox 5"/>
          <p:cNvSpPr txBox="1"/>
          <p:nvPr/>
        </p:nvSpPr>
        <p:spPr>
          <a:xfrm>
            <a:off x="576072" y="1810512"/>
            <a:ext cx="1600200" cy="566928"/>
          </a:xfrm>
          <a:prstGeom prst="rect">
            <a:avLst/>
          </a:prstGeom>
          <a:noFill/>
        </p:spPr>
        <p:txBody>
          <a:bodyPr wrap="square" lIns="0" tIns="0" rIns="0" bIns="0" anchor="t"/>
          <a:lstStyle/>
          <a:p>
            <a:pPr algn="l">
              <a:spcAft>
                <a:spcPts val="0"/>
              </a:spcAft>
              <a:buNone/>
            </a:pPr>
            <a:r>
              <a:rPr sz="1400" b="1" i="0">
                <a:solidFill>
                  <a:srgbClr val="1A1A1A"/>
                </a:solidFill>
                <a:latin typeface="Arial"/>
              </a:rPr>
              <a:t>Context branch</a:t>
            </a:r>
          </a:p>
        </p:txBody>
      </p:sp>
      <p:sp>
        <p:nvSpPr>
          <p:cNvPr id="7" name="TextBox 6"/>
          <p:cNvSpPr txBox="1"/>
          <p:nvPr/>
        </p:nvSpPr>
        <p:spPr>
          <a:xfrm>
            <a:off x="576072" y="2395728"/>
            <a:ext cx="1600200" cy="1051560"/>
          </a:xfrm>
          <a:prstGeom prst="rect">
            <a:avLst/>
          </a:prstGeom>
          <a:noFill/>
        </p:spPr>
        <p:txBody>
          <a:bodyPr wrap="square" lIns="0" tIns="0" rIns="0" bIns="0" anchor="t"/>
          <a:lstStyle/>
          <a:p>
            <a:pPr algn="l">
              <a:spcAft>
                <a:spcPts val="300"/>
              </a:spcAft>
              <a:buNone/>
            </a:pPr>
            <a:r>
              <a:rPr sz="1200" b="0" i="0">
                <a:solidFill>
                  <a:srgbClr val="595959"/>
                </a:solidFill>
                <a:latin typeface="Arial"/>
              </a:rPr>
              <a:t>Read the message, sender and web page around the QR code</a:t>
            </a:r>
          </a:p>
        </p:txBody>
      </p:sp>
      <p:sp>
        <p:nvSpPr>
          <p:cNvPr id="8" name="Rounded Rectangle 7"/>
          <p:cNvSpPr/>
          <p:nvPr/>
        </p:nvSpPr>
        <p:spPr>
          <a:xfrm>
            <a:off x="2480767" y="1143000"/>
            <a:ext cx="1874520" cy="237744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t"/>
          <a:lstStyle/>
          <a:p>
            <a:endParaRPr/>
          </a:p>
        </p:txBody>
      </p:sp>
      <p:sp>
        <p:nvSpPr>
          <p:cNvPr id="9" name="Badge 02"/>
          <p:cNvSpPr/>
          <p:nvPr/>
        </p:nvSpPr>
        <p:spPr>
          <a:xfrm>
            <a:off x="2627071" y="1289304"/>
            <a:ext cx="384048" cy="384048"/>
          </a:xfrm>
          <a:prstGeom prst="ellipse">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buNone/>
            </a:pPr>
            <a:r>
              <a:rPr sz="1200" b="1" i="0">
                <a:solidFill>
                  <a:srgbClr val="FFFFFF"/>
                </a:solidFill>
                <a:latin typeface="Arial"/>
              </a:rPr>
              <a:t>02</a:t>
            </a:r>
          </a:p>
        </p:txBody>
      </p:sp>
      <p:sp>
        <p:nvSpPr>
          <p:cNvPr id="10" name="TextBox 9"/>
          <p:cNvSpPr txBox="1"/>
          <p:nvPr/>
        </p:nvSpPr>
        <p:spPr>
          <a:xfrm>
            <a:off x="2627071" y="1810512"/>
            <a:ext cx="1600200" cy="566928"/>
          </a:xfrm>
          <a:prstGeom prst="rect">
            <a:avLst/>
          </a:prstGeom>
          <a:noFill/>
        </p:spPr>
        <p:txBody>
          <a:bodyPr wrap="square" lIns="0" tIns="0" rIns="0" bIns="0" anchor="t"/>
          <a:lstStyle/>
          <a:p>
            <a:pPr algn="l">
              <a:spcAft>
                <a:spcPts val="0"/>
              </a:spcAft>
              <a:buNone/>
            </a:pPr>
            <a:r>
              <a:rPr sz="1400" b="1" i="0">
                <a:solidFill>
                  <a:srgbClr val="1A1A1A"/>
                </a:solidFill>
                <a:latin typeface="Arial"/>
              </a:rPr>
              <a:t>Multi-scale training</a:t>
            </a:r>
          </a:p>
        </p:txBody>
      </p:sp>
      <p:sp>
        <p:nvSpPr>
          <p:cNvPr id="11" name="TextBox 10"/>
          <p:cNvSpPr txBox="1"/>
          <p:nvPr/>
        </p:nvSpPr>
        <p:spPr>
          <a:xfrm>
            <a:off x="2627071" y="2395728"/>
            <a:ext cx="1600200" cy="1051560"/>
          </a:xfrm>
          <a:prstGeom prst="rect">
            <a:avLst/>
          </a:prstGeom>
          <a:noFill/>
        </p:spPr>
        <p:txBody>
          <a:bodyPr wrap="square" lIns="0" tIns="0" rIns="0" bIns="0" anchor="t"/>
          <a:lstStyle/>
          <a:p>
            <a:pPr algn="l">
              <a:spcAft>
                <a:spcPts val="300"/>
              </a:spcAft>
              <a:buNone/>
            </a:pPr>
            <a:r>
              <a:rPr sz="1200" b="0" i="0">
                <a:solidFill>
                  <a:srgbClr val="595959"/>
                </a:solidFill>
                <a:latin typeface="Arial"/>
              </a:rPr>
              <a:t>Better results on large, high-resolution QR codes</a:t>
            </a:r>
          </a:p>
        </p:txBody>
      </p:sp>
      <p:sp>
        <p:nvSpPr>
          <p:cNvPr id="12" name="Rounded Rectangle 11"/>
          <p:cNvSpPr/>
          <p:nvPr/>
        </p:nvSpPr>
        <p:spPr>
          <a:xfrm>
            <a:off x="4531766" y="1143000"/>
            <a:ext cx="1874520" cy="237744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t"/>
          <a:lstStyle/>
          <a:p>
            <a:endParaRPr/>
          </a:p>
        </p:txBody>
      </p:sp>
      <p:sp>
        <p:nvSpPr>
          <p:cNvPr id="13" name="Badge 03"/>
          <p:cNvSpPr/>
          <p:nvPr/>
        </p:nvSpPr>
        <p:spPr>
          <a:xfrm>
            <a:off x="4678070" y="1289304"/>
            <a:ext cx="384048" cy="384048"/>
          </a:xfrm>
          <a:prstGeom prst="ellipse">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buNone/>
            </a:pPr>
            <a:r>
              <a:rPr sz="1200" b="1" i="0">
                <a:solidFill>
                  <a:srgbClr val="FFFFFF"/>
                </a:solidFill>
                <a:latin typeface="Arial"/>
              </a:rPr>
              <a:t>03</a:t>
            </a:r>
          </a:p>
        </p:txBody>
      </p:sp>
      <p:sp>
        <p:nvSpPr>
          <p:cNvPr id="14" name="TextBox 13"/>
          <p:cNvSpPr txBox="1"/>
          <p:nvPr/>
        </p:nvSpPr>
        <p:spPr>
          <a:xfrm>
            <a:off x="4678070" y="1810512"/>
            <a:ext cx="1600200" cy="566928"/>
          </a:xfrm>
          <a:prstGeom prst="rect">
            <a:avLst/>
          </a:prstGeom>
          <a:noFill/>
        </p:spPr>
        <p:txBody>
          <a:bodyPr wrap="square" lIns="0" tIns="0" rIns="0" bIns="0" anchor="t"/>
          <a:lstStyle/>
          <a:p>
            <a:pPr algn="l">
              <a:spcAft>
                <a:spcPts val="0"/>
              </a:spcAft>
              <a:buNone/>
            </a:pPr>
            <a:r>
              <a:rPr sz="1400" b="1" i="0">
                <a:solidFill>
                  <a:srgbClr val="1A1A1A"/>
                </a:solidFill>
                <a:latin typeface="Arial"/>
              </a:rPr>
              <a:t>Adversarial robustness</a:t>
            </a:r>
          </a:p>
        </p:txBody>
      </p:sp>
      <p:sp>
        <p:nvSpPr>
          <p:cNvPr id="15" name="TextBox 14"/>
          <p:cNvSpPr txBox="1"/>
          <p:nvPr/>
        </p:nvSpPr>
        <p:spPr>
          <a:xfrm>
            <a:off x="4678070" y="2395728"/>
            <a:ext cx="1600200" cy="1051560"/>
          </a:xfrm>
          <a:prstGeom prst="rect">
            <a:avLst/>
          </a:prstGeom>
          <a:noFill/>
        </p:spPr>
        <p:txBody>
          <a:bodyPr wrap="square" lIns="0" tIns="0" rIns="0" bIns="0" anchor="t"/>
          <a:lstStyle/>
          <a:p>
            <a:pPr algn="l">
              <a:spcAft>
                <a:spcPts val="300"/>
              </a:spcAft>
              <a:buNone/>
            </a:pPr>
            <a:r>
              <a:rPr sz="1200" b="0" i="0">
                <a:solidFill>
                  <a:srgbClr val="595959"/>
                </a:solidFill>
                <a:latin typeface="Arial"/>
              </a:rPr>
              <a:t>Test against stylized and manipulated QR codes</a:t>
            </a:r>
          </a:p>
        </p:txBody>
      </p:sp>
      <p:sp>
        <p:nvSpPr>
          <p:cNvPr id="16" name="Rounded Rectangle 15"/>
          <p:cNvSpPr/>
          <p:nvPr/>
        </p:nvSpPr>
        <p:spPr>
          <a:xfrm>
            <a:off x="6582766" y="1143000"/>
            <a:ext cx="1874520" cy="237744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t"/>
          <a:lstStyle/>
          <a:p>
            <a:endParaRPr/>
          </a:p>
        </p:txBody>
      </p:sp>
      <p:sp>
        <p:nvSpPr>
          <p:cNvPr id="17" name="Badge 04"/>
          <p:cNvSpPr/>
          <p:nvPr/>
        </p:nvSpPr>
        <p:spPr>
          <a:xfrm>
            <a:off x="6729070" y="1289304"/>
            <a:ext cx="384048" cy="384048"/>
          </a:xfrm>
          <a:prstGeom prst="ellipse">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buNone/>
            </a:pPr>
            <a:r>
              <a:rPr sz="1200" b="1" i="0">
                <a:solidFill>
                  <a:srgbClr val="FFFFFF"/>
                </a:solidFill>
                <a:latin typeface="Arial"/>
              </a:rPr>
              <a:t>04</a:t>
            </a:r>
          </a:p>
        </p:txBody>
      </p:sp>
      <p:sp>
        <p:nvSpPr>
          <p:cNvPr id="18" name="TextBox 17"/>
          <p:cNvSpPr txBox="1"/>
          <p:nvPr/>
        </p:nvSpPr>
        <p:spPr>
          <a:xfrm>
            <a:off x="6729070" y="1810512"/>
            <a:ext cx="1600200" cy="566928"/>
          </a:xfrm>
          <a:prstGeom prst="rect">
            <a:avLst/>
          </a:prstGeom>
          <a:noFill/>
        </p:spPr>
        <p:txBody>
          <a:bodyPr wrap="square" lIns="0" tIns="0" rIns="0" bIns="0" anchor="t"/>
          <a:lstStyle/>
          <a:p>
            <a:pPr algn="l">
              <a:spcAft>
                <a:spcPts val="0"/>
              </a:spcAft>
              <a:buNone/>
            </a:pPr>
            <a:r>
              <a:rPr sz="1400" b="1" i="0">
                <a:solidFill>
                  <a:srgbClr val="1A1A1A"/>
                </a:solidFill>
                <a:latin typeface="Arial"/>
              </a:rPr>
              <a:t>Regional adaptation</a:t>
            </a:r>
          </a:p>
        </p:txBody>
      </p:sp>
      <p:sp>
        <p:nvSpPr>
          <p:cNvPr id="19" name="TextBox 18"/>
          <p:cNvSpPr txBox="1"/>
          <p:nvPr/>
        </p:nvSpPr>
        <p:spPr>
          <a:xfrm>
            <a:off x="6729070" y="2395728"/>
            <a:ext cx="1600200" cy="1051560"/>
          </a:xfrm>
          <a:prstGeom prst="rect">
            <a:avLst/>
          </a:prstGeom>
          <a:noFill/>
        </p:spPr>
        <p:txBody>
          <a:bodyPr wrap="square" lIns="0" tIns="0" rIns="0" bIns="0" anchor="t"/>
          <a:lstStyle/>
          <a:p>
            <a:pPr algn="l">
              <a:spcAft>
                <a:spcPts val="300"/>
              </a:spcAft>
              <a:buNone/>
            </a:pPr>
            <a:r>
              <a:rPr sz="1200" b="0" i="0">
                <a:solidFill>
                  <a:srgbClr val="595959"/>
                </a:solidFill>
                <a:latin typeface="Arial"/>
              </a:rPr>
              <a:t>Adapt to Latin American QR payment systems</a:t>
            </a:r>
          </a:p>
        </p:txBody>
      </p:sp>
      <p:sp>
        <p:nvSpPr>
          <p:cNvPr id="20" name="Rounded Rectangle 19"/>
          <p:cNvSpPr/>
          <p:nvPr/>
        </p:nvSpPr>
        <p:spPr>
          <a:xfrm>
            <a:off x="429768" y="3730752"/>
            <a:ext cx="8028432" cy="566928"/>
          </a:xfrm>
          <a:prstGeom prst="roundRect">
            <a:avLst>
              <a:gd name="adj" fmla="val 8000"/>
            </a:avLst>
          </a:prstGeom>
          <a:solidFill>
            <a:srgbClr val="EAF7FD"/>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0"/>
              </a:spcAft>
              <a:buNone/>
            </a:pPr>
            <a:r>
              <a:rPr sz="1300" b="1" i="0">
                <a:solidFill>
                  <a:srgbClr val="1A1A1A"/>
                </a:solidFill>
                <a:latin typeface="Arial"/>
              </a:rPr>
              <a:t>Content-based detection is one layer. Provenance checks and context complete the defense.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40664" y="3675887"/>
            <a:ext cx="5486400" cy="868680"/>
          </a:xfrm>
          <a:prstGeom prst="rect">
            <a:avLst/>
          </a:prstGeom>
          <a:noFill/>
        </p:spPr>
        <p:txBody>
          <a:bodyPr wrap="square" lIns="18288" tIns="0" rIns="18288" bIns="0" anchor="t">
            <a:spAutoFit/>
          </a:bodyPr>
          <a:lstStyle/>
          <a:p>
            <a:pPr algn="l">
              <a:spcAft>
                <a:spcPts val="300"/>
              </a:spcAft>
            </a:pPr>
            <a:r>
              <a:rPr sz="1200" b="1" i="0">
                <a:solidFill>
                  <a:srgbClr val="00BFFF"/>
                </a:solidFill>
                <a:latin typeface="Arial"/>
              </a:rPr>
              <a:t>nicolas.llerena@utec.edu.pe</a:t>
            </a:r>
          </a:p>
          <a:p>
            <a:pPr algn="l">
              <a:spcAft>
                <a:spcPts val="300"/>
              </a:spcAft>
            </a:pPr>
            <a:r>
              <a:rPr sz="1000" b="0" i="0">
                <a:solidFill>
                  <a:srgbClr val="595959"/>
                </a:solidFill>
                <a:latin typeface="Arial"/>
              </a:rPr>
              <a:t>Department of Computer Science · UTEC · Lima, Perú</a:t>
            </a:r>
          </a:p>
          <a:p>
            <a:pPr algn="l">
              <a:spcAft>
                <a:spcPts val="300"/>
              </a:spcAft>
            </a:pPr>
            <a:r>
              <a:rPr sz="850" b="0" i="0">
                <a:solidFill>
                  <a:srgbClr val="888888"/>
                </a:solidFill>
                <a:latin typeface="Arial"/>
              </a:rPr>
              <a:t>ORCID 0009-0007-3244-7746  ·  IEEE LA-CCI 2026 · Paper 47</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TotalTime>
  <Words>3467</Words>
  <Application>Microsoft Office PowerPoint</Application>
  <PresentationFormat>Presentación en pantalla (16:9)</PresentationFormat>
  <Paragraphs>340</Paragraphs>
  <Slides>29</Slides>
  <Notes>29</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29</vt:i4>
      </vt:variant>
    </vt:vector>
  </HeadingPairs>
  <TitlesOfParts>
    <vt:vector size="34" baseType="lpstr">
      <vt:lpstr>Space Grotesk</vt:lpstr>
      <vt:lpstr>Arial</vt:lpstr>
      <vt:lpstr>Permanent Marker</vt:lpstr>
      <vt:lpstr>Quattrocento Sans</vt: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Nicolás Alejandro Llerena Silva</cp:lastModifiedBy>
  <cp:revision>2</cp:revision>
  <dcterms:modified xsi:type="dcterms:W3CDTF">2026-10-18T23:01:14Z</dcterms:modified>
</cp:coreProperties>
</file>