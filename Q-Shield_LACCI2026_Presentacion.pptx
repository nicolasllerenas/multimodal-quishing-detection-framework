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33"/>
  </p:notesMasterIdLst>
  <p:sldIdLst>
    <p:sldId id="256" r:id="rId2"/>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285" r:id="rId31"/>
  </p:sldIdLst>
  <p:sldSz cx="9144000" cy="5143500" type="screen16x9"/>
  <p:notesSz cx="6858000" cy="9144000"/>
  <p:embeddedFontLst>
    <p:embeddedFont>
      <p:font typeface="Permanent Marker" panose="020B0604020202020204" charset="0"/>
      <p:regular r:id="rId34"/>
    </p:embeddedFont>
    <p:embeddedFont>
      <p:font typeface="Quattrocento Sans" panose="020B0502050000020003" pitchFamily="34" charset="0"/>
      <p:regular r:id="rId35"/>
      <p:bold r:id="rId36"/>
      <p:italic r:id="rId37"/>
      <p:boldItalic r:id="rId38"/>
    </p:embeddedFont>
    <p:embeddedFont>
      <p:font typeface="Space Grotesk"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9A5B64-9FF6-42D4-9211-59C02424501C}">
  <a:tblStyle styleId="{699A5B64-9FF6-42D4-9211-59C02424501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1" Type="http://schemas.openxmlformats.org/officeDocument/2006/relationships/slide" Target="slides/slide30.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1A1A1A"/>
                </a:solidFill>
                <a:latin typeface="Arial"/>
              </a:rPr>
              <a:t>Share of phishing attacks that use a QR code</a:t>
            </a:r>
          </a:p>
        </c:rich>
      </c:tx>
      <c:layout/>
      <c:overlay val="0"/>
    </c:title>
    <c:autoTitleDeleted val="0"/>
    <c:plotArea>
      <c:barChart>
        <c:barDir val="col"/>
        <c:grouping val="clustered"/>
        <c:varyColors val="0"/>
        <c:ser>
          <c:idx val="0"/>
          <c:order val="0"/>
          <c:tx>
            <c:strRef>
              <c:f>Sheet1!$B$1</c:f>
              <c:strCache>
                <c:ptCount val="1"/>
                <c:pt idx="0">
                  <c:v>value</c:v>
                </c:pt>
              </c:strCache>
            </c:strRef>
          </c:tx>
          <c:dPt>
            <c:idx val="0"/>
            <c:spPr>
              <a:solidFill>
                <a:srgbClr val="C5CDD5"/>
              </a:solidFill>
              <a:ln>
                <a:noFill/>
              </a:ln>
            </c:spPr>
          </c:dPt>
          <c:dPt>
            <c:idx val="1"/>
            <c:spPr>
              <a:solidFill>
                <a:srgbClr val="7FDBFF"/>
              </a:solidFill>
              <a:ln>
                <a:noFill/>
              </a:ln>
            </c:spPr>
          </c:dPt>
          <c:dPt>
            <c:idx val="2"/>
            <c:spPr>
              <a:solidFill>
                <a:srgbClr val="00BFFF"/>
              </a:solidFill>
              <a:ln>
                <a:noFill/>
              </a:ln>
            </c:spPr>
          </c:dPt>
          <c:cat>
            <c:strRef>
              <c:f>Sheet1!$A$2:$A$4</c:f>
              <c:strCache>
                <c:ptCount val="3"/>
                <c:pt idx="0">
                  <c:v>2021</c:v>
                </c:pt>
                <c:pt idx="1">
                  <c:v>2022</c:v>
                </c:pt>
                <c:pt idx="2">
                  <c:v>2023</c:v>
                </c:pt>
              </c:strCache>
            </c:strRef>
          </c:cat>
          <c:val>
            <c:numRef>
              <c:f>Sheet1!$B$2:$B$4</c:f>
              <c:numCache>
                <c:formatCode>General</c:formatCode>
                <c:ptCount val="3"/>
                <c:pt idx="0">
                  <c:v>0.8</c:v>
                </c:pt>
                <c:pt idx="1">
                  <c:v>1.4</c:v>
                </c:pt>
                <c:pt idx="2">
                  <c:v>12.4</c:v>
                </c:pt>
              </c:numCache>
            </c:numRef>
          </c:val>
        </c:ser>
        <c:dLbls>
          <c:numFmt formatCode="0.0&quot;%&quot;" sourceLinked="0"/>
          <c:txPr>
            <a:bodyPr/>
            <a:lstStyle/>
            <a:p>
              <a:pPr>
                <a:defRPr sz="1200" b="1">
                  <a:solidFill>
                    <a:srgbClr val="1A1A1A"/>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1000">
                <a:solidFill>
                  <a:srgbClr val="1A1A1A"/>
                </a:solidFill>
              </a:defRPr>
            </a:pPr>
          </a:p>
        </c:txPr>
        <c:crossAx val="-2113994440"/>
        <c:crosses val="autoZero"/>
        <c:auto val="1"/>
        <c:lblAlgn val="ctr"/>
        <c:lblOffset val="100"/>
        <c:noMultiLvlLbl val="0"/>
      </c:catAx>
      <c:valAx>
        <c:axId val="-2113994440"/>
        <c:scaling>
          <c:max val="14.0"/>
          <c:min val="0.0"/>
        </c:scaling>
        <c:delete/>
        <c:axPos val="l"/>
        <c:majorTickMark val="out"/>
        <c:minorTickMark val="none"/>
        <c:tickLblPos val="nextTo"/>
        <c:crossAx val="-2068027336"/>
        <c:crosses val="autoZero"/>
      </c:valAx>
    </c:plotArea>
    <c:dispBlanksAs val="gap"/>
  </c:chart>
  <c:txPr>
    <a:bodyPr/>
    <a:lstStyle/>
    <a:p>
      <a:pPr>
        <a:defRPr sz="1000">
          <a:solidFill>
            <a:srgbClr val="595959"/>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1A1A1A"/>
                </a:solidFill>
                <a:latin typeface="Arial"/>
              </a:rPr>
              <a:t>Visual-only AUC (higher is better)</a:t>
            </a:r>
          </a:p>
        </c:rich>
      </c:tx>
      <c:layout/>
      <c:overlay val="0"/>
    </c:title>
    <c:autoTitleDeleted val="0"/>
    <c:plotArea>
      <c:barChart>
        <c:barDir val="col"/>
        <c:grouping val="clustered"/>
        <c:varyColors val="0"/>
        <c:ser>
          <c:idx val="0"/>
          <c:order val="0"/>
          <c:tx>
            <c:strRef>
              <c:f>Sheet1!$B$1</c:f>
              <c:strCache>
                <c:ptCount val="1"/>
                <c:pt idx="0">
                  <c:v>value</c:v>
                </c:pt>
              </c:strCache>
            </c:strRef>
          </c:tx>
          <c:dPt>
            <c:idx val="0"/>
            <c:spPr>
              <a:solidFill>
                <a:srgbClr val="C5CDD5"/>
              </a:solidFill>
              <a:ln>
                <a:noFill/>
              </a:ln>
            </c:spPr>
          </c:dPt>
          <c:dPt>
            <c:idx val="1"/>
            <c:spPr>
              <a:solidFill>
                <a:srgbClr val="C5CDD5"/>
              </a:solidFill>
              <a:ln>
                <a:noFill/>
              </a:ln>
            </c:spPr>
          </c:dPt>
          <c:dPt>
            <c:idx val="2"/>
            <c:spPr>
              <a:solidFill>
                <a:srgbClr val="7FDBFF"/>
              </a:solidFill>
              <a:ln>
                <a:noFill/>
              </a:ln>
            </c:spPr>
          </c:dPt>
          <c:dPt>
            <c:idx val="3"/>
            <c:spPr>
              <a:solidFill>
                <a:srgbClr val="00BFFF"/>
              </a:solidFill>
              <a:ln>
                <a:noFill/>
              </a:ln>
            </c:spPr>
          </c:dPt>
          <c:cat>
            <c:strRef>
              <c:f>Sheet1!$A$2:$A$5</c:f>
              <c:strCache>
                <c:ptCount val="4"/>
                <c:pt idx="0">
                  <c:v>Random Forest</c:v>
                </c:pt>
                <c:pt idx="1">
                  <c:v>XGBoost</c:v>
                </c:pt>
                <c:pt idx="2">
                  <c:v>Q-Shield
(1 model)</c:v>
                </c:pt>
                <c:pt idx="3">
                  <c:v>Q-Shield
(ensemble + TTA)</c:v>
                </c:pt>
              </c:strCache>
            </c:strRef>
          </c:cat>
          <c:val>
            <c:numRef>
              <c:f>Sheet1!$B$2:$B$5</c:f>
              <c:numCache>
                <c:formatCode>General</c:formatCode>
                <c:ptCount val="4"/>
                <c:pt idx="0">
                  <c:v>0.813</c:v>
                </c:pt>
                <c:pt idx="1">
                  <c:v>0.81</c:v>
                </c:pt>
                <c:pt idx="2">
                  <c:v>0.8962</c:v>
                </c:pt>
                <c:pt idx="3">
                  <c:v>0.9146</c:v>
                </c:pt>
              </c:numCache>
            </c:numRef>
          </c:val>
        </c:ser>
        <c:dLbls>
          <c:numFmt formatCode="0.000" sourceLinked="0"/>
          <c:txPr>
            <a:bodyPr/>
            <a:lstStyle/>
            <a:p>
              <a:pPr>
                <a:defRPr sz="1200" b="1">
                  <a:solidFill>
                    <a:srgbClr val="1A1A1A"/>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1000">
                <a:solidFill>
                  <a:srgbClr val="1A1A1A"/>
                </a:solidFill>
              </a:defRPr>
            </a:pPr>
          </a:p>
        </c:txPr>
        <c:crossAx val="-2113994440"/>
        <c:crosses val="autoZero"/>
        <c:auto val="1"/>
        <c:lblAlgn val="ctr"/>
        <c:lblOffset val="100"/>
        <c:noMultiLvlLbl val="0"/>
      </c:catAx>
      <c:valAx>
        <c:axId val="-2113994440"/>
        <c:scaling>
          <c:max val="1.0"/>
          <c:min val="0.6"/>
        </c:scaling>
        <c:delete/>
        <c:axPos val="l"/>
        <c:majorTickMark val="out"/>
        <c:minorTickMark val="none"/>
        <c:tickLblPos val="nextTo"/>
        <c:crossAx val="-2068027336"/>
        <c:crosses val="autoZero"/>
      </c:valAx>
    </c:plotArea>
    <c:dispBlanksAs val="gap"/>
  </c:chart>
  <c:txPr>
    <a:bodyPr/>
    <a:lstStyle/>
    <a:p>
      <a:pPr>
        <a:defRPr sz="1000">
          <a:solidFill>
            <a:srgbClr val="595959"/>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1A1A1A"/>
                </a:solidFill>
                <a:latin typeface="Arial"/>
              </a:rPr>
              <a:t>Missed phishing, FNR (lower is better)</a:t>
            </a:r>
          </a:p>
        </c:rich>
      </c:tx>
      <c:layout/>
      <c:overlay val="0"/>
    </c:title>
    <c:autoTitleDeleted val="0"/>
    <c:plotArea>
      <c:barChart>
        <c:barDir val="col"/>
        <c:grouping val="clustered"/>
        <c:varyColors val="0"/>
        <c:ser>
          <c:idx val="0"/>
          <c:order val="0"/>
          <c:tx>
            <c:strRef>
              <c:f>Sheet1!$B$1</c:f>
              <c:strCache>
                <c:ptCount val="1"/>
                <c:pt idx="0">
                  <c:v>value</c:v>
                </c:pt>
              </c:strCache>
            </c:strRef>
          </c:tx>
          <c:dPt>
            <c:idx val="0"/>
            <c:spPr>
              <a:solidFill>
                <a:srgbClr val="C5CDD5"/>
              </a:solidFill>
              <a:ln>
                <a:noFill/>
              </a:ln>
            </c:spPr>
          </c:dPt>
          <c:dPt>
            <c:idx val="1"/>
            <c:spPr>
              <a:solidFill>
                <a:srgbClr val="7FDBFF"/>
              </a:solidFill>
              <a:ln>
                <a:noFill/>
              </a:ln>
            </c:spPr>
          </c:dPt>
          <c:dPt>
            <c:idx val="2"/>
            <c:spPr>
              <a:solidFill>
                <a:srgbClr val="00BFFF"/>
              </a:solidFill>
              <a:ln>
                <a:noFill/>
              </a:ln>
            </c:spPr>
          </c:dPt>
          <c:cat>
            <c:strRef>
              <c:f>Sheet1!$A$2:$A$4</c:f>
              <c:strCache>
                <c:ptCount val="3"/>
                <c:pt idx="0">
                  <c:v>Visual only</c:v>
                </c:pt>
                <c:pt idx="1">
                  <c:v>Text only</c:v>
                </c:pt>
                <c:pt idx="2">
                  <c:v>Fusion</c:v>
                </c:pt>
              </c:strCache>
            </c:strRef>
          </c:cat>
          <c:val>
            <c:numRef>
              <c:f>Sheet1!$B$2:$B$4</c:f>
              <c:numCache>
                <c:formatCode>General</c:formatCode>
                <c:ptCount val="3"/>
                <c:pt idx="0">
                  <c:v>0.202</c:v>
                </c:pt>
                <c:pt idx="1">
                  <c:v>0.069</c:v>
                </c:pt>
                <c:pt idx="2">
                  <c:v>0.057</c:v>
                </c:pt>
              </c:numCache>
            </c:numRef>
          </c:val>
        </c:ser>
        <c:dLbls>
          <c:numFmt formatCode="0.000" sourceLinked="0"/>
          <c:txPr>
            <a:bodyPr/>
            <a:lstStyle/>
            <a:p>
              <a:pPr>
                <a:defRPr sz="1200" b="1">
                  <a:solidFill>
                    <a:srgbClr val="1A1A1A"/>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1000">
                <a:solidFill>
                  <a:srgbClr val="1A1A1A"/>
                </a:solidFill>
              </a:defRPr>
            </a:pPr>
          </a:p>
        </c:txPr>
        <c:crossAx val="-2113994440"/>
        <c:crosses val="autoZero"/>
        <c:auto val="1"/>
        <c:lblAlgn val="ctr"/>
        <c:lblOffset val="100"/>
        <c:noMultiLvlLbl val="0"/>
      </c:catAx>
      <c:valAx>
        <c:axId val="-2113994440"/>
        <c:scaling>
          <c:max val="0.25"/>
          <c:min val="0.0"/>
        </c:scaling>
        <c:delete/>
        <c:axPos val="l"/>
        <c:majorTickMark val="out"/>
        <c:minorTickMark val="none"/>
        <c:tickLblPos val="nextTo"/>
        <c:crossAx val="-2068027336"/>
        <c:crosses val="autoZero"/>
      </c:valAx>
    </c:plotArea>
    <c:dispBlanksAs val="gap"/>
  </c:chart>
  <c:txPr>
    <a:bodyPr/>
    <a:lstStyle/>
    <a:p>
      <a:pPr>
        <a:defRPr sz="1000">
          <a:solidFill>
            <a:srgbClr val="595959"/>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i="0">
                <a:solidFill>
                  <a:srgbClr val="1A1A1A"/>
                </a:solidFill>
                <a:latin typeface="Arial"/>
              </a:rPr>
              <a:t>Missed phishing, FNR (lower is better)</a:t>
            </a:r>
          </a:p>
        </c:rich>
      </c:tx>
      <c:layout/>
      <c:overlay val="0"/>
    </c:title>
    <c:autoTitleDeleted val="0"/>
    <c:plotArea>
      <c:barChart>
        <c:barDir val="col"/>
        <c:grouping val="clustered"/>
        <c:varyColors val="0"/>
        <c:ser>
          <c:idx val="0"/>
          <c:order val="0"/>
          <c:tx>
            <c:strRef>
              <c:f>Sheet1!$B$1</c:f>
              <c:strCache>
                <c:ptCount val="1"/>
                <c:pt idx="0">
                  <c:v>value</c:v>
                </c:pt>
              </c:strCache>
            </c:strRef>
          </c:tx>
          <c:dPt>
            <c:idx val="0"/>
            <c:spPr>
              <a:solidFill>
                <a:srgbClr val="00BFFF"/>
              </a:solidFill>
              <a:ln>
                <a:noFill/>
              </a:ln>
            </c:spPr>
          </c:dPt>
          <c:dPt>
            <c:idx val="1"/>
            <c:spPr>
              <a:solidFill>
                <a:srgbClr val="C5CDD5"/>
              </a:solidFill>
              <a:ln>
                <a:noFill/>
              </a:ln>
            </c:spPr>
          </c:dPt>
          <c:dPt>
            <c:idx val="2"/>
            <c:spPr>
              <a:solidFill>
                <a:srgbClr val="C5CDD5"/>
              </a:solidFill>
              <a:ln>
                <a:noFill/>
              </a:ln>
            </c:spPr>
          </c:dPt>
          <c:cat>
            <c:strRef>
              <c:f>Sheet1!$A$2:$A$4</c:f>
              <c:strCache>
                <c:ptCount val="3"/>
                <c:pt idx="0">
                  <c:v>Full model</c:v>
                </c:pt>
                <c:pt idx="1">
                  <c:v>No Siamese
pretraining</c:v>
                </c:pt>
                <c:pt idx="2">
                  <c:v>No focal loss
(plain BCE)</c:v>
                </c:pt>
              </c:strCache>
            </c:strRef>
          </c:cat>
          <c:val>
            <c:numRef>
              <c:f>Sheet1!$B$2:$B$4</c:f>
              <c:numCache>
                <c:formatCode>General</c:formatCode>
                <c:ptCount val="3"/>
                <c:pt idx="0">
                  <c:v>0.202</c:v>
                </c:pt>
                <c:pt idx="1">
                  <c:v>0.267</c:v>
                </c:pt>
                <c:pt idx="2">
                  <c:v>0.271</c:v>
                </c:pt>
              </c:numCache>
            </c:numRef>
          </c:val>
        </c:ser>
        <c:dLbls>
          <c:numFmt formatCode="0.000" sourceLinked="0"/>
          <c:txPr>
            <a:bodyPr/>
            <a:lstStyle/>
            <a:p>
              <a:pPr>
                <a:defRPr sz="1200" b="1">
                  <a:solidFill>
                    <a:srgbClr val="1A1A1A"/>
                  </a:solidFill>
                  <a:latin typeface="Aria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D9DEE3"/>
            </a:solidFill>
          </a:ln>
        </c:spPr>
        <c:txPr>
          <a:bodyPr/>
          <a:lstStyle/>
          <a:p>
            <a:pPr>
              <a:defRPr sz="1000">
                <a:solidFill>
                  <a:srgbClr val="1A1A1A"/>
                </a:solidFill>
              </a:defRPr>
            </a:pPr>
          </a:p>
        </c:txPr>
        <c:crossAx val="-2113994440"/>
        <c:crosses val="autoZero"/>
        <c:auto val="1"/>
        <c:lblAlgn val="ctr"/>
        <c:lblOffset val="100"/>
        <c:noMultiLvlLbl val="0"/>
      </c:catAx>
      <c:valAx>
        <c:axId val="-2113994440"/>
        <c:scaling>
          <c:max val="0.32"/>
          <c:min val="0.0"/>
        </c:scaling>
        <c:delete/>
        <c:axPos val="l"/>
        <c:majorTickMark val="out"/>
        <c:minorTickMark val="none"/>
        <c:tickLblPos val="nextTo"/>
        <c:crossAx val="-2068027336"/>
        <c:crosses val="autoZero"/>
      </c:valAx>
    </c:plotArea>
    <c:dispBlanksAs val="gap"/>
  </c:chart>
  <c:txPr>
    <a:bodyPr/>
    <a:lstStyle/>
    <a:p>
      <a:pPr>
        <a:defRPr sz="1000">
          <a:solidFill>
            <a:srgbClr val="595959"/>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[~35 s]</a:t>
            </a:r>
          </a:p>
          <a:p>
            <a:r>
              <a:t>Good morning, everyone. My name is Nicolás Llerena, and I am from UTEC, in Lima, Peru. Today I will present our paper, Q-Shield. Q-Shield is a system that detects phishing attacks that use QR codes. We call these attacks "quishing". This is joint work with Rensso Mora-Colque and Aurea Soriano-Vargas, also from UTEC.</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[~10 s]</a:t>
            </a:r>
          </a:p>
          <a:p>
            <a:r>
              <a:t>Thank you very much for your attention. I am happy to answer your questions.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Let me start with the motivation. Why does quishing detection matter?</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[~75 s]</a:t>
            </a:r>
          </a:p>
          <a:p>
            <a:r>
              <a:t>QR codes are now part of our daily life. Around the world, more than two billion people were expected to pay with QR codes by 2025. That is almost one in three mobile phone users. In Peru, the growth is very fast. QR payments grew 85% in 2024, and today there are more than 26 million QR payments every month. Also, 67% of Peruvian adults now have a bank account or a digital wallet, like Yape or Plin. But what is inside a QR code? A QR code can hold many kinds of data: a web link, plain text, a Wi-Fi password, a contact card, or payment data. In daily use, most QR codes hold a web link, a URL. And that is the case we study in this work.</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[~75 s]</a:t>
            </a:r>
          </a:p>
          <a:p>
            <a:r>
              <a:t>The same things that make QR codes easy to use also make them easy to abuse. There are three reasons. First, a person cannot read a QR code. We need a scanner device and a decoding algorithm. Second, it is just one tap. There is no preview and no address bar to check before the page opens. Third, QR codes appear in places that we already trust, like restaurant menus, payment stands, and parking meters. And this is already happening in Peru. The police warn that criminals put fake QR stickers on top of the real Yape and Plin codes of small shops. So the money goes to the criminal. There are also fake traffic fines and fake DNI procedures, with QR codes that open fake bank pages or install malware.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[~10 s]</a:t>
            </a:r>
          </a:p>
          <a:p>
            <a:r>
              <a:t>So, in one sentence: anyone can create a QR code, but nobody can read one without a scanner. [Pause for two seconds.]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So, what is quishing exactly, and how big is the problem?</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[~70 s]</a:t>
            </a:r>
          </a:p>
          <a:p>
            <a:r>
              <a:t>Quishing is a mix of two words: QR and phishing. A criminal hides a malicious link inside a QR code, to steal passwords, money, or personal data. A typical attack has four steps. One: the criminal creates a QR code that opens a fake login page or a fake payment page. Two: the criminal places the code in an email, on a poster, on a parking meter, or on top of a real code. Three: the victim scans it with a phone. Note that the phone is often far from the security tools of a company. And four: the fake page asks for a password, a card number, or a payment. Quishing is social engineering. It uses trust and speed, not a software bug.</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[~55 s]</a:t>
            </a:r>
          </a:p>
          <a:p>
            <a:r>
              <a:t>And how big is the problem? This chart shows the share of phishing attacks that use a QR code. In 2021, it was less than one percent. In 2023, it was 12.4%. That is about one in eight phishing attacks. And it is still growing. Kaspersky saw five times more QR phishing emails between August and November of 2025. And Palo Alto Networks detects more than eleven thousand malicious QR codes every day. So, the question for our work is simple: can we detect a malicious QR code automatically, at the moment of the scan?</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Before our solution, let me show how current defenses work.</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[~60 s]</a:t>
            </a:r>
          </a:p>
          <a:p>
            <a:r>
              <a:t>Today, there are two families of defenses. The first family decodes the QR code and checks the URL. This is very accurate, but it only works when the code can be decoded. The second family looks only at the image of the QR code, without decoding. This always works, but it is less accurate on real, mixed data. The problem is that these two families are used separately. So each one is weak exactly where the other one is strong. Also, no previous work tests these models across independent datasets. This is the gap that we want to close.</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 s]</a:t>
            </a:r>
          </a:p>
          <a:p>
            <a:r>
              <a:t>In more detail, we can organize previous work in five directions. URL-based methods are accurate, but they need decoding, and they only work with URLs. Visual methods work before decoding, but they are weaker on mixed, real data. Multimodal work uses the image and the URL, but as separate baselines, not as one pipeline. Human-centered studies explain why people trust QR codes, but they do not protect users at scan time. And commercial tools work only after decoding. Q-Shield is different, because it joins both stages in one detector.</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So, what does our paper do differently?</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 s]</a:t>
            </a:r>
          </a:p>
          <a:p>
            <a:r>
              <a:t>Our main idea is simple: one detector that works both before and after decoding. We have four contributions. One: a two-stage fusion. It combines the image, the URL, and a flag that says if decoding worked. Two: a mixed benchmark, with almost twenty-two thousand test samples from two independent datasets. Three: a cross-dataset study. It shows that training on only one dataset is not enough. And four: explainability at two levels. We use Grad-CAM on the pixels, and SHAP on the embedding.</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Now, let me explain how the system works.</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[~60 s]</a:t>
            </a:r>
          </a:p>
          <a:p>
            <a:r>
              <a:t>This is the full pipeline. The input is a QR image. After preprocessing, the image goes into two branches in parallel. The visual branch, at the top, looks at the image directly, without decoding. The text branch, at the bottom, decodes the QR code and reads the URL. Each branch gives a score, called a logit. Then, a small fusion module combines the two scores, plus a flag that says if decoding worked. The equation at the bottom shows this idea. The probability of phishing is the sigmoid of the fusion function, and its inputs are the visual logit, the text logit, and the decode flag.</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[~65 s]</a:t>
            </a:r>
          </a:p>
          <a:p>
            <a:r>
              <a:t>Let's look at the visual branch. We use MobileNetV2, a small and fast network, with grayscale images of two hundred twenty-four by two hundred twenty-four pixels. Training has two phases. In phase one, we use a Siamese network with contrastive learning. In simple words, the model learns to put QR codes of the same class close together, and QR codes of different classes far apart. In phase two, we fine-tune the model with focal loss. Focal loss gives more weight to the hard examples. We keep the best model at epoch eight, to avoid overfitting. At test time, an image flip and a two-model ensemble raise the AUC from 0.896 to 0.915.</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[~60 s]</a:t>
            </a:r>
          </a:p>
          <a:p>
            <a:r>
              <a:t>Now, the text branch. It decodes the QR code locally, with a library called pyzbar. There is no internet connection, so the link is never opened. Then, DistilBERT reads the URL. DistilBERT is a small language model. If decoding fails, we use a special token: "undecodable". After that, the fusion module combines both branches. It is very small: only 81 parameters, and it trains in less than one minute on a CPU. The key is the flag. When decoding works, the model trusts the text more. When decoding fails, it trusts the image. The model learns this by itself. We do not write any rules.</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Now, the experimental setup.</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[~60 s]</a:t>
            </a:r>
          </a:p>
          <a:p>
            <a:r>
              <a:t>We use two datasets that are very different, on purpose. The Trad dataset has about ten thousand clean QR codes. They all have the same size: sixty-nine by sixty-nine pixels. CIC-Trap4Phish has more than one million real QR codes, with different sizes and versions. We take fifty thousand samples per class from CIC. Then we split each dataset eighty-twenty, and we join the test sets. This gives 21,998 test samples. Note that the decoder works on all Trad codes, but only on 95.7% of CIC codes. The other 4.3% are exactly where the visual branch is the only signal.</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Let's see the results. We ran six experiments.</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[~45 s]</a:t>
            </a:r>
          </a:p>
          <a:p>
            <a:r>
              <a:t>Experiment one tests the visual branch alone. This is the fallback, for when the QR code cannot be decoded. Our best visual model reaches an AUC of 0.915. That is about 0.10 better than the classic baselines, Random Forest and XGBoost. It also matches the best previous visual result, from Trad and colleagues, but on a benchmark eleven times larger. Remember, this is the floor of the system. It is what Q-Shield can still do without the URL.</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[~55 s]</a:t>
            </a:r>
          </a:p>
          <a:p>
            <a:r>
              <a:t>Experiment two is our main result. Here we compare the visual branch, the text branch, and the fusion. The fusion is the best: AUC 0.975, F1 0.936, and a false negative rate of only 0.057. A false negative is a phishing code that we miss. In security, this is the most expensive error. Compared to the visual branch alone, we miss three and a half times fewer attacks. The gain over the text branch is small on average, but it is concentrated in the 4.3% of codes that cannot be decoded.</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[~40 s]</a:t>
            </a:r>
          </a:p>
          <a:p>
            <a:r>
              <a:t>Experiment three is an ablation study. We remove one part at a time, and we see what happens. Without Siamese pretraining, the false negative rate goes up from 0.20 to 0.27. Without focal loss, the AUC is almost the same, but again the false negative rate goes up, to 0.27. So, both parts help us to miss fewer attacks. When a missed attack is expensive, the loss function matters.</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 s]</a:t>
            </a:r>
          </a:p>
          <a:p>
            <a:r>
              <a:t>Experiment four is about generalization. What happens if we train on one dataset and test on the other? If we train on Trad and test on CIC, the AUC is 0.52. That is almost random. If we train on CIC and test on Trad, the model says "phishing" for almost everything. But when we train on both datasets, the AUC goes back to 0.896. Our message is clear: training on one dataset is not enough. Mixed training is a requirement, not a tuning choice.</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[~55 s]</a:t>
            </a:r>
          </a:p>
          <a:p>
            <a:r>
              <a:t>Experiment five is about real deployment. On the left, the threshold. For the visual fallback, if we lower the threshold from 0.50 to 0.40, the false negative rate goes below 0.10, without retraining. The price is lower precision, so we get more false alarms. The fusion model already meets this target with the default threshold. On the right, the cost. The visual model has only three million parameters and runs in 25 milliseconds on a CPU. The full model takes about 100 milliseconds. Both are fast enough for a mobile phone.</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 s]</a:t>
            </a:r>
          </a:p>
          <a:p>
            <a:r>
              <a:t>Finally, experiment six: explainability. We want to know if the model looks at the real QR structure, or if it learns tricks from the dataset. Grad-CAM shows where the model looks. It looks at the alignment patterns and the data regions, the parts that carry the information. The attention maps of the two datasets are correlated, with r equal to 0.43. And SHAP shows that a few dimensions of the embedding drive the decision. This suggests that the model learns real structural patterns, not dataset shortcuts.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Of course, our work has some limitations.</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[~45 s]</a:t>
            </a:r>
          </a:p>
          <a:p>
            <a:r>
              <a:t>First, the visual fallback still misses about 20% of attacks, with an FNR of 0.199. Second, we see mild overfitting in phase two, and we control it with early stopping. Third, the performance is lower on large, high-resolution QR codes. And fourth, the probabilities of the visual branch are not perfectly calibrated. Also, we only look at the QR image and its URL, not the message around it. So, Q-Shield is one layer of defense, not the complete solution.</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To conclude, let me go back to our three objectives.</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[~50 s]</a:t>
            </a:r>
          </a:p>
          <a:p>
            <a:r>
              <a:t>Our main finding is this: multimodal fusion is not just a small improvement. It reduces the false negative rate from 0.202 to 0.057, and it still covers the QR codes that cannot be decoded. About our three objectives. One: by following the two stages of a QR scan, we miss three and a half times fewer attacks. Two: for generalization, training on both datasets raises the AUC from 0.52 to 0.896. And three: for explainability, the attention maps agree across datasets, with r equal to 0.43.</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[~5 s]</a:t>
            </a:r>
          </a:p>
          <a:p>
            <a:r>
              <a:t>And what comes next?</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[~45 s]</a:t>
            </a:r>
          </a:p>
          <a:p>
            <a:r>
              <a:t>We see four directions. First, a third branch that reads the context: the message, the sender, and the web page. Second, multi-scale training, to improve the results on large QR codes. Third, robustness against adversarial and stylized QR codes. And fourth, adapting the model to QR payment systems in Latin America, like Yape and Plin here in Peru. This is very important for our region, because QR payments are growing so fast.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
  <p:cSld name="TITLE_2">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a:stretch/>
        </p:blipFill>
        <p:spPr>
          <a:xfrm>
            <a:off x="0" y="0"/>
            <a:ext cx="9144003" cy="514350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1">
  <p:cSld name="CUSTOM_2_1">
    <p:spTree>
      <p:nvGrpSpPr>
        <p:cNvPr id="1" name="Shape 52"/>
        <p:cNvGrpSpPr/>
        <p:nvPr/>
      </p:nvGrpSpPr>
      <p:grpSpPr>
        <a:xfrm>
          <a:off x="0" y="0"/>
          <a:ext cx="0" cy="0"/>
          <a:chOff x="0" y="0"/>
          <a:chExt cx="0" cy="0"/>
        </a:xfrm>
      </p:grpSpPr>
      <p:pic>
        <p:nvPicPr>
          <p:cNvPr id="53" name="Google Shape;53;p14"/>
          <p:cNvPicPr preferRelativeResize="0"/>
          <p:nvPr/>
        </p:nvPicPr>
        <p:blipFill rotWithShape="1">
          <a:blip r:embed="rId2">
            <a:alphaModFix/>
          </a:blip>
          <a:srcRect/>
          <a:stretch/>
        </p:blipFill>
        <p:spPr>
          <a:xfrm>
            <a:off x="0" y="0"/>
            <a:ext cx="9144003" cy="5143504"/>
          </a:xfrm>
          <a:prstGeom prst="rect">
            <a:avLst/>
          </a:prstGeom>
          <a:noFill/>
          <a:ln>
            <a:noFill/>
          </a:ln>
        </p:spPr>
      </p:pic>
      <p:cxnSp>
        <p:nvCxnSpPr>
          <p:cNvPr id="54" name="Google Shape;54;p14"/>
          <p:cNvCxnSpPr/>
          <p:nvPr/>
        </p:nvCxnSpPr>
        <p:spPr>
          <a:xfrm>
            <a:off x="152406" y="4786319"/>
            <a:ext cx="2767800" cy="22800"/>
          </a:xfrm>
          <a:prstGeom prst="straightConnector1">
            <a:avLst/>
          </a:prstGeom>
          <a:noFill/>
          <a:ln w="9525" cap="flat" cmpd="sng">
            <a:solidFill>
              <a:schemeClr val="dk2"/>
            </a:solidFill>
            <a:prstDash val="solid"/>
            <a:round/>
            <a:headEnd type="none" w="med" len="med"/>
            <a:tailEnd type="none" w="med" len="med"/>
          </a:ln>
        </p:spPr>
      </p:cxnSp>
      <p:sp>
        <p:nvSpPr>
          <p:cNvPr id="55" name="Google Shape;55;p14"/>
          <p:cNvSpPr txBox="1"/>
          <p:nvPr/>
        </p:nvSpPr>
        <p:spPr>
          <a:xfrm>
            <a:off x="319931" y="4738406"/>
            <a:ext cx="8404500" cy="325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b="0">
                <a:solidFill>
                  <a:srgbClr val="888888"/>
                </a:solidFill>
                <a:latin typeface="Space Grotesk"/>
                <a:ea typeface="Space Grotesk"/>
                <a:cs typeface="Space Grotesk"/>
                <a:sym typeface="Space Grotesk"/>
              </a:rPr>
              <a:t>Llerena et al. · IEEE LA-CCI 2026</a:t>
            </a:r>
            <a:endParaRPr sz="1200" b="1">
              <a:solidFill>
                <a:schemeClr val="dk1"/>
              </a:solidFill>
              <a:latin typeface="Quattrocento Sans"/>
              <a:ea typeface="Quattrocento Sans"/>
              <a:cs typeface="Quattrocento Sans"/>
              <a:sym typeface="Quattrocen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 1 1">
  <p:cSld name="4 1 (g3e8b0e76eb4_6_0)">
    <p:spTree>
      <p:nvGrpSpPr>
        <p:cNvPr id="1" name="Shape 56"/>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1">
  <p:cSld name="CUSTOM_6_1">
    <p:spTree>
      <p:nvGrpSpPr>
        <p:cNvPr id="1" name="Shape 57"/>
        <p:cNvGrpSpPr/>
        <p:nvPr/>
      </p:nvGrpSpPr>
      <p:grpSpPr>
        <a:xfrm>
          <a:off x="0" y="0"/>
          <a:ext cx="0" cy="0"/>
          <a:chOff x="0" y="0"/>
          <a:chExt cx="0" cy="0"/>
        </a:xfrm>
      </p:grpSpPr>
      <p:pic>
        <p:nvPicPr>
          <p:cNvPr id="58" name="Google Shape;58;p16"/>
          <p:cNvPicPr preferRelativeResize="0"/>
          <p:nvPr/>
        </p:nvPicPr>
        <p:blipFill rotWithShape="1">
          <a:blip r:embed="rId2">
            <a:alphaModFix/>
          </a:blip>
          <a:srcRect/>
          <a:stretch/>
        </p:blipFill>
        <p:spPr>
          <a:xfrm>
            <a:off x="0" y="0"/>
            <a:ext cx="9144003" cy="5143504"/>
          </a:xfrm>
          <a:prstGeom prst="rect">
            <a:avLst/>
          </a:prstGeom>
          <a:noFill/>
          <a:ln>
            <a:noFill/>
          </a:ln>
        </p:spPr>
      </p:pic>
      <p:cxnSp>
        <p:nvCxnSpPr>
          <p:cNvPr id="59" name="Google Shape;59;p16"/>
          <p:cNvCxnSpPr/>
          <p:nvPr/>
        </p:nvCxnSpPr>
        <p:spPr>
          <a:xfrm>
            <a:off x="383100" y="2067400"/>
            <a:ext cx="3930000" cy="22200"/>
          </a:xfrm>
          <a:prstGeom prst="straightConnector1">
            <a:avLst/>
          </a:prstGeom>
          <a:noFill/>
          <a:ln w="28575" cap="flat" cmpd="sng">
            <a:solidFill>
              <a:schemeClr val="dk2"/>
            </a:solidFill>
            <a:prstDash val="solid"/>
            <a:round/>
            <a:headEnd type="none" w="med" len="med"/>
            <a:tailEnd type="none" w="med" len="med"/>
          </a:ln>
        </p:spPr>
      </p:cxnSp>
      <p:cxnSp>
        <p:nvCxnSpPr>
          <p:cNvPr id="60" name="Google Shape;60;p16"/>
          <p:cNvCxnSpPr/>
          <p:nvPr/>
        </p:nvCxnSpPr>
        <p:spPr>
          <a:xfrm>
            <a:off x="1229625" y="3005800"/>
            <a:ext cx="3930000" cy="22200"/>
          </a:xfrm>
          <a:prstGeom prst="straightConnector1">
            <a:avLst/>
          </a:prstGeom>
          <a:noFill/>
          <a:ln w="28575" cap="flat" cmpd="sng">
            <a:solidFill>
              <a:schemeClr val="dk2"/>
            </a:solidFill>
            <a:prstDash val="solid"/>
            <a:round/>
            <a:headEnd type="none" w="med" len="med"/>
            <a:tailEnd type="none" w="med" len="med"/>
          </a:ln>
        </p:spPr>
      </p:cxnSp>
      <p:sp>
        <p:nvSpPr>
          <p:cNvPr id="61" name="Google Shape;61;p16"/>
          <p:cNvSpPr txBox="1"/>
          <p:nvPr/>
        </p:nvSpPr>
        <p:spPr>
          <a:xfrm>
            <a:off x="745100" y="2139850"/>
            <a:ext cx="41625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100">
                <a:latin typeface="Permanent Marker"/>
                <a:ea typeface="Permanent Marker"/>
                <a:cs typeface="Permanent Marker"/>
                <a:sym typeface="Permanent Marker"/>
              </a:rPr>
              <a:t>Thank you!</a:t>
            </a:r>
            <a:endParaRPr sz="4100">
              <a:latin typeface="Permanent Marker"/>
              <a:ea typeface="Permanent Marker"/>
              <a:cs typeface="Permanent Marker"/>
              <a:sym typeface="Permanent Marker"/>
            </a:endParaRPr>
          </a:p>
        </p:txBody>
      </p:sp>
      <p:sp>
        <p:nvSpPr>
          <p:cNvPr id="62" name="Google Shape;62;p16"/>
          <p:cNvSpPr txBox="1"/>
          <p:nvPr/>
        </p:nvSpPr>
        <p:spPr>
          <a:xfrm>
            <a:off x="3937575" y="2996825"/>
            <a:ext cx="16428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latin typeface="Permanent Marker"/>
                <a:ea typeface="Permanent Marker"/>
                <a:cs typeface="Permanent Marker"/>
                <a:sym typeface="Permanent Marker"/>
              </a:rPr>
              <a:t>¡Gracias!</a:t>
            </a:r>
            <a:endParaRPr sz="2000">
              <a:latin typeface="Permanent Marker"/>
              <a:ea typeface="Permanent Marker"/>
              <a:cs typeface="Permanent Marker"/>
              <a:sym typeface="Permanent Marker"/>
            </a:endParaRPr>
          </a:p>
        </p:txBody>
      </p:sp>
      <p:sp>
        <p:nvSpPr>
          <p:cNvPr id="63" name="Google Shape;63;p16"/>
          <p:cNvSpPr txBox="1"/>
          <p:nvPr/>
        </p:nvSpPr>
        <p:spPr>
          <a:xfrm>
            <a:off x="1305825" y="3005800"/>
            <a:ext cx="1642800" cy="47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latin typeface="Permanent Marker"/>
                <a:ea typeface="Permanent Marker"/>
                <a:cs typeface="Permanent Marker"/>
                <a:sym typeface="Permanent Marker"/>
              </a:rPr>
              <a:t>OBRIGADO!</a:t>
            </a:r>
            <a:endParaRPr sz="1900">
              <a:latin typeface="Permanent Marker"/>
              <a:ea typeface="Permanent Marker"/>
              <a:cs typeface="Permanent Marker"/>
              <a:sym typeface="Permanent Marke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9.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1170432"/>
            <a:ext cx="4663440" cy="1143000"/>
          </a:xfrm>
          <a:prstGeom prst="rect">
            <a:avLst/>
          </a:prstGeom>
          <a:noFill/>
        </p:spPr>
        <p:txBody>
          <a:bodyPr wrap="square" lIns="18288" tIns="0" rIns="18288" bIns="0" anchor="t">
            <a:spAutoFit/>
          </a:bodyPr>
          <a:lstStyle/>
          <a:p>
            <a:pPr algn="l">
              <a:lnSpc>
                <a:spcPct val="105000"/>
              </a:lnSpc>
              <a:spcAft>
                <a:spcPts val="200"/>
              </a:spcAft>
            </a:pPr>
            <a:r>
              <a:rPr sz="1700" b="1" i="0">
                <a:solidFill>
                  <a:srgbClr val="1A1A1A"/>
                </a:solidFill>
                <a:latin typeface="Arial"/>
              </a:rPr>
              <a:t>Q-Shield: An Explainable Multimodal Framework for QR Code Phishing (Quishing) Detection Using Siamese Visual and Offline URL Analysis</a:t>
            </a:r>
          </a:p>
        </p:txBody>
      </p:sp>
      <p:cxnSp>
        <p:nvCxnSpPr>
          <p:cNvPr id="3" name="Connector 2"/>
          <p:cNvCxnSpPr/>
          <p:nvPr/>
        </p:nvCxnSpPr>
        <p:spPr>
          <a:xfrm>
            <a:off x="612648" y="2523744"/>
            <a:ext cx="2560320" cy="0"/>
          </a:xfrm>
          <a:prstGeom prst="line">
            <a:avLst/>
          </a:prstGeom>
          <a:ln>
            <a:solidFill>
              <a:srgbClr val="00BFF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2697480"/>
            <a:ext cx="4206240" cy="1463040"/>
          </a:xfrm>
          <a:prstGeom prst="rect">
            <a:avLst/>
          </a:prstGeom>
          <a:noFill/>
        </p:spPr>
        <p:txBody>
          <a:bodyPr wrap="square" lIns="18288" tIns="0" rIns="18288" bIns="0" anchor="t">
            <a:spAutoFit/>
          </a:bodyPr>
          <a:lstStyle/>
          <a:p>
            <a:pPr algn="l">
              <a:spcAft>
                <a:spcPts val="600"/>
              </a:spcAft>
            </a:pPr>
            <a:r>
              <a:rPr sz="1250" b="1" i="0">
                <a:solidFill>
                  <a:srgbClr val="00BFFF"/>
                </a:solidFill>
                <a:latin typeface="Arial"/>
              </a:rPr>
              <a:t>Nicolás Llerena  ·  Rensso Mora-Colque  ·  Aurea Soriano-Vargas</a:t>
            </a:r>
          </a:p>
          <a:p>
            <a:pPr algn="l">
              <a:spcAft>
                <a:spcPts val="600"/>
              </a:spcAft>
            </a:pPr>
            <a:r>
              <a:rPr sz="1250" b="1" i="0">
                <a:solidFill>
                  <a:srgbClr val="00BFFF"/>
                </a:solidFill>
                <a:latin typeface="Arial"/>
              </a:rPr>
              <a:t>Department of Computer Science, Universidad de Ingeniería y Tecnología (UTEC), Lima, Perú</a:t>
            </a:r>
          </a:p>
          <a:p>
            <a:pPr algn="l">
              <a:spcAft>
                <a:spcPts val="600"/>
              </a:spcAft>
            </a:pPr>
            <a:r>
              <a:rPr sz="1100" b="0" i="0">
                <a:solidFill>
                  <a:srgbClr val="595959"/>
                </a:solidFill>
                <a:latin typeface="Arial"/>
              </a:rPr>
              <a:t>IEEE LA-CCI 2026  ·  Paper 47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40664" y="3675887"/>
            <a:ext cx="5486400" cy="868680"/>
          </a:xfrm>
          <a:prstGeom prst="rect">
            <a:avLst/>
          </a:prstGeom>
          <a:noFill/>
        </p:spPr>
        <p:txBody>
          <a:bodyPr wrap="square" lIns="18288" tIns="0" rIns="18288" bIns="0" anchor="t">
            <a:spAutoFit/>
          </a:bodyPr>
          <a:lstStyle/>
          <a:p>
            <a:pPr algn="l">
              <a:spcAft>
                <a:spcPts val="300"/>
              </a:spcAft>
            </a:pPr>
            <a:r>
              <a:rPr sz="1200" b="1" i="0">
                <a:solidFill>
                  <a:srgbClr val="00BFFF"/>
                </a:solidFill>
                <a:latin typeface="Arial"/>
              </a:rPr>
              <a:t>nicolas.llerena@utec.edu.pe</a:t>
            </a:r>
          </a:p>
          <a:p>
            <a:pPr algn="l">
              <a:spcAft>
                <a:spcPts val="300"/>
              </a:spcAft>
            </a:pPr>
            <a:r>
              <a:rPr sz="1000" b="0" i="0">
                <a:solidFill>
                  <a:srgbClr val="595959"/>
                </a:solidFill>
                <a:latin typeface="Arial"/>
              </a:rPr>
              <a:t>Department of Computer Science · UTEC · Lima, Perú</a:t>
            </a:r>
          </a:p>
          <a:p>
            <a:pPr algn="l">
              <a:spcAft>
                <a:spcPts val="300"/>
              </a:spcAft>
            </a:pPr>
            <a:r>
              <a:rPr sz="850" b="0" i="0">
                <a:solidFill>
                  <a:srgbClr val="888888"/>
                </a:solidFill>
                <a:latin typeface="Arial"/>
              </a:rPr>
              <a:t>ORCID 0009-0007-3244-7746  ·  IEEE LA-CCI 2026 · Paper 47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Motivation</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Why does quishing detection matter?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Motivation</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QR codes are part of daily life, in the world and in Peru</a:t>
            </a:r>
          </a:p>
        </p:txBody>
      </p:sp>
      <p:sp>
        <p:nvSpPr>
          <p:cNvPr id="4" name="TextBox 3"/>
          <p:cNvSpPr txBox="1"/>
          <p:nvPr/>
        </p:nvSpPr>
        <p:spPr>
          <a:xfrm>
            <a:off x="429768" y="1097280"/>
            <a:ext cx="2560320" cy="256032"/>
          </a:xfrm>
          <a:prstGeom prst="rect">
            <a:avLst/>
          </a:prstGeom>
          <a:noFill/>
        </p:spPr>
        <p:txBody>
          <a:bodyPr wrap="square" lIns="0" rIns="0" tIns="0" bIns="0" anchor="t"/>
          <a:lstStyle/>
          <a:p>
            <a:pPr algn="l">
              <a:spcAft>
                <a:spcPts val="300"/>
              </a:spcAft>
              <a:buNone/>
            </a:pPr>
            <a:r>
              <a:rPr sz="1200" b="1" i="0">
                <a:solidFill>
                  <a:srgbClr val="00BFFF"/>
                </a:solidFill>
                <a:latin typeface="Arial"/>
              </a:rPr>
              <a:t>In the world</a:t>
            </a:r>
          </a:p>
        </p:txBody>
      </p:sp>
      <p:sp>
        <p:nvSpPr>
          <p:cNvPr id="5" name="TextBox 4"/>
          <p:cNvSpPr txBox="1"/>
          <p:nvPr/>
        </p:nvSpPr>
        <p:spPr>
          <a:xfrm>
            <a:off x="3163824" y="1097280"/>
            <a:ext cx="5294376" cy="256032"/>
          </a:xfrm>
          <a:prstGeom prst="rect">
            <a:avLst/>
          </a:prstGeom>
          <a:noFill/>
        </p:spPr>
        <p:txBody>
          <a:bodyPr wrap="square" lIns="0" rIns="0" tIns="0" bIns="0" anchor="t"/>
          <a:lstStyle/>
          <a:p>
            <a:pPr algn="l">
              <a:spcAft>
                <a:spcPts val="300"/>
              </a:spcAft>
              <a:buNone/>
            </a:pPr>
            <a:r>
              <a:rPr sz="1200" b="1" i="0">
                <a:solidFill>
                  <a:srgbClr val="00BFFF"/>
                </a:solidFill>
                <a:latin typeface="Arial"/>
              </a:rPr>
              <a:t>In Peru</a:t>
            </a:r>
          </a:p>
        </p:txBody>
      </p:sp>
      <p:sp>
        <p:nvSpPr>
          <p:cNvPr id="6" name="Rounded Rectangle 5"/>
          <p:cNvSpPr/>
          <p:nvPr/>
        </p:nvSpPr>
        <p:spPr>
          <a:xfrm>
            <a:off x="429768" y="1389888"/>
            <a:ext cx="2560320" cy="141732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600" b="1" i="0">
                <a:solidFill>
                  <a:srgbClr val="00BFFF"/>
                </a:solidFill>
                <a:latin typeface="Arial"/>
              </a:rPr>
              <a:t>2.2 billion</a:t>
            </a:r>
          </a:p>
          <a:p>
            <a:pPr algn="ctr">
              <a:spcAft>
                <a:spcPts val="0"/>
              </a:spcAft>
              <a:buNone/>
            </a:pPr>
            <a:r>
              <a:rPr sz="1100" b="0" i="0">
                <a:solidFill>
                  <a:srgbClr val="595959"/>
                </a:solidFill>
                <a:latin typeface="Arial"/>
              </a:rPr>
              <a:t>people expected to pay with QR codes by 2025 (29% of mobile users)</a:t>
            </a:r>
          </a:p>
        </p:txBody>
      </p:sp>
      <p:sp>
        <p:nvSpPr>
          <p:cNvPr id="7" name="Rounded Rectangle 6"/>
          <p:cNvSpPr/>
          <p:nvPr/>
        </p:nvSpPr>
        <p:spPr>
          <a:xfrm>
            <a:off x="3163824" y="1389888"/>
            <a:ext cx="1645920"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+85%</a:t>
            </a:r>
          </a:p>
          <a:p>
            <a:pPr algn="ctr">
              <a:spcAft>
                <a:spcPts val="0"/>
              </a:spcAft>
              <a:buNone/>
            </a:pPr>
            <a:r>
              <a:rPr sz="1000" b="0" i="0">
                <a:solidFill>
                  <a:srgbClr val="595959"/>
                </a:solidFill>
                <a:latin typeface="Arial"/>
              </a:rPr>
              <a:t>growth of QR payments in 2024</a:t>
            </a:r>
          </a:p>
        </p:txBody>
      </p:sp>
      <p:sp>
        <p:nvSpPr>
          <p:cNvPr id="8" name="Rounded Rectangle 7"/>
          <p:cNvSpPr/>
          <p:nvPr/>
        </p:nvSpPr>
        <p:spPr>
          <a:xfrm>
            <a:off x="4988052" y="1389888"/>
            <a:ext cx="1645920"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26M</a:t>
            </a:r>
          </a:p>
          <a:p>
            <a:pPr algn="ctr">
              <a:spcAft>
                <a:spcPts val="0"/>
              </a:spcAft>
              <a:buNone/>
            </a:pPr>
            <a:r>
              <a:rPr sz="1000" b="0" i="0">
                <a:solidFill>
                  <a:srgbClr val="595959"/>
                </a:solidFill>
                <a:latin typeface="Arial"/>
              </a:rPr>
              <a:t>QR payments every month (end of 2024)</a:t>
            </a:r>
          </a:p>
        </p:txBody>
      </p:sp>
      <p:sp>
        <p:nvSpPr>
          <p:cNvPr id="9" name="Rounded Rectangle 8"/>
          <p:cNvSpPr/>
          <p:nvPr/>
        </p:nvSpPr>
        <p:spPr>
          <a:xfrm>
            <a:off x="6812280" y="1389888"/>
            <a:ext cx="1645920"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67%</a:t>
            </a:r>
          </a:p>
          <a:p>
            <a:pPr algn="ctr">
              <a:spcAft>
                <a:spcPts val="0"/>
              </a:spcAft>
              <a:buNone/>
            </a:pPr>
            <a:r>
              <a:rPr sz="1000" b="0" i="0">
                <a:solidFill>
                  <a:srgbClr val="595959"/>
                </a:solidFill>
                <a:latin typeface="Arial"/>
              </a:rPr>
              <a:t>of adults have a bank account or a digital wallet (2025)</a:t>
            </a:r>
          </a:p>
        </p:txBody>
      </p:sp>
      <p:sp>
        <p:nvSpPr>
          <p:cNvPr id="10" name="TextBox 9"/>
          <p:cNvSpPr txBox="1"/>
          <p:nvPr/>
        </p:nvSpPr>
        <p:spPr>
          <a:xfrm>
            <a:off x="429768" y="3017520"/>
            <a:ext cx="8028432" cy="256032"/>
          </a:xfrm>
          <a:prstGeom prst="rect">
            <a:avLst/>
          </a:prstGeom>
          <a:noFill/>
        </p:spPr>
        <p:txBody>
          <a:bodyPr wrap="square" lIns="0" rIns="0" tIns="0" bIns="0" anchor="t"/>
          <a:lstStyle/>
          <a:p>
            <a:pPr algn="l">
              <a:spcAft>
                <a:spcPts val="300"/>
              </a:spcAft>
              <a:buNone/>
            </a:pPr>
            <a:r>
              <a:rPr sz="1200" b="1" i="0">
                <a:solidFill>
                  <a:srgbClr val="1A1A1A"/>
                </a:solidFill>
                <a:latin typeface="Arial"/>
              </a:rPr>
              <a:t>What can a QR code hold?</a:t>
            </a:r>
          </a:p>
        </p:txBody>
      </p:sp>
      <p:sp>
        <p:nvSpPr>
          <p:cNvPr id="11" name="Rounded Rectangle 10"/>
          <p:cNvSpPr/>
          <p:nvPr/>
        </p:nvSpPr>
        <p:spPr>
          <a:xfrm>
            <a:off x="429768" y="3310128"/>
            <a:ext cx="1463040" cy="438912"/>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buNone/>
            </a:pPr>
            <a:r>
              <a:rPr sz="1200" b="1" i="0">
                <a:solidFill>
                  <a:srgbClr val="1A1A1A"/>
                </a:solidFill>
                <a:latin typeface="Arial"/>
              </a:rPr>
              <a:t>Web link (URL)</a:t>
            </a:r>
          </a:p>
        </p:txBody>
      </p:sp>
      <p:sp>
        <p:nvSpPr>
          <p:cNvPr id="12" name="Rounded Rectangle 11"/>
          <p:cNvSpPr/>
          <p:nvPr/>
        </p:nvSpPr>
        <p:spPr>
          <a:xfrm>
            <a:off x="2071116" y="3310128"/>
            <a:ext cx="1463040" cy="43891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buNone/>
            </a:pPr>
            <a:r>
              <a:rPr sz="1200" b="0" i="0">
                <a:solidFill>
                  <a:srgbClr val="1A1A1A"/>
                </a:solidFill>
                <a:latin typeface="Arial"/>
              </a:rPr>
              <a:t>Plain text</a:t>
            </a:r>
          </a:p>
        </p:txBody>
      </p:sp>
      <p:sp>
        <p:nvSpPr>
          <p:cNvPr id="13" name="Rounded Rectangle 12"/>
          <p:cNvSpPr/>
          <p:nvPr/>
        </p:nvSpPr>
        <p:spPr>
          <a:xfrm>
            <a:off x="3712464" y="3310128"/>
            <a:ext cx="1463040" cy="43891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buNone/>
            </a:pPr>
            <a:r>
              <a:rPr sz="1200" b="0" i="0">
                <a:solidFill>
                  <a:srgbClr val="1A1A1A"/>
                </a:solidFill>
                <a:latin typeface="Arial"/>
              </a:rPr>
              <a:t>Wi-Fi password</a:t>
            </a:r>
          </a:p>
        </p:txBody>
      </p:sp>
      <p:sp>
        <p:nvSpPr>
          <p:cNvPr id="14" name="Rounded Rectangle 13"/>
          <p:cNvSpPr/>
          <p:nvPr/>
        </p:nvSpPr>
        <p:spPr>
          <a:xfrm>
            <a:off x="5353812" y="3310128"/>
            <a:ext cx="1463040" cy="43891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buNone/>
            </a:pPr>
            <a:r>
              <a:rPr sz="1200" b="0" i="0">
                <a:solidFill>
                  <a:srgbClr val="1A1A1A"/>
                </a:solidFill>
                <a:latin typeface="Arial"/>
              </a:rPr>
              <a:t>Contact card</a:t>
            </a:r>
          </a:p>
        </p:txBody>
      </p:sp>
      <p:sp>
        <p:nvSpPr>
          <p:cNvPr id="15" name="Rounded Rectangle 14"/>
          <p:cNvSpPr/>
          <p:nvPr/>
        </p:nvSpPr>
        <p:spPr>
          <a:xfrm>
            <a:off x="6995160" y="3310128"/>
            <a:ext cx="1463040" cy="43891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0"/>
              </a:spcAft>
              <a:buNone/>
            </a:pPr>
            <a:r>
              <a:rPr sz="1200" b="0" i="0">
                <a:solidFill>
                  <a:srgbClr val="1A1A1A"/>
                </a:solidFill>
                <a:latin typeface="Arial"/>
              </a:rPr>
              <a:t>Payment data</a:t>
            </a:r>
          </a:p>
        </p:txBody>
      </p:sp>
      <p:sp>
        <p:nvSpPr>
          <p:cNvPr id="16" name="TextBox 15"/>
          <p:cNvSpPr txBox="1"/>
          <p:nvPr/>
        </p:nvSpPr>
        <p:spPr>
          <a:xfrm>
            <a:off x="429768" y="3886200"/>
            <a:ext cx="8028432" cy="274320"/>
          </a:xfrm>
          <a:prstGeom prst="rect">
            <a:avLst/>
          </a:prstGeom>
          <a:noFill/>
        </p:spPr>
        <p:txBody>
          <a:bodyPr wrap="square" lIns="0" rIns="0" tIns="0" bIns="0" anchor="t"/>
          <a:lstStyle/>
          <a:p>
            <a:pPr algn="l">
              <a:spcAft>
                <a:spcPts val="300"/>
              </a:spcAft>
              <a:buNone/>
            </a:pPr>
            <a:r>
              <a:rPr sz="1200" b="0" i="1">
                <a:solidFill>
                  <a:srgbClr val="595959"/>
                </a:solidFill>
                <a:latin typeface="Arial"/>
              </a:rPr>
              <a:t>Most QR codes in daily use hold a web link. This is the case we study.</a:t>
            </a:r>
          </a:p>
        </p:txBody>
      </p:sp>
      <p:sp>
        <p:nvSpPr>
          <p:cNvPr id="17" name="Sources"/>
          <p:cNvSpPr txBox="1"/>
          <p:nvPr/>
        </p:nvSpPr>
        <p:spPr>
          <a:xfrm>
            <a:off x="429768" y="4389120"/>
            <a:ext cx="8028432" cy="182880"/>
          </a:xfrm>
          <a:prstGeom prst="rect">
            <a:avLst/>
          </a:prstGeom>
          <a:noFill/>
        </p:spPr>
        <p:txBody>
          <a:bodyPr wrap="square" lIns="18288" rIns="18288" tIns="0" bIns="0" anchor="t"/>
          <a:lstStyle/>
          <a:p>
            <a:pPr algn="l">
              <a:spcAft>
                <a:spcPts val="300"/>
              </a:spcAft>
              <a:buNone/>
            </a:pPr>
            <a:r>
              <a:rPr sz="800" b="0" i="0">
                <a:solidFill>
                  <a:srgbClr val="888888"/>
                </a:solidFill>
                <a:latin typeface="Arial"/>
              </a:rPr>
              <a:t>Sources: Juniper Research 2021 (forecast); BCRP 2025; SBS 2025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Motivation</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What makes QR codes easy to use also makes them easy to abuse</a:t>
            </a:r>
          </a:p>
        </p:txBody>
      </p:sp>
      <p:sp>
        <p:nvSpPr>
          <p:cNvPr id="4" name="Rounded Rectangle 3"/>
          <p:cNvSpPr/>
          <p:nvPr/>
        </p:nvSpPr>
        <p:spPr>
          <a:xfrm>
            <a:off x="429768" y="1143000"/>
            <a:ext cx="2560320" cy="15727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5" name="Badge 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1</a:t>
            </a:r>
          </a:p>
        </p:txBody>
      </p:sp>
      <p:sp>
        <p:nvSpPr>
          <p:cNvPr id="6" name="TextBox 5"/>
          <p:cNvSpPr txBox="1"/>
          <p:nvPr/>
        </p:nvSpPr>
        <p:spPr>
          <a:xfrm>
            <a:off x="1069848" y="1289304"/>
            <a:ext cx="1773936"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Needs a machine</a:t>
            </a:r>
          </a:p>
        </p:txBody>
      </p:sp>
      <p:sp>
        <p:nvSpPr>
          <p:cNvPr id="7" name="TextBox 6"/>
          <p:cNvSpPr txBox="1"/>
          <p:nvPr/>
        </p:nvSpPr>
        <p:spPr>
          <a:xfrm>
            <a:off x="594360" y="1801368"/>
            <a:ext cx="2249424" cy="822960"/>
          </a:xfrm>
          <a:prstGeom prst="rect">
            <a:avLst/>
          </a:prstGeom>
          <a:noFill/>
        </p:spPr>
        <p:txBody>
          <a:bodyPr wrap="square" lIns="0" rIns="0" tIns="0" bIns="0" anchor="t"/>
          <a:lstStyle/>
          <a:p>
            <a:pPr algn="l">
              <a:spcAft>
                <a:spcPts val="300"/>
              </a:spcAft>
              <a:buNone/>
            </a:pPr>
            <a:r>
              <a:rPr sz="1200" b="0" i="0">
                <a:solidFill>
                  <a:srgbClr val="595959"/>
                </a:solidFill>
                <a:latin typeface="Arial"/>
              </a:rPr>
              <a:t>A person cannot read a QR code. It needs a scanner device and a decoding algorithm.</a:t>
            </a:r>
          </a:p>
        </p:txBody>
      </p:sp>
      <p:sp>
        <p:nvSpPr>
          <p:cNvPr id="8" name="Rounded Rectangle 7"/>
          <p:cNvSpPr/>
          <p:nvPr/>
        </p:nvSpPr>
        <p:spPr>
          <a:xfrm>
            <a:off x="3163824" y="1143000"/>
            <a:ext cx="2560320" cy="15727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9" name="Badge 2"/>
          <p:cNvSpPr/>
          <p:nvPr/>
        </p:nvSpPr>
        <p:spPr>
          <a:xfrm>
            <a:off x="3310128"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2</a:t>
            </a:r>
          </a:p>
        </p:txBody>
      </p:sp>
      <p:sp>
        <p:nvSpPr>
          <p:cNvPr id="10" name="TextBox 9"/>
          <p:cNvSpPr txBox="1"/>
          <p:nvPr/>
        </p:nvSpPr>
        <p:spPr>
          <a:xfrm>
            <a:off x="3803904" y="1289304"/>
            <a:ext cx="1773936"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One tap</a:t>
            </a:r>
          </a:p>
        </p:txBody>
      </p:sp>
      <p:sp>
        <p:nvSpPr>
          <p:cNvPr id="11" name="TextBox 10"/>
          <p:cNvSpPr txBox="1"/>
          <p:nvPr/>
        </p:nvSpPr>
        <p:spPr>
          <a:xfrm>
            <a:off x="3328416" y="1801368"/>
            <a:ext cx="2249424" cy="822960"/>
          </a:xfrm>
          <a:prstGeom prst="rect">
            <a:avLst/>
          </a:prstGeom>
          <a:noFill/>
        </p:spPr>
        <p:txBody>
          <a:bodyPr wrap="square" lIns="0" rIns="0" tIns="0" bIns="0" anchor="t"/>
          <a:lstStyle/>
          <a:p>
            <a:pPr algn="l">
              <a:spcAft>
                <a:spcPts val="300"/>
              </a:spcAft>
              <a:buNone/>
            </a:pPr>
            <a:r>
              <a:rPr sz="1200" b="0" i="0">
                <a:solidFill>
                  <a:srgbClr val="595959"/>
                </a:solidFill>
                <a:latin typeface="Arial"/>
              </a:rPr>
              <a:t>No preview and no address bar to check before the page opens.</a:t>
            </a:r>
          </a:p>
        </p:txBody>
      </p:sp>
      <p:sp>
        <p:nvSpPr>
          <p:cNvPr id="12" name="Rounded Rectangle 11"/>
          <p:cNvSpPr/>
          <p:nvPr/>
        </p:nvSpPr>
        <p:spPr>
          <a:xfrm>
            <a:off x="5897880" y="1143000"/>
            <a:ext cx="2560320" cy="1572768"/>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3" name="Badge 3"/>
          <p:cNvSpPr/>
          <p:nvPr/>
        </p:nvSpPr>
        <p:spPr>
          <a:xfrm>
            <a:off x="6044184"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3</a:t>
            </a:r>
          </a:p>
        </p:txBody>
      </p:sp>
      <p:sp>
        <p:nvSpPr>
          <p:cNvPr id="14" name="TextBox 13"/>
          <p:cNvSpPr txBox="1"/>
          <p:nvPr/>
        </p:nvSpPr>
        <p:spPr>
          <a:xfrm>
            <a:off x="6537960" y="1289304"/>
            <a:ext cx="1773936"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Trusted places</a:t>
            </a:r>
          </a:p>
        </p:txBody>
      </p:sp>
      <p:sp>
        <p:nvSpPr>
          <p:cNvPr id="15" name="TextBox 14"/>
          <p:cNvSpPr txBox="1"/>
          <p:nvPr/>
        </p:nvSpPr>
        <p:spPr>
          <a:xfrm>
            <a:off x="6062472" y="1801368"/>
            <a:ext cx="2249424" cy="822960"/>
          </a:xfrm>
          <a:prstGeom prst="rect">
            <a:avLst/>
          </a:prstGeom>
          <a:noFill/>
        </p:spPr>
        <p:txBody>
          <a:bodyPr wrap="square" lIns="0" rIns="0" tIns="0" bIns="0" anchor="t"/>
          <a:lstStyle/>
          <a:p>
            <a:pPr algn="l">
              <a:spcAft>
                <a:spcPts val="300"/>
              </a:spcAft>
              <a:buNone/>
            </a:pPr>
            <a:r>
              <a:rPr sz="1200" b="0" i="0">
                <a:solidFill>
                  <a:srgbClr val="595959"/>
                </a:solidFill>
                <a:latin typeface="Arial"/>
              </a:rPr>
              <a:t>Menus, payment stands and parking meters look safe to users.</a:t>
            </a:r>
          </a:p>
        </p:txBody>
      </p:sp>
      <p:sp>
        <p:nvSpPr>
          <p:cNvPr id="16" name="Rounded Rectangle 15"/>
          <p:cNvSpPr/>
          <p:nvPr/>
        </p:nvSpPr>
        <p:spPr>
          <a:xfrm>
            <a:off x="429768" y="2926080"/>
            <a:ext cx="8028432" cy="128016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600"/>
              </a:spcAft>
              <a:buNone/>
            </a:pPr>
            <a:r>
              <a:rPr sz="1400" b="1" i="0">
                <a:solidFill>
                  <a:srgbClr val="00BFFF"/>
                </a:solidFill>
                <a:latin typeface="Arial"/>
              </a:rPr>
              <a:t>This is already happening in Peru</a:t>
            </a:r>
          </a:p>
          <a:p>
            <a:pPr algn="l" marL="155448" indent="-155448">
              <a:spcAft>
                <a:spcPts val="400"/>
              </a:spcAft>
              <a:buClr>
                <a:srgbClr val="00BFFF"/>
              </a:buClr>
              <a:buFont typeface="Arial"/>
              <a:buChar char="•"/>
            </a:pPr>
            <a:r>
              <a:rPr sz="1200" b="0" i="0">
                <a:solidFill>
                  <a:srgbClr val="1A1A1A"/>
                </a:solidFill>
                <a:latin typeface="Arial"/>
              </a:rPr>
              <a:t>The police warn about fake QR stickers placed on top of the real Yape and Plin codes of small shops. The payment goes to the criminal.</a:t>
            </a:r>
          </a:p>
          <a:p>
            <a:pPr algn="l" marL="155448" indent="-155448">
              <a:spcAft>
                <a:spcPts val="0"/>
              </a:spcAft>
              <a:buClr>
                <a:srgbClr val="00BFFF"/>
              </a:buClr>
              <a:buFont typeface="Arial"/>
              <a:buChar char="•"/>
            </a:pPr>
            <a:r>
              <a:rPr sz="1200" b="0" i="0">
                <a:solidFill>
                  <a:srgbClr val="1A1A1A"/>
                </a:solidFill>
                <a:latin typeface="Arial"/>
              </a:rPr>
              <a:t>Fake traffic fines and fake DNI procedures use QR codes that open fake bank pages or install malware.</a:t>
            </a:r>
          </a:p>
        </p:txBody>
      </p:sp>
      <p:sp>
        <p:nvSpPr>
          <p:cNvPr id="17" name="Sources"/>
          <p:cNvSpPr txBox="1"/>
          <p:nvPr/>
        </p:nvSpPr>
        <p:spPr>
          <a:xfrm>
            <a:off x="429768" y="4389120"/>
            <a:ext cx="8028432" cy="182880"/>
          </a:xfrm>
          <a:prstGeom prst="rect">
            <a:avLst/>
          </a:prstGeom>
          <a:noFill/>
        </p:spPr>
        <p:txBody>
          <a:bodyPr wrap="square" lIns="18288" rIns="18288" tIns="0" bIns="0" anchor="t"/>
          <a:lstStyle/>
          <a:p>
            <a:pPr algn="l">
              <a:spcAft>
                <a:spcPts val="300"/>
              </a:spcAft>
              <a:buNone/>
            </a:pPr>
            <a:r>
              <a:rPr sz="800" b="0" i="0">
                <a:solidFill>
                  <a:srgbClr val="888888"/>
                </a:solidFill>
                <a:latin typeface="Arial"/>
              </a:rPr>
              <a:t>Sources: Sharevski et al. 2022; Geisler et al. 2024; PNP High Technology Division 2024; Reniec 2025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uote"/>
          <p:cNvSpPr txBox="1"/>
          <p:nvPr/>
        </p:nvSpPr>
        <p:spPr>
          <a:xfrm>
            <a:off x="1188720" y="1828800"/>
            <a:ext cx="6766560" cy="1371600"/>
          </a:xfrm>
          <a:prstGeom prst="rect">
            <a:avLst/>
          </a:prstGeom>
          <a:noFill/>
        </p:spPr>
        <p:txBody>
          <a:bodyPr wrap="square" lIns="0" rIns="0" tIns="0" bIns="0" anchor="ctr"/>
          <a:lstStyle/>
          <a:p>
            <a:pPr algn="ctr">
              <a:spcAft>
                <a:spcPts val="400"/>
              </a:spcAft>
              <a:buNone/>
            </a:pPr>
            <a:r>
              <a:rPr sz="2200" b="1" i="0">
                <a:solidFill>
                  <a:srgbClr val="00BFFF"/>
                </a:solidFill>
                <a:latin typeface="Arial"/>
              </a:rPr>
              <a:t>“Anyone can create a QR code.</a:t>
            </a:r>
          </a:p>
          <a:p>
            <a:pPr algn="ctr">
              <a:spcAft>
                <a:spcPts val="0"/>
              </a:spcAft>
              <a:buNone/>
            </a:pPr>
            <a:r>
              <a:rPr sz="2200" b="1" i="0">
                <a:solidFill>
                  <a:srgbClr val="00BFFF"/>
                </a:solidFill>
                <a:latin typeface="Arial"/>
              </a:rPr>
              <a:t>Nobody can read one without a scanner.”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Problem Statement</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What is quishing, and how big is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Problem Statement</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What is quishing?</a:t>
            </a:r>
          </a:p>
        </p:txBody>
      </p:sp>
      <p:sp>
        <p:nvSpPr>
          <p:cNvPr id="4" name="Rounded Rectangle 3"/>
          <p:cNvSpPr/>
          <p:nvPr/>
        </p:nvSpPr>
        <p:spPr>
          <a:xfrm>
            <a:off x="429768" y="1115568"/>
            <a:ext cx="8028432" cy="74980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400" b="1" i="0">
                <a:solidFill>
                  <a:srgbClr val="00BFFF"/>
                </a:solidFill>
                <a:latin typeface="Arial"/>
              </a:rPr>
              <a:t>Quishing = QR + phishing.  </a:t>
            </a:r>
            <a:r>
              <a:rPr sz="1400" b="1" i="0">
                <a:solidFill>
                  <a:srgbClr val="1A1A1A"/>
                </a:solidFill>
                <a:latin typeface="Arial"/>
              </a:rPr>
              <a:t>A criminal hides a malicious link inside a QR code to steal passwords, money or personal data.</a:t>
            </a:r>
          </a:p>
        </p:txBody>
      </p:sp>
      <p:sp>
        <p:nvSpPr>
          <p:cNvPr id="5" name="Rounded Rectangle 4"/>
          <p:cNvSpPr/>
          <p:nvPr/>
        </p:nvSpPr>
        <p:spPr>
          <a:xfrm>
            <a:off x="429768" y="2057400"/>
            <a:ext cx="1783080" cy="14630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6" name="Badge 1"/>
          <p:cNvSpPr/>
          <p:nvPr/>
        </p:nvSpPr>
        <p:spPr>
          <a:xfrm>
            <a:off x="557784" y="2185416"/>
            <a:ext cx="347472" cy="347472"/>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1</a:t>
            </a:r>
          </a:p>
        </p:txBody>
      </p:sp>
      <p:sp>
        <p:nvSpPr>
          <p:cNvPr id="7" name="TextBox 6"/>
          <p:cNvSpPr txBox="1"/>
          <p:nvPr/>
        </p:nvSpPr>
        <p:spPr>
          <a:xfrm>
            <a:off x="978408" y="2185416"/>
            <a:ext cx="1143000" cy="347472"/>
          </a:xfrm>
          <a:prstGeom prst="rect">
            <a:avLst/>
          </a:prstGeom>
          <a:noFill/>
        </p:spPr>
        <p:txBody>
          <a:bodyPr wrap="square" lIns="0" rIns="0" tIns="0" bIns="0" anchor="ctr"/>
          <a:lstStyle/>
          <a:p>
            <a:pPr algn="l">
              <a:spcAft>
                <a:spcPts val="0"/>
              </a:spcAft>
              <a:buNone/>
            </a:pPr>
            <a:r>
              <a:rPr sz="1400" b="1" i="0">
                <a:solidFill>
                  <a:srgbClr val="1A1A1A"/>
                </a:solidFill>
                <a:latin typeface="Arial"/>
              </a:rPr>
              <a:t>Create</a:t>
            </a:r>
          </a:p>
        </p:txBody>
      </p:sp>
      <p:sp>
        <p:nvSpPr>
          <p:cNvPr id="8" name="TextBox 7"/>
          <p:cNvSpPr txBox="1"/>
          <p:nvPr/>
        </p:nvSpPr>
        <p:spPr>
          <a:xfrm>
            <a:off x="557784" y="2651760"/>
            <a:ext cx="1554480" cy="1051560"/>
          </a:xfrm>
          <a:prstGeom prst="rect">
            <a:avLst/>
          </a:prstGeom>
          <a:noFill/>
        </p:spPr>
        <p:txBody>
          <a:bodyPr wrap="square" lIns="0" rIns="0" tIns="0" bIns="0" anchor="t"/>
          <a:lstStyle/>
          <a:p>
            <a:pPr algn="l">
              <a:spcAft>
                <a:spcPts val="300"/>
              </a:spcAft>
              <a:buNone/>
            </a:pPr>
            <a:r>
              <a:rPr sz="1100" b="0" i="0">
                <a:solidFill>
                  <a:srgbClr val="595959"/>
                </a:solidFill>
                <a:latin typeface="Arial"/>
              </a:rPr>
              <a:t>The criminal puts a fake login or payment page in a QR code</a:t>
            </a:r>
          </a:p>
        </p:txBody>
      </p:sp>
      <p:sp>
        <p:nvSpPr>
          <p:cNvPr id="9" name="Flow arrow"/>
          <p:cNvSpPr/>
          <p:nvPr/>
        </p:nvSpPr>
        <p:spPr>
          <a:xfrm>
            <a:off x="2253996" y="2651760"/>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14600" y="2057400"/>
            <a:ext cx="1783080" cy="14630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1" name="Badge 2"/>
          <p:cNvSpPr/>
          <p:nvPr/>
        </p:nvSpPr>
        <p:spPr>
          <a:xfrm>
            <a:off x="2642616" y="2185416"/>
            <a:ext cx="347472" cy="347472"/>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2</a:t>
            </a:r>
          </a:p>
        </p:txBody>
      </p:sp>
      <p:sp>
        <p:nvSpPr>
          <p:cNvPr id="12" name="TextBox 11"/>
          <p:cNvSpPr txBox="1"/>
          <p:nvPr/>
        </p:nvSpPr>
        <p:spPr>
          <a:xfrm>
            <a:off x="3063240" y="2185416"/>
            <a:ext cx="1143000" cy="347472"/>
          </a:xfrm>
          <a:prstGeom prst="rect">
            <a:avLst/>
          </a:prstGeom>
          <a:noFill/>
        </p:spPr>
        <p:txBody>
          <a:bodyPr wrap="square" lIns="0" rIns="0" tIns="0" bIns="0" anchor="ctr"/>
          <a:lstStyle/>
          <a:p>
            <a:pPr algn="l">
              <a:spcAft>
                <a:spcPts val="0"/>
              </a:spcAft>
              <a:buNone/>
            </a:pPr>
            <a:r>
              <a:rPr sz="1400" b="1" i="0">
                <a:solidFill>
                  <a:srgbClr val="1A1A1A"/>
                </a:solidFill>
                <a:latin typeface="Arial"/>
              </a:rPr>
              <a:t>Place</a:t>
            </a:r>
          </a:p>
        </p:txBody>
      </p:sp>
      <p:sp>
        <p:nvSpPr>
          <p:cNvPr id="13" name="TextBox 12"/>
          <p:cNvSpPr txBox="1"/>
          <p:nvPr/>
        </p:nvSpPr>
        <p:spPr>
          <a:xfrm>
            <a:off x="2642616" y="2651760"/>
            <a:ext cx="1554480" cy="1051560"/>
          </a:xfrm>
          <a:prstGeom prst="rect">
            <a:avLst/>
          </a:prstGeom>
          <a:noFill/>
        </p:spPr>
        <p:txBody>
          <a:bodyPr wrap="square" lIns="0" rIns="0" tIns="0" bIns="0" anchor="t"/>
          <a:lstStyle/>
          <a:p>
            <a:pPr algn="l">
              <a:spcAft>
                <a:spcPts val="300"/>
              </a:spcAft>
              <a:buNone/>
            </a:pPr>
            <a:r>
              <a:rPr sz="1100" b="0" i="0">
                <a:solidFill>
                  <a:srgbClr val="595959"/>
                </a:solidFill>
                <a:latin typeface="Arial"/>
              </a:rPr>
              <a:t>In an email, a poster, a parking meter, or on top of a real code</a:t>
            </a:r>
          </a:p>
        </p:txBody>
      </p:sp>
      <p:sp>
        <p:nvSpPr>
          <p:cNvPr id="14" name="Flow arrow"/>
          <p:cNvSpPr/>
          <p:nvPr/>
        </p:nvSpPr>
        <p:spPr>
          <a:xfrm>
            <a:off x="4338828" y="2651760"/>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99432" y="2057400"/>
            <a:ext cx="1783080" cy="14630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6" name="Badge 3"/>
          <p:cNvSpPr/>
          <p:nvPr/>
        </p:nvSpPr>
        <p:spPr>
          <a:xfrm>
            <a:off x="4727448" y="2185416"/>
            <a:ext cx="347472" cy="347472"/>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3</a:t>
            </a:r>
          </a:p>
        </p:txBody>
      </p:sp>
      <p:sp>
        <p:nvSpPr>
          <p:cNvPr id="17" name="TextBox 16"/>
          <p:cNvSpPr txBox="1"/>
          <p:nvPr/>
        </p:nvSpPr>
        <p:spPr>
          <a:xfrm>
            <a:off x="5148072" y="2185416"/>
            <a:ext cx="1143000" cy="347472"/>
          </a:xfrm>
          <a:prstGeom prst="rect">
            <a:avLst/>
          </a:prstGeom>
          <a:noFill/>
        </p:spPr>
        <p:txBody>
          <a:bodyPr wrap="square" lIns="0" rIns="0" tIns="0" bIns="0" anchor="ctr"/>
          <a:lstStyle/>
          <a:p>
            <a:pPr algn="l">
              <a:spcAft>
                <a:spcPts val="0"/>
              </a:spcAft>
              <a:buNone/>
            </a:pPr>
            <a:r>
              <a:rPr sz="1400" b="1" i="0">
                <a:solidFill>
                  <a:srgbClr val="1A1A1A"/>
                </a:solidFill>
                <a:latin typeface="Arial"/>
              </a:rPr>
              <a:t>Scan</a:t>
            </a:r>
          </a:p>
        </p:txBody>
      </p:sp>
      <p:sp>
        <p:nvSpPr>
          <p:cNvPr id="18" name="TextBox 17"/>
          <p:cNvSpPr txBox="1"/>
          <p:nvPr/>
        </p:nvSpPr>
        <p:spPr>
          <a:xfrm>
            <a:off x="4727448" y="2651760"/>
            <a:ext cx="1554480" cy="1051560"/>
          </a:xfrm>
          <a:prstGeom prst="rect">
            <a:avLst/>
          </a:prstGeom>
          <a:noFill/>
        </p:spPr>
        <p:txBody>
          <a:bodyPr wrap="square" lIns="0" rIns="0" tIns="0" bIns="0" anchor="t"/>
          <a:lstStyle/>
          <a:p>
            <a:pPr algn="l">
              <a:spcAft>
                <a:spcPts val="300"/>
              </a:spcAft>
              <a:buNone/>
            </a:pPr>
            <a:r>
              <a:rPr sz="1100" b="0" i="0">
                <a:solidFill>
                  <a:srgbClr val="595959"/>
                </a:solidFill>
                <a:latin typeface="Arial"/>
              </a:rPr>
              <a:t>The victim scans it with a phone, far from company security tools</a:t>
            </a:r>
          </a:p>
        </p:txBody>
      </p:sp>
      <p:sp>
        <p:nvSpPr>
          <p:cNvPr id="19" name="Flow arrow"/>
          <p:cNvSpPr/>
          <p:nvPr/>
        </p:nvSpPr>
        <p:spPr>
          <a:xfrm>
            <a:off x="6423660" y="2651760"/>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84264" y="2057400"/>
            <a:ext cx="1783080" cy="14630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21" name="Badge 4"/>
          <p:cNvSpPr/>
          <p:nvPr/>
        </p:nvSpPr>
        <p:spPr>
          <a:xfrm>
            <a:off x="6812280" y="2185416"/>
            <a:ext cx="347472" cy="347472"/>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4</a:t>
            </a:r>
          </a:p>
        </p:txBody>
      </p:sp>
      <p:sp>
        <p:nvSpPr>
          <p:cNvPr id="22" name="TextBox 21"/>
          <p:cNvSpPr txBox="1"/>
          <p:nvPr/>
        </p:nvSpPr>
        <p:spPr>
          <a:xfrm>
            <a:off x="7232904" y="2185416"/>
            <a:ext cx="1143000" cy="347472"/>
          </a:xfrm>
          <a:prstGeom prst="rect">
            <a:avLst/>
          </a:prstGeom>
          <a:noFill/>
        </p:spPr>
        <p:txBody>
          <a:bodyPr wrap="square" lIns="0" rIns="0" tIns="0" bIns="0" anchor="ctr"/>
          <a:lstStyle/>
          <a:p>
            <a:pPr algn="l">
              <a:spcAft>
                <a:spcPts val="0"/>
              </a:spcAft>
              <a:buNone/>
            </a:pPr>
            <a:r>
              <a:rPr sz="1400" b="1" i="0">
                <a:solidFill>
                  <a:srgbClr val="1A1A1A"/>
                </a:solidFill>
                <a:latin typeface="Arial"/>
              </a:rPr>
              <a:t>Steal</a:t>
            </a:r>
          </a:p>
        </p:txBody>
      </p:sp>
      <p:sp>
        <p:nvSpPr>
          <p:cNvPr id="23" name="TextBox 22"/>
          <p:cNvSpPr txBox="1"/>
          <p:nvPr/>
        </p:nvSpPr>
        <p:spPr>
          <a:xfrm>
            <a:off x="6812280" y="2651760"/>
            <a:ext cx="1554480" cy="1051560"/>
          </a:xfrm>
          <a:prstGeom prst="rect">
            <a:avLst/>
          </a:prstGeom>
          <a:noFill/>
        </p:spPr>
        <p:txBody>
          <a:bodyPr wrap="square" lIns="0" rIns="0" tIns="0" bIns="0" anchor="t"/>
          <a:lstStyle/>
          <a:p>
            <a:pPr algn="l">
              <a:spcAft>
                <a:spcPts val="300"/>
              </a:spcAft>
              <a:buNone/>
            </a:pPr>
            <a:r>
              <a:rPr sz="1100" b="0" i="0">
                <a:solidFill>
                  <a:srgbClr val="595959"/>
                </a:solidFill>
                <a:latin typeface="Arial"/>
              </a:rPr>
              <a:t>A fake page asks for a password, a card number or a payment</a:t>
            </a:r>
          </a:p>
        </p:txBody>
      </p:sp>
      <p:sp>
        <p:nvSpPr>
          <p:cNvPr id="24" name="TextBox 23"/>
          <p:cNvSpPr txBox="1"/>
          <p:nvPr/>
        </p:nvSpPr>
        <p:spPr>
          <a:xfrm>
            <a:off x="429768" y="3749040"/>
            <a:ext cx="8028432" cy="274320"/>
          </a:xfrm>
          <a:prstGeom prst="rect">
            <a:avLst/>
          </a:prstGeom>
          <a:noFill/>
        </p:spPr>
        <p:txBody>
          <a:bodyPr wrap="square" lIns="0" rIns="0" tIns="0" bIns="0" anchor="t"/>
          <a:lstStyle/>
          <a:p>
            <a:pPr algn="ctr">
              <a:spcAft>
                <a:spcPts val="300"/>
              </a:spcAft>
              <a:buNone/>
            </a:pPr>
            <a:r>
              <a:rPr sz="1200" b="0" i="1">
                <a:solidFill>
                  <a:srgbClr val="595959"/>
                </a:solidFill>
                <a:latin typeface="Arial"/>
              </a:rPr>
              <a:t>Quishing is social engineering: it uses trust and speed, not a software bug.</a:t>
            </a:r>
          </a:p>
        </p:txBody>
      </p:sp>
      <p:sp>
        <p:nvSpPr>
          <p:cNvPr id="25" name="Sources"/>
          <p:cNvSpPr txBox="1"/>
          <p:nvPr/>
        </p:nvSpPr>
        <p:spPr>
          <a:xfrm>
            <a:off x="429768" y="4389120"/>
            <a:ext cx="8028432" cy="182880"/>
          </a:xfrm>
          <a:prstGeom prst="rect">
            <a:avLst/>
          </a:prstGeom>
          <a:noFill/>
        </p:spPr>
        <p:txBody>
          <a:bodyPr wrap="square" lIns="18288" rIns="18288" tIns="0" bIns="0" anchor="t"/>
          <a:lstStyle/>
          <a:p>
            <a:pPr algn="l">
              <a:spcAft>
                <a:spcPts val="300"/>
              </a:spcAft>
              <a:buNone/>
            </a:pPr>
            <a:r>
              <a:rPr sz="800" b="0" i="0">
                <a:solidFill>
                  <a:srgbClr val="888888"/>
                </a:solidFill>
                <a:latin typeface="Arial"/>
              </a:rPr>
              <a:t>Sources: Sharevski et al. 2022; Mitnick &amp; Simon 2002; Kaspersky 2025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Problem Statement</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How big is the problem?</a:t>
            </a:r>
          </a:p>
        </p:txBody>
      </p:sp>
      <p:graphicFrame>
        <p:nvGraphicFramePr>
          <p:cNvPr id="4" name="Quishing share chart"/>
          <p:cNvGraphicFramePr>
            <a:graphicFrameLocks noGrp="1"/>
          </p:cNvGraphicFramePr>
          <p:nvPr/>
        </p:nvGraphicFramePr>
        <p:xfrm>
          <a:off x="429768" y="1097280"/>
          <a:ext cx="4114800" cy="2514600"/>
        </p:xfrm>
        <a:graphic>
          <a:graphicData uri="http://schemas.openxmlformats.org/drawingml/2006/chart">
            <c:chart xmlns:c="http://schemas.openxmlformats.org/drawingml/2006/chart" r:id="rId2"/>
          </a:graphicData>
        </a:graphic>
      </p:graphicFrame>
      <p:sp>
        <p:nvSpPr>
          <p:cNvPr id="5" name="Rounded Rectangle 4"/>
          <p:cNvSpPr/>
          <p:nvPr/>
        </p:nvSpPr>
        <p:spPr>
          <a:xfrm>
            <a:off x="4754880" y="1143000"/>
            <a:ext cx="3703320" cy="73152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846320" y="1143000"/>
            <a:ext cx="1325880" cy="731520"/>
          </a:xfrm>
          <a:prstGeom prst="rect">
            <a:avLst/>
          </a:prstGeom>
          <a:noFill/>
        </p:spPr>
        <p:txBody>
          <a:bodyPr wrap="square" lIns="0" rIns="0" tIns="0" bIns="0" anchor="ctr"/>
          <a:lstStyle/>
          <a:p>
            <a:pPr algn="ctr">
              <a:spcAft>
                <a:spcPts val="0"/>
              </a:spcAft>
              <a:buNone/>
            </a:pPr>
            <a:r>
              <a:rPr sz="2200" b="1" i="0">
                <a:solidFill>
                  <a:srgbClr val="00BFFF"/>
                </a:solidFill>
                <a:latin typeface="Arial"/>
              </a:rPr>
              <a:t>1 in 8</a:t>
            </a:r>
          </a:p>
        </p:txBody>
      </p:sp>
      <p:sp>
        <p:nvSpPr>
          <p:cNvPr id="7" name="TextBox 6"/>
          <p:cNvSpPr txBox="1"/>
          <p:nvPr/>
        </p:nvSpPr>
        <p:spPr>
          <a:xfrm>
            <a:off x="6217920" y="1143000"/>
            <a:ext cx="2148840" cy="731520"/>
          </a:xfrm>
          <a:prstGeom prst="rect">
            <a:avLst/>
          </a:prstGeom>
          <a:noFill/>
        </p:spPr>
        <p:txBody>
          <a:bodyPr wrap="square" lIns="0" rIns="0" tIns="0" bIns="0" anchor="ctr"/>
          <a:lstStyle/>
          <a:p>
            <a:pPr algn="l">
              <a:spcAft>
                <a:spcPts val="300"/>
              </a:spcAft>
              <a:buNone/>
            </a:pPr>
            <a:r>
              <a:rPr sz="1100" b="0" i="0">
                <a:solidFill>
                  <a:srgbClr val="1A1A1A"/>
                </a:solidFill>
                <a:latin typeface="Arial"/>
              </a:rPr>
              <a:t>phishing attacks used a QR code in 2023</a:t>
            </a:r>
          </a:p>
        </p:txBody>
      </p:sp>
      <p:sp>
        <p:nvSpPr>
          <p:cNvPr id="8" name="Rounded Rectangle 7"/>
          <p:cNvSpPr/>
          <p:nvPr/>
        </p:nvSpPr>
        <p:spPr>
          <a:xfrm>
            <a:off x="4754880" y="1984248"/>
            <a:ext cx="3703320" cy="7315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846320" y="1984248"/>
            <a:ext cx="1325880" cy="731520"/>
          </a:xfrm>
          <a:prstGeom prst="rect">
            <a:avLst/>
          </a:prstGeom>
          <a:noFill/>
        </p:spPr>
        <p:txBody>
          <a:bodyPr wrap="square" lIns="0" rIns="0" tIns="0" bIns="0" anchor="ctr"/>
          <a:lstStyle/>
          <a:p>
            <a:pPr algn="ctr">
              <a:spcAft>
                <a:spcPts val="0"/>
              </a:spcAft>
              <a:buNone/>
            </a:pPr>
            <a:r>
              <a:rPr sz="2200" b="1" i="0">
                <a:solidFill>
                  <a:srgbClr val="00BFFF"/>
                </a:solidFill>
                <a:latin typeface="Arial"/>
              </a:rPr>
              <a:t>5×</a:t>
            </a:r>
          </a:p>
        </p:txBody>
      </p:sp>
      <p:sp>
        <p:nvSpPr>
          <p:cNvPr id="10" name="TextBox 9"/>
          <p:cNvSpPr txBox="1"/>
          <p:nvPr/>
        </p:nvSpPr>
        <p:spPr>
          <a:xfrm>
            <a:off x="6217920" y="1984248"/>
            <a:ext cx="2148840" cy="731520"/>
          </a:xfrm>
          <a:prstGeom prst="rect">
            <a:avLst/>
          </a:prstGeom>
          <a:noFill/>
        </p:spPr>
        <p:txBody>
          <a:bodyPr wrap="square" lIns="0" rIns="0" tIns="0" bIns="0" anchor="ctr"/>
          <a:lstStyle/>
          <a:p>
            <a:pPr algn="l">
              <a:spcAft>
                <a:spcPts val="300"/>
              </a:spcAft>
              <a:buNone/>
            </a:pPr>
            <a:r>
              <a:rPr sz="1100" b="0" i="0">
                <a:solidFill>
                  <a:srgbClr val="1A1A1A"/>
                </a:solidFill>
                <a:latin typeface="Arial"/>
              </a:rPr>
              <a:t>more QR phishing emails from August to November 2025</a:t>
            </a:r>
          </a:p>
        </p:txBody>
      </p:sp>
      <p:sp>
        <p:nvSpPr>
          <p:cNvPr id="11" name="Rounded Rectangle 10"/>
          <p:cNvSpPr/>
          <p:nvPr/>
        </p:nvSpPr>
        <p:spPr>
          <a:xfrm>
            <a:off x="4754880" y="2825496"/>
            <a:ext cx="3703320" cy="7315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846320" y="2825496"/>
            <a:ext cx="1325880" cy="731520"/>
          </a:xfrm>
          <a:prstGeom prst="rect">
            <a:avLst/>
          </a:prstGeom>
          <a:noFill/>
        </p:spPr>
        <p:txBody>
          <a:bodyPr wrap="square" lIns="0" rIns="0" tIns="0" bIns="0" anchor="ctr"/>
          <a:lstStyle/>
          <a:p>
            <a:pPr algn="ctr">
              <a:spcAft>
                <a:spcPts val="0"/>
              </a:spcAft>
              <a:buNone/>
            </a:pPr>
            <a:r>
              <a:rPr sz="2200" b="1" i="0">
                <a:solidFill>
                  <a:srgbClr val="00BFFF"/>
                </a:solidFill>
                <a:latin typeface="Arial"/>
              </a:rPr>
              <a:t>11,000+</a:t>
            </a:r>
          </a:p>
        </p:txBody>
      </p:sp>
      <p:sp>
        <p:nvSpPr>
          <p:cNvPr id="13" name="TextBox 12"/>
          <p:cNvSpPr txBox="1"/>
          <p:nvPr/>
        </p:nvSpPr>
        <p:spPr>
          <a:xfrm>
            <a:off x="6217920" y="2825496"/>
            <a:ext cx="2148840" cy="731520"/>
          </a:xfrm>
          <a:prstGeom prst="rect">
            <a:avLst/>
          </a:prstGeom>
          <a:noFill/>
        </p:spPr>
        <p:txBody>
          <a:bodyPr wrap="square" lIns="0" rIns="0" tIns="0" bIns="0" anchor="ctr"/>
          <a:lstStyle/>
          <a:p>
            <a:pPr algn="l">
              <a:spcAft>
                <a:spcPts val="300"/>
              </a:spcAft>
              <a:buNone/>
            </a:pPr>
            <a:r>
              <a:rPr sz="1100" b="0" i="0">
                <a:solidFill>
                  <a:srgbClr val="1A1A1A"/>
                </a:solidFill>
                <a:latin typeface="Arial"/>
              </a:rPr>
              <a:t>malicious QR codes detected every day</a:t>
            </a:r>
          </a:p>
        </p:txBody>
      </p:sp>
      <p:sp>
        <p:nvSpPr>
          <p:cNvPr id="14" name="Rounded Rectangle 13"/>
          <p:cNvSpPr/>
          <p:nvPr/>
        </p:nvSpPr>
        <p:spPr>
          <a:xfrm>
            <a:off x="429768" y="3730752"/>
            <a:ext cx="8028432" cy="54864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300" b="1" i="0">
                <a:solidFill>
                  <a:srgbClr val="00BFFF"/>
                </a:solidFill>
                <a:latin typeface="Arial"/>
              </a:rPr>
              <a:t>Our question:  </a:t>
            </a:r>
            <a:r>
              <a:rPr sz="1300" b="1" i="0">
                <a:solidFill>
                  <a:srgbClr val="1A1A1A"/>
                </a:solidFill>
                <a:latin typeface="Arial"/>
              </a:rPr>
              <a:t>can we detect a malicious QR code automatically, at the moment of the scan?</a:t>
            </a:r>
          </a:p>
        </p:txBody>
      </p:sp>
      <p:sp>
        <p:nvSpPr>
          <p:cNvPr id="15" name="Sources"/>
          <p:cNvSpPr txBox="1"/>
          <p:nvPr/>
        </p:nvSpPr>
        <p:spPr>
          <a:xfrm>
            <a:off x="429768" y="4389120"/>
            <a:ext cx="8028432" cy="182880"/>
          </a:xfrm>
          <a:prstGeom prst="rect">
            <a:avLst/>
          </a:prstGeom>
          <a:noFill/>
        </p:spPr>
        <p:txBody>
          <a:bodyPr wrap="square" lIns="18288" rIns="18288" tIns="0" bIns="0" anchor="t"/>
          <a:lstStyle/>
          <a:p>
            <a:pPr algn="l">
              <a:spcAft>
                <a:spcPts val="300"/>
              </a:spcAft>
              <a:buNone/>
            </a:pPr>
            <a:r>
              <a:rPr sz="800" b="0" i="0">
                <a:solidFill>
                  <a:srgbClr val="888888"/>
                </a:solidFill>
                <a:latin typeface="Arial"/>
              </a:rPr>
              <a:t>Sources: Egress Phishing Threat Trends Report 2024; Kaspersky 2025; Palo Alto Networks Unit 42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Related Work</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How do current defenses work?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Related Work</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Two families of defenses: each one fails where the other one works</a:t>
            </a:r>
          </a:p>
        </p:txBody>
      </p:sp>
      <p:sp>
        <p:nvSpPr>
          <p:cNvPr id="4" name="Rounded Rectangle 3"/>
          <p:cNvSpPr/>
          <p:nvPr/>
        </p:nvSpPr>
        <p:spPr>
          <a:xfrm>
            <a:off x="429768" y="1143000"/>
            <a:ext cx="3922776" cy="196596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0"/>
              </a:spcAft>
              <a:buNone/>
            </a:pPr>
            <a:r>
              <a:rPr sz="1600" b="1" i="0">
                <a:solidFill>
                  <a:srgbClr val="00BFFF"/>
                </a:solidFill>
                <a:latin typeface="Arial"/>
              </a:rPr>
              <a:t>Read the URL</a:t>
            </a:r>
            <a:r>
              <a:rPr sz="1200" b="0" i="0" baseline="30000">
                <a:solidFill>
                  <a:srgbClr val="00BFFF"/>
                </a:solidFill>
                <a:latin typeface="Arial"/>
              </a:rPr>
              <a:t> 1,2,5,6</a:t>
            </a:r>
          </a:p>
          <a:p>
            <a:pPr algn="l">
              <a:spcAft>
                <a:spcPts val="1200"/>
              </a:spcAft>
              <a:buNone/>
            </a:pPr>
            <a:r>
              <a:rPr sz="1100" b="0" i="0">
                <a:solidFill>
                  <a:srgbClr val="888888"/>
                </a:solidFill>
                <a:latin typeface="Arial"/>
              </a:rPr>
              <a:t>post-decode</a:t>
            </a:r>
          </a:p>
          <a:p>
            <a:pPr algn="l">
              <a:spcAft>
                <a:spcPts val="800"/>
              </a:spcAft>
              <a:buNone/>
            </a:pPr>
            <a:r>
              <a:rPr sz="1300" b="1" i="0">
                <a:solidFill>
                  <a:srgbClr val="0090C8"/>
                </a:solidFill>
                <a:latin typeface="Arial"/>
              </a:rPr>
              <a:t>Strength:  </a:t>
            </a:r>
            <a:r>
              <a:rPr sz="1300" b="0" i="0">
                <a:solidFill>
                  <a:srgbClr val="1A1A1A"/>
                </a:solidFill>
                <a:latin typeface="Arial"/>
              </a:rPr>
              <a:t>Very accurate when the URL can be read</a:t>
            </a:r>
          </a:p>
          <a:p>
            <a:pPr algn="l">
              <a:spcAft>
                <a:spcPts val="0"/>
              </a:spcAft>
              <a:buNone/>
            </a:pPr>
            <a:r>
              <a:rPr sz="1300" b="1" i="0">
                <a:solidFill>
                  <a:srgbClr val="C8463D"/>
                </a:solidFill>
                <a:latin typeface="Arial"/>
              </a:rPr>
              <a:t>Weakness:  </a:t>
            </a:r>
            <a:r>
              <a:rPr sz="1300" b="0" i="0">
                <a:solidFill>
                  <a:srgbClr val="1A1A1A"/>
                </a:solidFill>
                <a:latin typeface="Arial"/>
              </a:rPr>
              <a:t>Useless when the QR code cannot be decoded</a:t>
            </a:r>
          </a:p>
        </p:txBody>
      </p:sp>
      <p:sp>
        <p:nvSpPr>
          <p:cNvPr id="5" name="Rounded Rectangle 4"/>
          <p:cNvSpPr/>
          <p:nvPr/>
        </p:nvSpPr>
        <p:spPr>
          <a:xfrm>
            <a:off x="4535424" y="1143000"/>
            <a:ext cx="3922776" cy="196596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lstStyle/>
          <a:p>
            <a:pPr algn="l">
              <a:spcAft>
                <a:spcPts val="0"/>
              </a:spcAft>
              <a:buNone/>
            </a:pPr>
            <a:r>
              <a:rPr sz="1600" b="1" i="0">
                <a:solidFill>
                  <a:srgbClr val="00BFFF"/>
                </a:solidFill>
                <a:latin typeface="Arial"/>
              </a:rPr>
              <a:t>Look at the image</a:t>
            </a:r>
            <a:r>
              <a:rPr sz="1200" b="0" i="0" baseline="30000">
                <a:solidFill>
                  <a:srgbClr val="00BFFF"/>
                </a:solidFill>
                <a:latin typeface="Arial"/>
              </a:rPr>
              <a:t> 3,4</a:t>
            </a:r>
          </a:p>
          <a:p>
            <a:pPr algn="l">
              <a:spcAft>
                <a:spcPts val="1200"/>
              </a:spcAft>
              <a:buNone/>
            </a:pPr>
            <a:r>
              <a:rPr sz="1100" b="0" i="0">
                <a:solidFill>
                  <a:srgbClr val="888888"/>
                </a:solidFill>
                <a:latin typeface="Arial"/>
              </a:rPr>
              <a:t>pre-decode</a:t>
            </a:r>
          </a:p>
          <a:p>
            <a:pPr algn="l">
              <a:spcAft>
                <a:spcPts val="800"/>
              </a:spcAft>
              <a:buNone/>
            </a:pPr>
            <a:r>
              <a:rPr sz="1300" b="1" i="0">
                <a:solidFill>
                  <a:srgbClr val="0090C8"/>
                </a:solidFill>
                <a:latin typeface="Arial"/>
              </a:rPr>
              <a:t>Strength:  </a:t>
            </a:r>
            <a:r>
              <a:rPr sz="1300" b="0" i="0">
                <a:solidFill>
                  <a:srgbClr val="1A1A1A"/>
                </a:solidFill>
                <a:latin typeface="Arial"/>
              </a:rPr>
              <a:t>Always works, because no decoding is needed</a:t>
            </a:r>
          </a:p>
          <a:p>
            <a:pPr algn="l">
              <a:spcAft>
                <a:spcPts val="0"/>
              </a:spcAft>
              <a:buNone/>
            </a:pPr>
            <a:r>
              <a:rPr sz="1300" b="1" i="0">
                <a:solidFill>
                  <a:srgbClr val="C8463D"/>
                </a:solidFill>
                <a:latin typeface="Arial"/>
              </a:rPr>
              <a:t>Weakness:  </a:t>
            </a:r>
            <a:r>
              <a:rPr sz="1300" b="0" i="0">
                <a:solidFill>
                  <a:srgbClr val="1A1A1A"/>
                </a:solidFill>
                <a:latin typeface="Arial"/>
              </a:rPr>
              <a:t>Less accurate on real, mixed data</a:t>
            </a:r>
          </a:p>
        </p:txBody>
      </p:sp>
      <p:sp>
        <p:nvSpPr>
          <p:cNvPr id="6" name="Rounded Rectangle 5"/>
          <p:cNvSpPr/>
          <p:nvPr/>
        </p:nvSpPr>
        <p:spPr>
          <a:xfrm>
            <a:off x="429768" y="3310128"/>
            <a:ext cx="8028432" cy="77724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400" b="1" i="0">
                <a:solidFill>
                  <a:srgbClr val="00BFFF"/>
                </a:solidFill>
                <a:latin typeface="Arial"/>
              </a:rPr>
              <a:t>The gap:  </a:t>
            </a:r>
            <a:r>
              <a:rPr sz="1400" b="1" i="0">
                <a:solidFill>
                  <a:srgbClr val="1A1A1A"/>
                </a:solidFill>
                <a:latin typeface="Arial"/>
              </a:rPr>
              <a:t>no previous work joins both signals in one detector, or tests it across independent datasets.</a:t>
            </a:r>
          </a:p>
        </p:txBody>
      </p:sp>
      <p:sp>
        <p:nvSpPr>
          <p:cNvPr id="7" name="References"/>
          <p:cNvSpPr txBox="1"/>
          <p:nvPr/>
        </p:nvSpPr>
        <p:spPr>
          <a:xfrm>
            <a:off x="429768" y="4261104"/>
            <a:ext cx="8028432" cy="292608"/>
          </a:xfrm>
          <a:prstGeom prst="rect">
            <a:avLst/>
          </a:prstGeom>
          <a:noFill/>
        </p:spPr>
        <p:txBody>
          <a:bodyPr wrap="square" lIns="18288" rIns="18288" tIns="0" bIns="0" anchor="t"/>
          <a:lstStyle/>
          <a:p>
            <a:pPr algn="l">
              <a:spcAft>
                <a:spcPts val="0"/>
              </a:spcAft>
              <a:buNone/>
            </a:pPr>
            <a:r>
              <a:rPr sz="800" b="0" i="0" baseline="30000">
                <a:solidFill>
                  <a:srgbClr val="888888"/>
                </a:solidFill>
                <a:latin typeface="Arial"/>
              </a:rPr>
              <a:t>1</a:t>
            </a:r>
            <a:r>
              <a:rPr sz="800" b="0" i="0">
                <a:solidFill>
                  <a:srgbClr val="888888"/>
                </a:solidFill>
                <a:latin typeface="Arial"/>
              </a:rPr>
              <a:t> Amoah &amp; Hayfron-Acquah 2022     </a:t>
            </a:r>
            <a:r>
              <a:rPr sz="800" b="0" i="0" baseline="30000">
                <a:solidFill>
                  <a:srgbClr val="888888"/>
                </a:solidFill>
                <a:latin typeface="Arial"/>
              </a:rPr>
              <a:t>2</a:t>
            </a:r>
            <a:r>
              <a:rPr sz="800" b="0" i="0">
                <a:solidFill>
                  <a:srgbClr val="888888"/>
                </a:solidFill>
                <a:latin typeface="Arial"/>
              </a:rPr>
              <a:t> Rafsanjani et al. 2023     </a:t>
            </a:r>
            <a:r>
              <a:rPr sz="800" b="0" i="0" baseline="30000">
                <a:solidFill>
                  <a:srgbClr val="888888"/>
                </a:solidFill>
                <a:latin typeface="Arial"/>
              </a:rPr>
              <a:t>3</a:t>
            </a:r>
            <a:r>
              <a:rPr sz="800" b="0" i="0">
                <a:solidFill>
                  <a:srgbClr val="888888"/>
                </a:solidFill>
                <a:latin typeface="Arial"/>
              </a:rPr>
              <a:t> Trad &amp; Chehab 2025     </a:t>
            </a:r>
            <a:r>
              <a:rPr sz="800" b="0" i="0" baseline="30000">
                <a:solidFill>
                  <a:srgbClr val="888888"/>
                </a:solidFill>
                <a:latin typeface="Arial"/>
              </a:rPr>
              <a:t>4</a:t>
            </a:r>
            <a:r>
              <a:rPr sz="800" b="0" i="0">
                <a:solidFill>
                  <a:srgbClr val="888888"/>
                </a:solidFill>
                <a:latin typeface="Arial"/>
              </a:rPr>
              <a:t> Akram et al. 2025     </a:t>
            </a:r>
            <a:r>
              <a:rPr sz="800" b="0" i="0" baseline="30000">
                <a:solidFill>
                  <a:srgbClr val="888888"/>
                </a:solidFill>
                <a:latin typeface="Arial"/>
              </a:rPr>
              <a:t>5</a:t>
            </a:r>
            <a:r>
              <a:rPr sz="800" b="0" i="0">
                <a:solidFill>
                  <a:srgbClr val="888888"/>
                </a:solidFill>
                <a:latin typeface="Arial"/>
              </a:rPr>
              <a:t> Khalifa et al. 2025     </a:t>
            </a:r>
            <a:r>
              <a:rPr sz="800" b="0" i="0" baseline="30000">
                <a:solidFill>
                  <a:srgbClr val="888888"/>
                </a:solidFill>
                <a:latin typeface="Arial"/>
              </a:rPr>
              <a:t>6</a:t>
            </a:r>
            <a:r>
              <a:rPr sz="800" b="0" i="0">
                <a:solidFill>
                  <a:srgbClr val="888888"/>
                </a:solidFill>
                <a:latin typeface="Arial"/>
              </a:rPr>
              <a:t> Nejati et al.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Related Work</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Five research directions, and none joins both stages in one detector</a:t>
            </a:r>
          </a:p>
        </p:txBody>
      </p:sp>
      <p:graphicFrame>
        <p:nvGraphicFramePr>
          <p:cNvPr id="4" name="Table 3"/>
          <p:cNvGraphicFramePr>
            <a:graphicFrameLocks noGrp="1"/>
          </p:cNvGraphicFramePr>
          <p:nvPr/>
        </p:nvGraphicFramePr>
        <p:xfrm>
          <a:off x="429768" y="1115568"/>
          <a:ext cx="8028432" cy="2688336"/>
        </p:xfrm>
        <a:graphic>
          <a:graphicData uri="http://schemas.openxmlformats.org/drawingml/2006/table">
            <a:tbl>
              <a:tblPr firstRow="1">
                <a:tableStyleId>{5C22544A-7EE6-4342-B048-85BDC9FD1C3A}</a:tableStyleId>
              </a:tblPr>
              <a:tblGrid>
                <a:gridCol w="1920240"/>
                <a:gridCol w="3200400"/>
                <a:gridCol w="2907792"/>
              </a:tblGrid>
              <a:tr h="384048">
                <a:tc>
                  <a:txBody>
                    <a:bodyPr wrap="square"/>
                    <a:lstStyle/>
                    <a:p>
                      <a:pPr algn="l">
                        <a:spcAft>
                          <a:spcPts val="0"/>
                        </a:spcAft>
                        <a:buNone/>
                      </a:pPr>
                      <a:r>
                        <a:rPr sz="1200" b="1" i="0">
                          <a:solidFill>
                            <a:srgbClr val="FFFFFF"/>
                          </a:solidFill>
                          <a:latin typeface="Arial"/>
                        </a:rPr>
                        <a:t>Direction</a:t>
                      </a:r>
                    </a:p>
                  </a:txBody>
                  <a:tcPr marL="73152" marR="73152" marT="27432" marB="27432" anchor="ctr">
                    <a:solidFill>
                      <a:srgbClr val="1A1A2E"/>
                    </a:solidFill>
                  </a:tcPr>
                </a:tc>
                <a:tc>
                  <a:txBody>
                    <a:bodyPr wrap="square"/>
                    <a:lstStyle/>
                    <a:p>
                      <a:pPr algn="ctr">
                        <a:spcAft>
                          <a:spcPts val="0"/>
                        </a:spcAft>
                        <a:buNone/>
                      </a:pPr>
                      <a:r>
                        <a:rPr sz="1200" b="1" i="0">
                          <a:solidFill>
                            <a:srgbClr val="FFFFFF"/>
                          </a:solidFill>
                          <a:latin typeface="Arial"/>
                        </a:rPr>
                        <a:t>Main idea</a:t>
                      </a:r>
                    </a:p>
                  </a:txBody>
                  <a:tcPr marL="73152" marR="73152" marT="27432" marB="27432" anchor="ctr">
                    <a:solidFill>
                      <a:srgbClr val="1A1A2E"/>
                    </a:solidFill>
                  </a:tcPr>
                </a:tc>
                <a:tc>
                  <a:txBody>
                    <a:bodyPr wrap="square"/>
                    <a:lstStyle/>
                    <a:p>
                      <a:pPr algn="ctr">
                        <a:spcAft>
                          <a:spcPts val="0"/>
                        </a:spcAft>
                        <a:buNone/>
                      </a:pPr>
                      <a:r>
                        <a:rPr sz="1200" b="1" i="0">
                          <a:solidFill>
                            <a:srgbClr val="FFFFFF"/>
                          </a:solidFill>
                          <a:latin typeface="Arial"/>
                        </a:rPr>
                        <a:t>Main limitation</a:t>
                      </a:r>
                    </a:p>
                  </a:txBody>
                  <a:tcPr marL="73152" marR="73152" marT="27432" marB="27432" anchor="ctr">
                    <a:solidFill>
                      <a:srgbClr val="1A1A2E"/>
                    </a:solidFill>
                  </a:tcPr>
                </a:tc>
              </a:tr>
              <a:tr h="384048">
                <a:tc>
                  <a:txBody>
                    <a:bodyPr wrap="square"/>
                    <a:lstStyle/>
                    <a:p>
                      <a:pPr algn="l">
                        <a:spcAft>
                          <a:spcPts val="0"/>
                        </a:spcAft>
                        <a:buNone/>
                      </a:pPr>
                      <a:r>
                        <a:rPr sz="1200" b="0" i="0">
                          <a:solidFill>
                            <a:srgbClr val="1A1A1A"/>
                          </a:solidFill>
                          <a:latin typeface="Arial"/>
                        </a:rPr>
                        <a:t>URL-based</a:t>
                      </a:r>
                      <a:r>
                        <a:rPr sz="1200" b="0" i="0" baseline="30000">
                          <a:solidFill>
                            <a:srgbClr val="1A1A1A"/>
                          </a:solidFill>
                          <a:latin typeface="Arial"/>
                        </a:rPr>
                        <a:t> 1,2</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Decode, then classify the URL</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Needs decoding; URLs only</a:t>
                      </a:r>
                    </a:p>
                  </a:txBody>
                  <a:tcPr marL="73152" marR="73152" marT="27432" marB="27432" anchor="ctr">
                    <a:solidFill>
                      <a:srgbClr val="FFFFFF"/>
                    </a:solidFill>
                  </a:tcPr>
                </a:tc>
              </a:tr>
              <a:tr h="384048">
                <a:tc>
                  <a:txBody>
                    <a:bodyPr wrap="square"/>
                    <a:lstStyle/>
                    <a:p>
                      <a:pPr algn="l">
                        <a:spcAft>
                          <a:spcPts val="0"/>
                        </a:spcAft>
                        <a:buNone/>
                      </a:pPr>
                      <a:r>
                        <a:rPr sz="1200" b="0" i="0">
                          <a:solidFill>
                            <a:srgbClr val="1A1A1A"/>
                          </a:solidFill>
                          <a:latin typeface="Arial"/>
                        </a:rPr>
                        <a:t>Visual</a:t>
                      </a:r>
                      <a:r>
                        <a:rPr sz="1200" b="0" i="0" baseline="30000">
                          <a:solidFill>
                            <a:srgbClr val="1A1A1A"/>
                          </a:solidFill>
                          <a:latin typeface="Arial"/>
                        </a:rPr>
                        <a:t> 3,4</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Classify the QR image directly</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Weaker on mixed, real data</a:t>
                      </a:r>
                    </a:p>
                  </a:txBody>
                  <a:tcPr marL="73152" marR="73152" marT="27432" marB="27432" anchor="ctr">
                    <a:solidFill>
                      <a:srgbClr val="F4F6F8"/>
                    </a:solidFill>
                  </a:tcPr>
                </a:tc>
              </a:tr>
              <a:tr h="384048">
                <a:tc>
                  <a:txBody>
                    <a:bodyPr wrap="square"/>
                    <a:lstStyle/>
                    <a:p>
                      <a:pPr algn="l">
                        <a:spcAft>
                          <a:spcPts val="0"/>
                        </a:spcAft>
                        <a:buNone/>
                      </a:pPr>
                      <a:r>
                        <a:rPr sz="1200" b="0" i="0">
                          <a:solidFill>
                            <a:srgbClr val="1A1A1A"/>
                          </a:solidFill>
                          <a:latin typeface="Arial"/>
                        </a:rPr>
                        <a:t>Multimodal</a:t>
                      </a:r>
                      <a:r>
                        <a:rPr sz="1200" b="0" i="0" baseline="30000">
                          <a:solidFill>
                            <a:srgbClr val="1A1A1A"/>
                          </a:solidFill>
                          <a:latin typeface="Arial"/>
                        </a:rPr>
                        <a:t> 5,6</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Image and URL as separate baselines</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Not one pipeline</a:t>
                      </a:r>
                    </a:p>
                  </a:txBody>
                  <a:tcPr marL="73152" marR="73152" marT="27432" marB="27432" anchor="ctr">
                    <a:solidFill>
                      <a:srgbClr val="FFFFFF"/>
                    </a:solidFill>
                  </a:tcPr>
                </a:tc>
              </a:tr>
              <a:tr h="384048">
                <a:tc>
                  <a:txBody>
                    <a:bodyPr wrap="square"/>
                    <a:lstStyle/>
                    <a:p>
                      <a:pPr algn="l">
                        <a:spcAft>
                          <a:spcPts val="0"/>
                        </a:spcAft>
                        <a:buNone/>
                      </a:pPr>
                      <a:r>
                        <a:rPr sz="1200" b="0" i="0">
                          <a:solidFill>
                            <a:srgbClr val="1A1A1A"/>
                          </a:solidFill>
                          <a:latin typeface="Arial"/>
                        </a:rPr>
                        <a:t>Human-centered</a:t>
                      </a:r>
                      <a:r>
                        <a:rPr sz="1200" b="0" i="0" baseline="30000">
                          <a:solidFill>
                            <a:srgbClr val="1A1A1A"/>
                          </a:solidFill>
                          <a:latin typeface="Arial"/>
                        </a:rPr>
                        <a:t> 7,8,9</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Why people trust QR codes</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No protection at scan time</a:t>
                      </a:r>
                    </a:p>
                  </a:txBody>
                  <a:tcPr marL="73152" marR="73152" marT="27432" marB="27432" anchor="ctr">
                    <a:solidFill>
                      <a:srgbClr val="F4F6F8"/>
                    </a:solidFill>
                  </a:tcPr>
                </a:tc>
              </a:tr>
              <a:tr h="384048">
                <a:tc>
                  <a:txBody>
                    <a:bodyPr wrap="square"/>
                    <a:lstStyle/>
                    <a:p>
                      <a:pPr algn="l">
                        <a:spcAft>
                          <a:spcPts val="0"/>
                        </a:spcAft>
                        <a:buNone/>
                      </a:pPr>
                      <a:r>
                        <a:rPr sz="1200" b="0" i="0">
                          <a:solidFill>
                            <a:srgbClr val="1A1A1A"/>
                          </a:solidFill>
                          <a:latin typeface="Arial"/>
                        </a:rPr>
                        <a:t>Commercial tools</a:t>
                      </a:r>
                      <a:r>
                        <a:rPr sz="1200" b="0" i="0" baseline="30000">
                          <a:solidFill>
                            <a:srgbClr val="1A1A1A"/>
                          </a:solidFill>
                          <a:latin typeface="Arial"/>
                        </a:rPr>
                        <a:t> 2</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Blocklists, secure scanners</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Work only after decoding</a:t>
                      </a:r>
                    </a:p>
                  </a:txBody>
                  <a:tcPr marL="73152" marR="73152" marT="27432" marB="27432" anchor="ctr">
                    <a:solidFill>
                      <a:srgbClr val="FFFFFF"/>
                    </a:solidFill>
                  </a:tcPr>
                </a:tc>
              </a:tr>
              <a:tr h="384048">
                <a:tc>
                  <a:txBody>
                    <a:bodyPr wrap="square"/>
                    <a:lstStyle/>
                    <a:p>
                      <a:pPr algn="l">
                        <a:spcAft>
                          <a:spcPts val="0"/>
                        </a:spcAft>
                        <a:buNone/>
                      </a:pPr>
                      <a:r>
                        <a:rPr sz="1200" b="1" i="0">
                          <a:solidFill>
                            <a:srgbClr val="0090C8"/>
                          </a:solidFill>
                          <a:latin typeface="Arial"/>
                        </a:rPr>
                        <a:t>Q-Shield (ours)</a:t>
                      </a:r>
                    </a:p>
                  </a:txBody>
                  <a:tcPr marL="73152" marR="73152" marT="27432" marB="27432" anchor="ctr">
                    <a:solidFill>
                      <a:srgbClr val="EAF7FD"/>
                    </a:solidFill>
                  </a:tcPr>
                </a:tc>
                <a:tc>
                  <a:txBody>
                    <a:bodyPr wrap="square"/>
                    <a:lstStyle/>
                    <a:p>
                      <a:pPr algn="ctr">
                        <a:spcAft>
                          <a:spcPts val="0"/>
                        </a:spcAft>
                        <a:buNone/>
                      </a:pPr>
                      <a:r>
                        <a:rPr sz="1200" b="1" i="0">
                          <a:solidFill>
                            <a:srgbClr val="0090C8"/>
                          </a:solidFill>
                          <a:latin typeface="Arial"/>
                        </a:rPr>
                        <a:t>Image + URL in one detector</a:t>
                      </a:r>
                    </a:p>
                  </a:txBody>
                  <a:tcPr marL="73152" marR="73152" marT="27432" marB="27432" anchor="ctr">
                    <a:solidFill>
                      <a:srgbClr val="EAF7FD"/>
                    </a:solidFill>
                  </a:tcPr>
                </a:tc>
                <a:tc>
                  <a:txBody>
                    <a:bodyPr wrap="square"/>
                    <a:lstStyle/>
                    <a:p>
                      <a:pPr algn="ctr">
                        <a:spcAft>
                          <a:spcPts val="0"/>
                        </a:spcAft>
                        <a:buNone/>
                      </a:pPr>
                      <a:r>
                        <a:rPr sz="1200" b="1" i="0">
                          <a:solidFill>
                            <a:srgbClr val="0090C8"/>
                          </a:solidFill>
                          <a:latin typeface="Arial"/>
                        </a:rPr>
                        <a:t>Covers both stages</a:t>
                      </a:r>
                    </a:p>
                  </a:txBody>
                  <a:tcPr marL="73152" marR="73152" marT="27432" marB="27432" anchor="ctr">
                    <a:solidFill>
                      <a:srgbClr val="EAF7FD"/>
                    </a:solidFill>
                  </a:tcPr>
                </a:tc>
              </a:tr>
            </a:tbl>
          </a:graphicData>
        </a:graphic>
      </p:graphicFrame>
      <p:sp>
        <p:nvSpPr>
          <p:cNvPr id="5" name="References"/>
          <p:cNvSpPr txBox="1"/>
          <p:nvPr/>
        </p:nvSpPr>
        <p:spPr>
          <a:xfrm>
            <a:off x="429768" y="4114800"/>
            <a:ext cx="8028432" cy="365760"/>
          </a:xfrm>
          <a:prstGeom prst="rect">
            <a:avLst/>
          </a:prstGeom>
          <a:noFill/>
        </p:spPr>
        <p:txBody>
          <a:bodyPr wrap="square" lIns="18288" rIns="18288" tIns="0" bIns="0" anchor="t"/>
          <a:lstStyle/>
          <a:p>
            <a:pPr algn="l">
              <a:spcAft>
                <a:spcPts val="0"/>
              </a:spcAft>
              <a:buNone/>
            </a:pPr>
            <a:r>
              <a:rPr sz="800" b="0" i="0" baseline="30000">
                <a:solidFill>
                  <a:srgbClr val="888888"/>
                </a:solidFill>
                <a:latin typeface="Arial"/>
              </a:rPr>
              <a:t>1</a:t>
            </a:r>
            <a:r>
              <a:rPr sz="800" b="0" i="0">
                <a:solidFill>
                  <a:srgbClr val="888888"/>
                </a:solidFill>
                <a:latin typeface="Arial"/>
              </a:rPr>
              <a:t> Amoah &amp; Hayfron-Acquah 2022     </a:t>
            </a:r>
            <a:r>
              <a:rPr sz="800" b="0" i="0" baseline="30000">
                <a:solidFill>
                  <a:srgbClr val="888888"/>
                </a:solidFill>
                <a:latin typeface="Arial"/>
              </a:rPr>
              <a:t>2</a:t>
            </a:r>
            <a:r>
              <a:rPr sz="800" b="0" i="0">
                <a:solidFill>
                  <a:srgbClr val="888888"/>
                </a:solidFill>
                <a:latin typeface="Arial"/>
              </a:rPr>
              <a:t> Rafsanjani et al. 2023     </a:t>
            </a:r>
            <a:r>
              <a:rPr sz="800" b="0" i="0" baseline="30000">
                <a:solidFill>
                  <a:srgbClr val="888888"/>
                </a:solidFill>
                <a:latin typeface="Arial"/>
              </a:rPr>
              <a:t>3</a:t>
            </a:r>
            <a:r>
              <a:rPr sz="800" b="0" i="0">
                <a:solidFill>
                  <a:srgbClr val="888888"/>
                </a:solidFill>
                <a:latin typeface="Arial"/>
              </a:rPr>
              <a:t> Trad &amp; Chehab 2025     </a:t>
            </a:r>
            <a:r>
              <a:rPr sz="800" b="0" i="0" baseline="30000">
                <a:solidFill>
                  <a:srgbClr val="888888"/>
                </a:solidFill>
                <a:latin typeface="Arial"/>
              </a:rPr>
              <a:t>4</a:t>
            </a:r>
            <a:r>
              <a:rPr sz="800" b="0" i="0">
                <a:solidFill>
                  <a:srgbClr val="888888"/>
                </a:solidFill>
                <a:latin typeface="Arial"/>
              </a:rPr>
              <a:t> Akram et al. 2025     </a:t>
            </a:r>
            <a:r>
              <a:rPr sz="800" b="0" i="0" baseline="30000">
                <a:solidFill>
                  <a:srgbClr val="888888"/>
                </a:solidFill>
                <a:latin typeface="Arial"/>
              </a:rPr>
              <a:t>5</a:t>
            </a:r>
            <a:r>
              <a:rPr sz="800" b="0" i="0">
                <a:solidFill>
                  <a:srgbClr val="888888"/>
                </a:solidFill>
                <a:latin typeface="Arial"/>
              </a:rPr>
              <a:t> Khalifa et al. 2025</a:t>
            </a:r>
          </a:p>
          <a:p>
            <a:pPr algn="l">
              <a:spcAft>
                <a:spcPts val="0"/>
              </a:spcAft>
              <a:buNone/>
            </a:pPr>
            <a:r>
              <a:rPr sz="800" b="0" i="0" baseline="30000">
                <a:solidFill>
                  <a:srgbClr val="888888"/>
                </a:solidFill>
                <a:latin typeface="Arial"/>
              </a:rPr>
              <a:t>6</a:t>
            </a:r>
            <a:r>
              <a:rPr sz="800" b="0" i="0">
                <a:solidFill>
                  <a:srgbClr val="888888"/>
                </a:solidFill>
                <a:latin typeface="Arial"/>
              </a:rPr>
              <a:t> Nejati et al. 2026     </a:t>
            </a:r>
            <a:r>
              <a:rPr sz="800" b="0" i="0" baseline="30000">
                <a:solidFill>
                  <a:srgbClr val="888888"/>
                </a:solidFill>
                <a:latin typeface="Arial"/>
              </a:rPr>
              <a:t>7</a:t>
            </a:r>
            <a:r>
              <a:rPr sz="800" b="0" i="0">
                <a:solidFill>
                  <a:srgbClr val="888888"/>
                </a:solidFill>
                <a:latin typeface="Arial"/>
              </a:rPr>
              <a:t> Sharevski et al. 2022     </a:t>
            </a:r>
            <a:r>
              <a:rPr sz="800" b="0" i="0" baseline="30000">
                <a:solidFill>
                  <a:srgbClr val="888888"/>
                </a:solidFill>
                <a:latin typeface="Arial"/>
              </a:rPr>
              <a:t>8</a:t>
            </a:r>
            <a:r>
              <a:rPr sz="800" b="0" i="0">
                <a:solidFill>
                  <a:srgbClr val="888888"/>
                </a:solidFill>
                <a:latin typeface="Arial"/>
              </a:rPr>
              <a:t> Geisler et al. 2024     </a:t>
            </a:r>
            <a:r>
              <a:rPr sz="800" b="0" i="0" baseline="30000">
                <a:solidFill>
                  <a:srgbClr val="888888"/>
                </a:solidFill>
                <a:latin typeface="Arial"/>
              </a:rPr>
              <a:t>9</a:t>
            </a:r>
            <a:r>
              <a:rPr sz="800" b="0" i="0">
                <a:solidFill>
                  <a:srgbClr val="888888"/>
                </a:solidFill>
                <a:latin typeface="Arial"/>
              </a:rPr>
              <a:t> Weinz et al. 2025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Contributions</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What does this paper do differently?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Contributions</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Main idea: one detector for both moments of a QR scan, before and after decoding</a:t>
            </a:r>
          </a:p>
        </p:txBody>
      </p:sp>
      <p:sp>
        <p:nvSpPr>
          <p:cNvPr id="4" name="Rounded Rectangle 3"/>
          <p:cNvSpPr/>
          <p:nvPr/>
        </p:nvSpPr>
        <p:spPr>
          <a:xfrm>
            <a:off x="429768" y="1143000"/>
            <a:ext cx="3922776" cy="141732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5" name="Badge 0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01</a:t>
            </a:r>
          </a:p>
        </p:txBody>
      </p:sp>
      <p:sp>
        <p:nvSpPr>
          <p:cNvPr id="6" name="TextBox 5"/>
          <p:cNvSpPr txBox="1"/>
          <p:nvPr/>
        </p:nvSpPr>
        <p:spPr>
          <a:xfrm>
            <a:off x="1069848" y="1289304"/>
            <a:ext cx="3136392" cy="411480"/>
          </a:xfrm>
          <a:prstGeom prst="rect">
            <a:avLst/>
          </a:prstGeom>
          <a:noFill/>
        </p:spPr>
        <p:txBody>
          <a:bodyPr wrap="square" lIns="0" rIns="0" tIns="0" bIns="0" anchor="ctr"/>
          <a:lstStyle/>
          <a:p>
            <a:pPr algn="l">
              <a:spcAft>
                <a:spcPts val="0"/>
              </a:spcAft>
              <a:buNone/>
            </a:pPr>
            <a:r>
              <a:rPr sz="1500" b="1" i="0">
                <a:solidFill>
                  <a:srgbClr val="1A1A1A"/>
                </a:solidFill>
                <a:latin typeface="Arial"/>
              </a:rPr>
              <a:t>Two-stage fusion</a:t>
            </a:r>
          </a:p>
        </p:txBody>
      </p:sp>
      <p:sp>
        <p:nvSpPr>
          <p:cNvPr id="7" name="TextBox 6"/>
          <p:cNvSpPr txBox="1"/>
          <p:nvPr/>
        </p:nvSpPr>
        <p:spPr>
          <a:xfrm>
            <a:off x="594360" y="1801368"/>
            <a:ext cx="3611880" cy="667512"/>
          </a:xfrm>
          <a:prstGeom prst="rect">
            <a:avLst/>
          </a:prstGeom>
          <a:noFill/>
        </p:spPr>
        <p:txBody>
          <a:bodyPr wrap="square" lIns="0" rIns="0" tIns="0" bIns="0" anchor="t"/>
          <a:lstStyle/>
          <a:p>
            <a:pPr algn="l">
              <a:spcAft>
                <a:spcPts val="300"/>
              </a:spcAft>
              <a:buNone/>
            </a:pPr>
            <a:r>
              <a:rPr sz="1300" b="0" i="0">
                <a:solidFill>
                  <a:srgbClr val="595959"/>
                </a:solidFill>
                <a:latin typeface="Arial"/>
              </a:rPr>
              <a:t>Joins the image, the URL, and a flag that says if decoding worked.</a:t>
            </a:r>
          </a:p>
        </p:txBody>
      </p:sp>
      <p:sp>
        <p:nvSpPr>
          <p:cNvPr id="8" name="Rounded Rectangle 7"/>
          <p:cNvSpPr/>
          <p:nvPr/>
        </p:nvSpPr>
        <p:spPr>
          <a:xfrm>
            <a:off x="4535424" y="1143000"/>
            <a:ext cx="3922776"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9" name="Badge 02"/>
          <p:cNvSpPr/>
          <p:nvPr/>
        </p:nvSpPr>
        <p:spPr>
          <a:xfrm>
            <a:off x="4681728"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02</a:t>
            </a:r>
          </a:p>
        </p:txBody>
      </p:sp>
      <p:sp>
        <p:nvSpPr>
          <p:cNvPr id="10" name="TextBox 9"/>
          <p:cNvSpPr txBox="1"/>
          <p:nvPr/>
        </p:nvSpPr>
        <p:spPr>
          <a:xfrm>
            <a:off x="5175504" y="1289304"/>
            <a:ext cx="3136392" cy="411480"/>
          </a:xfrm>
          <a:prstGeom prst="rect">
            <a:avLst/>
          </a:prstGeom>
          <a:noFill/>
        </p:spPr>
        <p:txBody>
          <a:bodyPr wrap="square" lIns="0" rIns="0" tIns="0" bIns="0" anchor="ctr"/>
          <a:lstStyle/>
          <a:p>
            <a:pPr algn="l">
              <a:spcAft>
                <a:spcPts val="0"/>
              </a:spcAft>
              <a:buNone/>
            </a:pPr>
            <a:r>
              <a:rPr sz="1500" b="1" i="0">
                <a:solidFill>
                  <a:srgbClr val="1A1A1A"/>
                </a:solidFill>
                <a:latin typeface="Arial"/>
              </a:rPr>
              <a:t>Mixed benchmark</a:t>
            </a:r>
          </a:p>
        </p:txBody>
      </p:sp>
      <p:sp>
        <p:nvSpPr>
          <p:cNvPr id="11" name="TextBox 10"/>
          <p:cNvSpPr txBox="1"/>
          <p:nvPr/>
        </p:nvSpPr>
        <p:spPr>
          <a:xfrm>
            <a:off x="4700016" y="1801368"/>
            <a:ext cx="3611880" cy="667512"/>
          </a:xfrm>
          <a:prstGeom prst="rect">
            <a:avLst/>
          </a:prstGeom>
          <a:noFill/>
        </p:spPr>
        <p:txBody>
          <a:bodyPr wrap="square" lIns="0" rIns="0" tIns="0" bIns="0" anchor="t"/>
          <a:lstStyle/>
          <a:p>
            <a:pPr algn="l">
              <a:spcAft>
                <a:spcPts val="300"/>
              </a:spcAft>
              <a:buNone/>
            </a:pPr>
            <a:r>
              <a:rPr sz="1300" b="0" i="0">
                <a:solidFill>
                  <a:srgbClr val="595959"/>
                </a:solidFill>
                <a:latin typeface="Arial"/>
              </a:rPr>
              <a:t>21,998 test samples from two independent datasets.</a:t>
            </a:r>
          </a:p>
        </p:txBody>
      </p:sp>
      <p:sp>
        <p:nvSpPr>
          <p:cNvPr id="12" name="Rounded Rectangle 11"/>
          <p:cNvSpPr/>
          <p:nvPr/>
        </p:nvSpPr>
        <p:spPr>
          <a:xfrm>
            <a:off x="429768" y="2715768"/>
            <a:ext cx="3922776"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3" name="Badge 03"/>
          <p:cNvSpPr/>
          <p:nvPr/>
        </p:nvSpPr>
        <p:spPr>
          <a:xfrm>
            <a:off x="576072" y="2862072"/>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03</a:t>
            </a:r>
          </a:p>
        </p:txBody>
      </p:sp>
      <p:sp>
        <p:nvSpPr>
          <p:cNvPr id="14" name="TextBox 13"/>
          <p:cNvSpPr txBox="1"/>
          <p:nvPr/>
        </p:nvSpPr>
        <p:spPr>
          <a:xfrm>
            <a:off x="1069848" y="2862072"/>
            <a:ext cx="3136392" cy="411480"/>
          </a:xfrm>
          <a:prstGeom prst="rect">
            <a:avLst/>
          </a:prstGeom>
          <a:noFill/>
        </p:spPr>
        <p:txBody>
          <a:bodyPr wrap="square" lIns="0" rIns="0" tIns="0" bIns="0" anchor="ctr"/>
          <a:lstStyle/>
          <a:p>
            <a:pPr algn="l">
              <a:spcAft>
                <a:spcPts val="0"/>
              </a:spcAft>
              <a:buNone/>
            </a:pPr>
            <a:r>
              <a:rPr sz="1500" b="1" i="0">
                <a:solidFill>
                  <a:srgbClr val="1A1A1A"/>
                </a:solidFill>
                <a:latin typeface="Arial"/>
              </a:rPr>
              <a:t>Cross-dataset test</a:t>
            </a:r>
          </a:p>
        </p:txBody>
      </p:sp>
      <p:sp>
        <p:nvSpPr>
          <p:cNvPr id="15" name="TextBox 14"/>
          <p:cNvSpPr txBox="1"/>
          <p:nvPr/>
        </p:nvSpPr>
        <p:spPr>
          <a:xfrm>
            <a:off x="594360" y="3374136"/>
            <a:ext cx="3611880" cy="667512"/>
          </a:xfrm>
          <a:prstGeom prst="rect">
            <a:avLst/>
          </a:prstGeom>
          <a:noFill/>
        </p:spPr>
        <p:txBody>
          <a:bodyPr wrap="square" lIns="0" rIns="0" tIns="0" bIns="0" anchor="t"/>
          <a:lstStyle/>
          <a:p>
            <a:pPr algn="l">
              <a:spcAft>
                <a:spcPts val="300"/>
              </a:spcAft>
              <a:buNone/>
            </a:pPr>
            <a:r>
              <a:rPr sz="1300" b="0" i="0">
                <a:solidFill>
                  <a:srgbClr val="595959"/>
                </a:solidFill>
                <a:latin typeface="Arial"/>
              </a:rPr>
              <a:t>Shows that training on only one dataset is not enough.</a:t>
            </a:r>
          </a:p>
        </p:txBody>
      </p:sp>
      <p:sp>
        <p:nvSpPr>
          <p:cNvPr id="16" name="Rounded Rectangle 15"/>
          <p:cNvSpPr/>
          <p:nvPr/>
        </p:nvSpPr>
        <p:spPr>
          <a:xfrm>
            <a:off x="4535424" y="2715768"/>
            <a:ext cx="3922776" cy="14173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7" name="Badge 04"/>
          <p:cNvSpPr/>
          <p:nvPr/>
        </p:nvSpPr>
        <p:spPr>
          <a:xfrm>
            <a:off x="4681728" y="2862072"/>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04</a:t>
            </a:r>
          </a:p>
        </p:txBody>
      </p:sp>
      <p:sp>
        <p:nvSpPr>
          <p:cNvPr id="18" name="TextBox 17"/>
          <p:cNvSpPr txBox="1"/>
          <p:nvPr/>
        </p:nvSpPr>
        <p:spPr>
          <a:xfrm>
            <a:off x="5175504" y="2862072"/>
            <a:ext cx="3136392" cy="411480"/>
          </a:xfrm>
          <a:prstGeom prst="rect">
            <a:avLst/>
          </a:prstGeom>
          <a:noFill/>
        </p:spPr>
        <p:txBody>
          <a:bodyPr wrap="square" lIns="0" rIns="0" tIns="0" bIns="0" anchor="ctr"/>
          <a:lstStyle/>
          <a:p>
            <a:pPr algn="l">
              <a:spcAft>
                <a:spcPts val="0"/>
              </a:spcAft>
              <a:buNone/>
            </a:pPr>
            <a:r>
              <a:rPr sz="1500" b="1" i="0">
                <a:solidFill>
                  <a:srgbClr val="1A1A1A"/>
                </a:solidFill>
                <a:latin typeface="Arial"/>
              </a:rPr>
              <a:t>Two-level explainability</a:t>
            </a:r>
          </a:p>
        </p:txBody>
      </p:sp>
      <p:sp>
        <p:nvSpPr>
          <p:cNvPr id="19" name="TextBox 18"/>
          <p:cNvSpPr txBox="1"/>
          <p:nvPr/>
        </p:nvSpPr>
        <p:spPr>
          <a:xfrm>
            <a:off x="4700016" y="3374136"/>
            <a:ext cx="3611880" cy="667512"/>
          </a:xfrm>
          <a:prstGeom prst="rect">
            <a:avLst/>
          </a:prstGeom>
          <a:noFill/>
        </p:spPr>
        <p:txBody>
          <a:bodyPr wrap="square" lIns="0" rIns="0" tIns="0" bIns="0" anchor="t"/>
          <a:lstStyle/>
          <a:p>
            <a:pPr algn="l">
              <a:spcAft>
                <a:spcPts val="300"/>
              </a:spcAft>
              <a:buNone/>
            </a:pPr>
            <a:r>
              <a:rPr sz="1300" b="0" i="0">
                <a:solidFill>
                  <a:srgbClr val="595959"/>
                </a:solidFill>
                <a:latin typeface="Arial"/>
              </a:rPr>
              <a:t>Grad-CAM on the pixels and SHAP on the embedding.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Methodology</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How the two stages fit together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Methodology Overview</a:t>
            </a:r>
          </a:p>
        </p:txBody>
      </p:sp>
      <p:pic>
        <p:nvPicPr>
          <p:cNvPr id="3" name="Picture 2" descr="fig_pipeline.png"/>
          <p:cNvPicPr>
            <a:picLocks noChangeAspect="1"/>
          </p:cNvPicPr>
          <p:nvPr/>
        </p:nvPicPr>
        <p:blipFill>
          <a:blip r:embed="rId2"/>
          <a:stretch>
            <a:fillRect/>
          </a:stretch>
        </p:blipFill>
        <p:spPr>
          <a:xfrm>
            <a:off x="960120" y="786384"/>
            <a:ext cx="7223760" cy="3235642"/>
          </a:xfrm>
          <a:prstGeom prst="rect">
            <a:avLst/>
          </a:prstGeom>
        </p:spPr>
      </p:pic>
      <p:sp>
        <p:nvSpPr>
          <p:cNvPr id="4" name="Rounded Rectangle 3"/>
          <p:cNvSpPr/>
          <p:nvPr/>
        </p:nvSpPr>
        <p:spPr>
          <a:xfrm>
            <a:off x="960120" y="4059936"/>
            <a:ext cx="7223760" cy="45720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mc:AlternateContent xmlns:mc="http://schemas.openxmlformats.org/markup-compatibility/2006">
        <mc:Choice xmlns:a14="http://schemas.microsoft.com/office/drawing/2010/main" Requires="a14">
          <p:sp>
            <p:nvSpPr>
              <p:cNvPr id="5" name="Fusion equation"/>
              <p:cNvSpPr txBox="1"/>
              <p:nvPr/>
            </p:nvSpPr>
            <p:spPr>
              <a:xfrm>
                <a:off x="1051560" y="4059936"/>
                <a:ext cx="3931920" cy="457200"/>
              </a:xfrm>
              <a:prstGeom prst="rect">
                <a:avLst/>
              </a:prstGeom>
              <a:noFill/>
            </p:spPr>
            <p:txBody>
              <a:bodyPr wrap="square" lIns="0" rIns="0" tIns="0" bIns="0" anchor="ctr"/>
              <a:lstStyle/>
              <a:p>
                <a:pPr algn="ctr">
                  <a:spcAft>
                    <a:spcPts val="0"/>
                  </a:spcAft>
                  <a:buNone/>
                </a:pPr>
                <a14:m>
                  <m:oMathPara xmlns:m="http://schemas.openxmlformats.org/officeDocument/2006/math">
                    <m:oMathParaPr>
                      <m:jc m:val="centerGroup"/>
                    </m:oMathParaPr>
                    <m:oMath>
                      <m:r>
                        <a:rPr lang="en-US" sz="1800" i="1">
                          <a:solidFill>
                            <a:srgbClr val="1A1A1A"/>
                          </a:solidFill>
                          <a:latin typeface="Cambria Math"/>
                        </a:rPr>
                        <m:t>p</m:t>
                      </m:r>
                      <m:d>
                        <m:dPr>
                          <m:ctrlPr>
                            <a:rPr lang="en-US" sz="1800" i="1">
                              <a:solidFill>
                                <a:srgbClr val="1A1A1A"/>
                              </a:solidFill>
                              <a:latin typeface="Cambria Math"/>
                            </a:rPr>
                          </m:ctrlPr>
                        </m:dPr>
                        <m:e>
                          <m:r>
                            <a:rPr lang="en-US" sz="1800" i="1">
                              <a:solidFill>
                                <a:srgbClr val="1A1A1A"/>
                              </a:solidFill>
                              <a:latin typeface="Cambria Math"/>
                            </a:rPr>
                            <m:t>y=1</m:t>
                          </m:r>
                          <m:r>
                            <a:rPr lang="en-US" sz="1800" i="1">
                              <a:solidFill>
                                <a:srgbClr val="1A1A1A"/>
                              </a:solidFill>
                              <a:latin typeface="Cambria Math"/>
                            </a:rPr>
                            <m:t>|</m:t>
                          </m:r>
                          <m:r>
                            <a:rPr lang="en-US" sz="1800" i="1">
                              <a:solidFill>
                                <a:srgbClr val="1A1A1A"/>
                              </a:solidFill>
                              <a:latin typeface="Cambria Math"/>
                            </a:rPr>
                            <m:t>x</m:t>
                          </m:r>
                        </m:e>
                      </m:d>
                      <m:r>
                        <a:rPr lang="en-US" sz="1800" i="1">
                          <a:solidFill>
                            <a:srgbClr val="1A1A1A"/>
                          </a:solidFill>
                          <a:latin typeface="Cambria Math"/>
                        </a:rPr>
                        <m:t>=</m:t>
                      </m:r>
                      <m:r>
                        <m:rPr>
                          <m:sty m:val="p"/>
                        </m:rPr>
                        <a:rPr lang="en-US" sz="1800" i="0">
                          <a:solidFill>
                            <a:srgbClr val="1A1A1A"/>
                          </a:solidFill>
                          <a:latin typeface="Cambria Math"/>
                        </a:rPr>
                        <m:t>σ</m:t>
                      </m:r>
                      <m:d>
                        <m:dPr>
                          <m:ctrlPr>
                            <a:rPr lang="en-US" sz="1800" i="1">
                              <a:solidFill>
                                <a:srgbClr val="1A1A1A"/>
                              </a:solidFill>
                              <a:latin typeface="Cambria Math"/>
                            </a:rPr>
                          </m:ctrlPr>
                        </m:dPr>
                        <m:e>
                          <m:sSub>
                            <m:sSubPr>
                              <m:ctrlPr>
                                <a:rPr lang="en-US" sz="1800" i="1">
                                  <a:solidFill>
                                    <a:srgbClr val="1A1A1A"/>
                                  </a:solidFill>
                                  <a:latin typeface="Cambria Math"/>
                                </a:rPr>
                              </m:ctrlPr>
                            </m:sSubPr>
                            <m:e>
                              <m:r>
                                <a:rPr lang="en-US" sz="1800" i="1">
                                  <a:solidFill>
                                    <a:srgbClr val="1A1A1A"/>
                                  </a:solidFill>
                                  <a:latin typeface="Cambria Math"/>
                                </a:rPr>
                                <m:t>g</m:t>
                              </m:r>
                            </m:e>
                            <m:sub>
                              <m:r>
                                <m:rPr>
                                  <m:sty m:val="p"/>
                                </m:rPr>
                                <a:rPr lang="en-US" sz="1800" i="0">
                                  <a:solidFill>
                                    <a:srgbClr val="1A1A1A"/>
                                  </a:solidFill>
                                  <a:latin typeface="Cambria Math"/>
                                </a:rPr>
                                <m:t>fuse</m:t>
                              </m:r>
                            </m:sub>
                          </m:sSub>
                          <m:d>
                            <m:dPr>
                              <m:ctrlPr>
                                <a:rPr lang="en-US" sz="1800" i="1">
                                  <a:solidFill>
                                    <a:srgbClr val="1A1A1A"/>
                                  </a:solidFill>
                                  <a:latin typeface="Cambria Math"/>
                                </a:rPr>
                              </m:ctrlPr>
                            </m:dPr>
                            <m:e>
                              <m:sSub>
                                <m:sSubPr>
                                  <m:ctrlPr>
                                    <a:rPr lang="en-US" sz="1800" i="1">
                                      <a:solidFill>
                                        <a:srgbClr val="1A1A1A"/>
                                      </a:solidFill>
                                      <a:latin typeface="Cambria Math"/>
                                    </a:rPr>
                                  </m:ctrlPr>
                                </m:sSubPr>
                                <m:e>
                                  <m:r>
                                    <a:rPr lang="en-US" sz="1800" i="1">
                                      <a:solidFill>
                                        <a:srgbClr val="1A1A1A"/>
                                      </a:solidFill>
                                      <a:latin typeface="Cambria Math"/>
                                    </a:rPr>
                                    <m:t>ℓ</m:t>
                                  </m:r>
                                </m:e>
                                <m:sub>
                                  <m:r>
                                    <a:rPr lang="en-US" sz="1800" i="1">
                                      <a:solidFill>
                                        <a:srgbClr val="1A1A1A"/>
                                      </a:solidFill>
                                      <a:latin typeface="Cambria Math"/>
                                    </a:rPr>
                                    <m:t>v</m:t>
                                  </m:r>
                                </m:sub>
                              </m:sSub>
                              <m:r>
                                <a:rPr lang="en-US" sz="1800" i="1">
                                  <a:solidFill>
                                    <a:srgbClr val="1A1A1A"/>
                                  </a:solidFill>
                                  <a:latin typeface="Cambria Math"/>
                                </a:rPr>
                                <m:t>,</m:t>
                              </m:r>
                              <m:sSub>
                                <m:sSubPr>
                                  <m:ctrlPr>
                                    <a:rPr lang="en-US" sz="1800" i="1">
                                      <a:solidFill>
                                        <a:srgbClr val="1A1A1A"/>
                                      </a:solidFill>
                                      <a:latin typeface="Cambria Math"/>
                                    </a:rPr>
                                  </m:ctrlPr>
                                </m:sSubPr>
                                <m:e>
                                  <m:r>
                                    <a:rPr lang="en-US" sz="1800" i="1">
                                      <a:solidFill>
                                        <a:srgbClr val="1A1A1A"/>
                                      </a:solidFill>
                                      <a:latin typeface="Cambria Math"/>
                                    </a:rPr>
                                    <m:t>ℓ</m:t>
                                  </m:r>
                                </m:e>
                                <m:sub>
                                  <m:r>
                                    <a:rPr lang="en-US" sz="1800" i="1">
                                      <a:solidFill>
                                        <a:srgbClr val="1A1A1A"/>
                                      </a:solidFill>
                                      <a:latin typeface="Cambria Math"/>
                                    </a:rPr>
                                    <m:t>t</m:t>
                                  </m:r>
                                </m:sub>
                              </m:sSub>
                              <m:r>
                                <a:rPr lang="en-US" sz="1800" i="1">
                                  <a:solidFill>
                                    <a:srgbClr val="1A1A1A"/>
                                  </a:solidFill>
                                  <a:latin typeface="Cambria Math"/>
                                </a:rPr>
                                <m:t>,</m:t>
                              </m:r>
                              <m:r>
                                <a:rPr lang="en-US" sz="1800" i="1">
                                  <a:solidFill>
                                    <a:srgbClr val="1A1A1A"/>
                                  </a:solidFill>
                                  <a:latin typeface="Cambria Math"/>
                                </a:rPr>
                                <m:t>f</m:t>
                              </m:r>
                            </m:e>
                          </m:d>
                        </m:e>
                      </m:d>
                    </m:oMath>
                  </m:oMathPara>
                </a14:m>
              </a:p>
            </p:txBody>
          </p:sp>
        </mc:Choice>
        <mc:Fallback>
          <p:sp>
            <p:nvSpPr>
              <p:cNvPr id="5" name="Fusion equation"/>
              <p:cNvSpPr txBox="1"/>
              <p:nvPr/>
            </p:nvSpPr>
            <p:spPr>
              <a:xfrm>
                <a:off x="1051560" y="4059936"/>
                <a:ext cx="3931920" cy="457200"/>
              </a:xfrm>
              <a:prstGeom prst="rect">
                <a:avLst/>
              </a:prstGeom>
              <a:noFill/>
            </p:spPr>
            <p:txBody>
              <a:bodyPr wrap="square" lIns="0" rIns="0" tIns="0" bIns="0" anchor="ctr"/>
              <a:lstStyle/>
              <a:p>
                <a:pPr algn="ctr">
                  <a:spcAft>
                    <a:spcPts val="0"/>
                  </a:spcAft>
                  <a:buNone/>
                </a:pPr>
                <a:r>
                  <a:rPr sz="1800" b="0" i="0">
                    <a:solidFill>
                      <a:srgbClr val="1A1A1A"/>
                    </a:solidFill>
                    <a:latin typeface="Arial"/>
                  </a:rPr>
                  <a:t>p(y=1 | x) = σ(g_fuse(ℓv, ℓt, f))</a:t>
                </a:r>
              </a:p>
            </p:txBody>
          </p:sp>
        </mc:Fallback>
      </mc:AlternateContent>
      <p:sp>
        <p:nvSpPr>
          <p:cNvPr id="6" name="TextBox 5"/>
          <p:cNvSpPr txBox="1"/>
          <p:nvPr/>
        </p:nvSpPr>
        <p:spPr>
          <a:xfrm>
            <a:off x="5029200" y="4059936"/>
            <a:ext cx="3063240" cy="457200"/>
          </a:xfrm>
          <a:prstGeom prst="rect">
            <a:avLst/>
          </a:prstGeom>
          <a:noFill/>
        </p:spPr>
        <p:txBody>
          <a:bodyPr wrap="square" lIns="0" rIns="0" tIns="0" bIns="0" anchor="ctr"/>
          <a:lstStyle/>
          <a:p>
            <a:pPr algn="l">
              <a:spcAft>
                <a:spcPts val="0"/>
              </a:spcAft>
              <a:buNone/>
            </a:pPr>
            <a:r>
              <a:rPr sz="1100" b="0" i="1">
                <a:solidFill>
                  <a:srgbClr val="595959"/>
                </a:solidFill>
                <a:latin typeface="Arial"/>
              </a:rPr>
              <a:t>ℓ</a:t>
            </a:r>
            <a:r>
              <a:rPr sz="1100" b="0" i="1" baseline="-25000">
                <a:solidFill>
                  <a:srgbClr val="595959"/>
                </a:solidFill>
                <a:latin typeface="Arial"/>
              </a:rPr>
              <a:t>v</a:t>
            </a:r>
            <a:r>
              <a:rPr sz="1100" b="0" i="0">
                <a:solidFill>
                  <a:srgbClr val="595959"/>
                </a:solidFill>
                <a:latin typeface="Arial"/>
              </a:rPr>
              <a:t> visual logit,  </a:t>
            </a:r>
            <a:r>
              <a:rPr sz="1100" b="0" i="1">
                <a:solidFill>
                  <a:srgbClr val="595959"/>
                </a:solidFill>
                <a:latin typeface="Arial"/>
              </a:rPr>
              <a:t>ℓ</a:t>
            </a:r>
            <a:r>
              <a:rPr sz="1100" b="0" i="1" baseline="-25000">
                <a:solidFill>
                  <a:srgbClr val="595959"/>
                </a:solidFill>
                <a:latin typeface="Arial"/>
              </a:rPr>
              <a:t>t</a:t>
            </a:r>
            <a:r>
              <a:rPr sz="1100" b="0" i="0">
                <a:solidFill>
                  <a:srgbClr val="595959"/>
                </a:solidFill>
                <a:latin typeface="Arial"/>
              </a:rPr>
              <a:t> text logit,  </a:t>
            </a:r>
            <a:r>
              <a:rPr sz="1100" b="0" i="1">
                <a:solidFill>
                  <a:srgbClr val="595959"/>
                </a:solidFill>
                <a:latin typeface="Arial"/>
              </a:rPr>
              <a:t>f</a:t>
            </a:r>
            <a:r>
              <a:rPr sz="1100" b="0" i="0">
                <a:solidFill>
                  <a:srgbClr val="595959"/>
                </a:solidFill>
                <a:latin typeface="Arial"/>
              </a:rPr>
              <a:t> decode flag</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Visual branch: two-phase training</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Learns QR patterns from the image itself, with no decoding</a:t>
            </a:r>
          </a:p>
        </p:txBody>
      </p:sp>
      <p:sp>
        <p:nvSpPr>
          <p:cNvPr id="4" name="Rounded Rectangle 3"/>
          <p:cNvSpPr/>
          <p:nvPr/>
        </p:nvSpPr>
        <p:spPr>
          <a:xfrm>
            <a:off x="429768" y="1170432"/>
            <a:ext cx="1600200" cy="16002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109728"/>
          <a:lstStyle/>
          <a:p>
            <a:pPr algn="l">
              <a:spcAft>
                <a:spcPts val="600"/>
              </a:spcAft>
              <a:buNone/>
            </a:pPr>
            <a:r>
              <a:rPr sz="1300" b="1" i="0">
                <a:solidFill>
                  <a:srgbClr val="1A1A1A"/>
                </a:solidFill>
                <a:latin typeface="Arial"/>
              </a:rPr>
              <a:t>Input</a:t>
            </a:r>
          </a:p>
          <a:p>
            <a:pPr algn="l">
              <a:spcAft>
                <a:spcPts val="0"/>
              </a:spcAft>
              <a:buNone/>
            </a:pPr>
            <a:r>
              <a:rPr sz="1200" b="0" i="0">
                <a:solidFill>
                  <a:srgbClr val="595959"/>
                </a:solidFill>
                <a:latin typeface="Arial"/>
              </a:rPr>
              <a:t>Grayscale QR image, 224 × 224</a:t>
            </a:r>
          </a:p>
        </p:txBody>
      </p:sp>
      <p:sp>
        <p:nvSpPr>
          <p:cNvPr id="5" name="Flow arrow"/>
          <p:cNvSpPr/>
          <p:nvPr/>
        </p:nvSpPr>
        <p:spPr>
          <a:xfrm>
            <a:off x="2057400" y="1856232"/>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95144" y="1170432"/>
            <a:ext cx="2148840" cy="160020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109728"/>
          <a:lstStyle/>
          <a:p>
            <a:pPr algn="l">
              <a:spcAft>
                <a:spcPts val="600"/>
              </a:spcAft>
              <a:buNone/>
            </a:pPr>
            <a:r>
              <a:rPr sz="1300" b="1" i="0">
                <a:solidFill>
                  <a:srgbClr val="00BFFF"/>
                </a:solidFill>
                <a:latin typeface="Arial"/>
              </a:rPr>
              <a:t>Phase 1: Siamese pretraining</a:t>
            </a:r>
          </a:p>
          <a:p>
            <a:pPr algn="l">
              <a:spcAft>
                <a:spcPts val="0"/>
              </a:spcAft>
              <a:buNone/>
            </a:pPr>
            <a:r>
              <a:rPr sz="1200" b="0" i="0">
                <a:solidFill>
                  <a:srgbClr val="595959"/>
                </a:solidFill>
                <a:latin typeface="Arial"/>
              </a:rPr>
              <a:t>Contrastive loss: same class → close, different class → far</a:t>
            </a:r>
          </a:p>
        </p:txBody>
      </p:sp>
      <p:sp>
        <p:nvSpPr>
          <p:cNvPr id="7" name="Flow arrow"/>
          <p:cNvSpPr/>
          <p:nvPr/>
        </p:nvSpPr>
        <p:spPr>
          <a:xfrm>
            <a:off x="4471416" y="1856232"/>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709160" y="1170432"/>
            <a:ext cx="2148840" cy="160020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109728"/>
          <a:lstStyle/>
          <a:p>
            <a:pPr algn="l">
              <a:spcAft>
                <a:spcPts val="600"/>
              </a:spcAft>
              <a:buNone/>
            </a:pPr>
            <a:r>
              <a:rPr sz="1300" b="1" i="0">
                <a:solidFill>
                  <a:srgbClr val="00BFFF"/>
                </a:solidFill>
                <a:latin typeface="Arial"/>
              </a:rPr>
              <a:t>Phase 2: Fine-tuning</a:t>
            </a:r>
          </a:p>
          <a:p>
            <a:pPr algn="l">
              <a:spcAft>
                <a:spcPts val="0"/>
              </a:spcAft>
              <a:buNone/>
            </a:pPr>
            <a:r>
              <a:rPr sz="1200" b="0" i="0">
                <a:solidFill>
                  <a:srgbClr val="595959"/>
                </a:solidFill>
                <a:latin typeface="Arial"/>
              </a:rPr>
              <a:t>Focal loss: more weight on hard examples. Best model at epoch 8</a:t>
            </a:r>
          </a:p>
        </p:txBody>
      </p:sp>
      <p:sp>
        <p:nvSpPr>
          <p:cNvPr id="9" name="Flow arrow"/>
          <p:cNvSpPr/>
          <p:nvPr/>
        </p:nvSpPr>
        <p:spPr>
          <a:xfrm>
            <a:off x="6885432" y="1856232"/>
            <a:ext cx="219456" cy="274320"/>
          </a:xfrm>
          <a:prstGeom prst="rightArrow">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23176" y="1170432"/>
            <a:ext cx="1335024" cy="16002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09728" bIns="109728"/>
          <a:lstStyle/>
          <a:p>
            <a:pPr algn="l">
              <a:spcAft>
                <a:spcPts val="600"/>
              </a:spcAft>
              <a:buNone/>
            </a:pPr>
            <a:r>
              <a:rPr sz="1300" b="1" i="0">
                <a:solidFill>
                  <a:srgbClr val="1A1A1A"/>
                </a:solidFill>
                <a:latin typeface="Arial"/>
              </a:rPr>
              <a:t>Output</a:t>
            </a:r>
          </a:p>
          <a:p>
            <a:pPr algn="l">
              <a:spcAft>
                <a:spcPts val="0"/>
              </a:spcAft>
              <a:buNone/>
            </a:pPr>
            <a:r>
              <a:rPr sz="1200" b="0" i="0">
                <a:solidFill>
                  <a:srgbClr val="595959"/>
                </a:solidFill>
                <a:latin typeface="Arial"/>
              </a:rPr>
              <a:t>Visual logit ℓ</a:t>
            </a:r>
            <a:r>
              <a:rPr sz="1200" b="0" i="0" baseline="-25000">
                <a:solidFill>
                  <a:srgbClr val="595959"/>
                </a:solidFill>
                <a:latin typeface="Arial"/>
              </a:rPr>
              <a:t>v</a:t>
            </a:r>
          </a:p>
        </p:txBody>
      </p:sp>
      <p:sp>
        <p:nvSpPr>
          <p:cNvPr id="11" name="Rounded Rectangle 10"/>
          <p:cNvSpPr/>
          <p:nvPr/>
        </p:nvSpPr>
        <p:spPr>
          <a:xfrm>
            <a:off x="429768" y="3035808"/>
            <a:ext cx="25603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000" b="1" i="0">
                <a:solidFill>
                  <a:srgbClr val="00BFFF"/>
                </a:solidFill>
                <a:latin typeface="Arial"/>
              </a:rPr>
              <a:t>MobileNetV2</a:t>
            </a:r>
          </a:p>
          <a:p>
            <a:pPr algn="ctr">
              <a:spcAft>
                <a:spcPts val="0"/>
              </a:spcAft>
              <a:buNone/>
            </a:pPr>
            <a:r>
              <a:rPr sz="1100" b="0" i="0">
                <a:solidFill>
                  <a:srgbClr val="595959"/>
                </a:solidFill>
                <a:latin typeface="Arial"/>
              </a:rPr>
              <a:t>small, fast backbone (1 input channel)</a:t>
            </a:r>
          </a:p>
        </p:txBody>
      </p:sp>
      <p:sp>
        <p:nvSpPr>
          <p:cNvPr id="12" name="Rounded Rectangle 11"/>
          <p:cNvSpPr/>
          <p:nvPr/>
        </p:nvSpPr>
        <p:spPr>
          <a:xfrm>
            <a:off x="3163824" y="3035808"/>
            <a:ext cx="25603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3.08 M</a:t>
            </a:r>
          </a:p>
          <a:p>
            <a:pPr algn="ctr">
              <a:spcAft>
                <a:spcPts val="0"/>
              </a:spcAft>
              <a:buNone/>
            </a:pPr>
            <a:r>
              <a:rPr sz="1100" b="0" i="0">
                <a:solidFill>
                  <a:srgbClr val="595959"/>
                </a:solidFill>
                <a:latin typeface="Arial"/>
              </a:rPr>
              <a:t>parameters</a:t>
            </a:r>
          </a:p>
        </p:txBody>
      </p:sp>
      <p:sp>
        <p:nvSpPr>
          <p:cNvPr id="13" name="Rounded Rectangle 12"/>
          <p:cNvSpPr/>
          <p:nvPr/>
        </p:nvSpPr>
        <p:spPr>
          <a:xfrm>
            <a:off x="5897880" y="3035808"/>
            <a:ext cx="2560320" cy="109728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200" b="1" i="0">
                <a:solidFill>
                  <a:srgbClr val="00BFFF"/>
                </a:solidFill>
                <a:latin typeface="Arial"/>
              </a:rPr>
              <a:t>0.896 → 0.915</a:t>
            </a:r>
          </a:p>
          <a:p>
            <a:pPr algn="ctr">
              <a:spcAft>
                <a:spcPts val="0"/>
              </a:spcAft>
              <a:buNone/>
            </a:pPr>
            <a:r>
              <a:rPr sz="1100" b="0" i="0">
                <a:solidFill>
                  <a:srgbClr val="595959"/>
                </a:solidFill>
                <a:latin typeface="Arial"/>
              </a:rPr>
              <a:t>AUC with image flip + 2-model ensemble at test time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Text branch and fusion module</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Reads the URL offline, then learns how much to trust each branch</a:t>
            </a:r>
          </a:p>
        </p:txBody>
      </p:sp>
      <p:sp>
        <p:nvSpPr>
          <p:cNvPr id="4" name="Rounded Rectangle 3"/>
          <p:cNvSpPr/>
          <p:nvPr/>
        </p:nvSpPr>
        <p:spPr>
          <a:xfrm>
            <a:off x="429768" y="1143000"/>
            <a:ext cx="3922776"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600"/>
              </a:spcAft>
              <a:buNone/>
            </a:pPr>
            <a:r>
              <a:rPr sz="1400" b="1" i="0">
                <a:solidFill>
                  <a:srgbClr val="00BFFF"/>
                </a:solidFill>
                <a:latin typeface="Arial"/>
              </a:rPr>
              <a:t>Text branch (post-decode)</a:t>
            </a:r>
          </a:p>
          <a:p>
            <a:pPr algn="l" marL="155448" indent="-155448">
              <a:spcAft>
                <a:spcPts val="400"/>
              </a:spcAft>
              <a:buClr>
                <a:srgbClr val="00BFFF"/>
              </a:buClr>
              <a:buFont typeface="Arial"/>
              <a:buChar char="•"/>
            </a:pPr>
            <a:r>
              <a:rPr sz="1200" b="0" i="0">
                <a:solidFill>
                  <a:srgbClr val="1A1A1A"/>
                </a:solidFill>
                <a:latin typeface="Arial"/>
              </a:rPr>
              <a:t>pyzbar decodes the QR locally: no internet, and the link is never opened</a:t>
            </a:r>
          </a:p>
          <a:p>
            <a:pPr algn="l" marL="155448" indent="-155448">
              <a:spcAft>
                <a:spcPts val="400"/>
              </a:spcAft>
              <a:buClr>
                <a:srgbClr val="00BFFF"/>
              </a:buClr>
              <a:buFont typeface="Arial"/>
              <a:buChar char="•"/>
            </a:pPr>
            <a:r>
              <a:rPr sz="1200" b="0" i="0">
                <a:solidFill>
                  <a:srgbClr val="1A1A1A"/>
                </a:solidFill>
                <a:latin typeface="Arial"/>
              </a:rPr>
              <a:t>DistilBERT reads the URL</a:t>
            </a:r>
          </a:p>
          <a:p>
            <a:pPr algn="l" marL="155448" indent="-155448">
              <a:spcAft>
                <a:spcPts val="0"/>
              </a:spcAft>
              <a:buClr>
                <a:srgbClr val="00BFFF"/>
              </a:buClr>
              <a:buFont typeface="Arial"/>
              <a:buChar char="•"/>
            </a:pPr>
            <a:r>
              <a:rPr sz="1200" b="0" i="0">
                <a:solidFill>
                  <a:srgbClr val="1A1A1A"/>
                </a:solidFill>
                <a:latin typeface="Arial"/>
              </a:rPr>
              <a:t>If decoding fails: special &lt;UNDECODABLE&gt; token</a:t>
            </a:r>
          </a:p>
        </p:txBody>
      </p:sp>
      <p:sp>
        <p:nvSpPr>
          <p:cNvPr id="5" name="Rounded Rectangle 4"/>
          <p:cNvSpPr/>
          <p:nvPr/>
        </p:nvSpPr>
        <p:spPr>
          <a:xfrm>
            <a:off x="4535424" y="1143000"/>
            <a:ext cx="3922776"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600"/>
              </a:spcAft>
              <a:buNone/>
            </a:pPr>
            <a:r>
              <a:rPr sz="1400" b="1" i="0">
                <a:solidFill>
                  <a:srgbClr val="00BFFF"/>
                </a:solidFill>
                <a:latin typeface="Arial"/>
              </a:rPr>
              <a:t>Fusion module</a:t>
            </a:r>
          </a:p>
          <a:p>
            <a:pPr algn="l" marL="155448" indent="-155448">
              <a:spcAft>
                <a:spcPts val="400"/>
              </a:spcAft>
              <a:buClr>
                <a:srgbClr val="00BFFF"/>
              </a:buClr>
              <a:buFont typeface="Arial"/>
              <a:buChar char="•"/>
            </a:pPr>
            <a:r>
              <a:rPr sz="1200" b="0" i="0">
                <a:solidFill>
                  <a:srgbClr val="1A1A1A"/>
                </a:solidFill>
                <a:latin typeface="Arial"/>
              </a:rPr>
              <a:t>Tiny MLP: 3 inputs → 16 → 1</a:t>
            </a:r>
          </a:p>
          <a:p>
            <a:pPr algn="l" marL="155448" indent="-155448">
              <a:spcAft>
                <a:spcPts val="400"/>
              </a:spcAft>
              <a:buClr>
                <a:srgbClr val="00BFFF"/>
              </a:buClr>
              <a:buFont typeface="Arial"/>
              <a:buChar char="•"/>
            </a:pPr>
            <a:r>
              <a:rPr sz="1200" b="0" i="0">
                <a:solidFill>
                  <a:srgbClr val="1A1A1A"/>
                </a:solidFill>
                <a:latin typeface="Arial"/>
              </a:rPr>
              <a:t>Only 81 parameters</a:t>
            </a:r>
          </a:p>
          <a:p>
            <a:pPr algn="l" marL="155448" indent="-155448">
              <a:spcAft>
                <a:spcPts val="0"/>
              </a:spcAft>
              <a:buClr>
                <a:srgbClr val="00BFFF"/>
              </a:buClr>
              <a:buFont typeface="Arial"/>
              <a:buChar char="•"/>
            </a:pPr>
            <a:r>
              <a:rPr sz="1200" b="0" i="0">
                <a:solidFill>
                  <a:srgbClr val="1A1A1A"/>
                </a:solidFill>
                <a:latin typeface="Arial"/>
              </a:rPr>
              <a:t>Trains in under 1 minute on a CPU</a:t>
            </a:r>
          </a:p>
        </p:txBody>
      </p:sp>
      <p:sp>
        <p:nvSpPr>
          <p:cNvPr id="6" name="Rounded Rectangle 5"/>
          <p:cNvSpPr/>
          <p:nvPr/>
        </p:nvSpPr>
        <p:spPr>
          <a:xfrm>
            <a:off x="429768" y="3127248"/>
            <a:ext cx="3922776" cy="84124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200"/>
              </a:spcAft>
              <a:buNone/>
            </a:pPr>
            <a:r>
              <a:rPr sz="1300" b="1" i="0">
                <a:solidFill>
                  <a:srgbClr val="1A1A1A"/>
                </a:solidFill>
                <a:latin typeface="Arial"/>
              </a:rPr>
              <a:t>Decoding works (f = 0)</a:t>
            </a:r>
          </a:p>
          <a:p>
            <a:pPr algn="l">
              <a:spcAft>
                <a:spcPts val="0"/>
              </a:spcAft>
              <a:buNone/>
            </a:pPr>
            <a:r>
              <a:rPr sz="1300" b="1" i="0">
                <a:solidFill>
                  <a:srgbClr val="00BFFF"/>
                </a:solidFill>
                <a:latin typeface="Arial"/>
              </a:rPr>
              <a:t>→  Trust the text branch more</a:t>
            </a:r>
          </a:p>
        </p:txBody>
      </p:sp>
      <p:sp>
        <p:nvSpPr>
          <p:cNvPr id="7" name="Rounded Rectangle 6"/>
          <p:cNvSpPr/>
          <p:nvPr/>
        </p:nvSpPr>
        <p:spPr>
          <a:xfrm>
            <a:off x="4535424" y="3127248"/>
            <a:ext cx="3922776" cy="84124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200"/>
              </a:spcAft>
              <a:buNone/>
            </a:pPr>
            <a:r>
              <a:rPr sz="1300" b="1" i="0">
                <a:solidFill>
                  <a:srgbClr val="1A1A1A"/>
                </a:solidFill>
                <a:latin typeface="Arial"/>
              </a:rPr>
              <a:t>Decoding fails (f = 1)</a:t>
            </a:r>
          </a:p>
          <a:p>
            <a:pPr algn="l">
              <a:spcAft>
                <a:spcPts val="0"/>
              </a:spcAft>
              <a:buNone/>
            </a:pPr>
            <a:r>
              <a:rPr sz="1300" b="1" i="0">
                <a:solidFill>
                  <a:srgbClr val="00BFFF"/>
                </a:solidFill>
                <a:latin typeface="Arial"/>
              </a:rPr>
              <a:t>→  Trust the visual branch</a:t>
            </a:r>
          </a:p>
        </p:txBody>
      </p:sp>
      <p:sp>
        <p:nvSpPr>
          <p:cNvPr id="8" name="TextBox 7"/>
          <p:cNvSpPr txBox="1"/>
          <p:nvPr/>
        </p:nvSpPr>
        <p:spPr>
          <a:xfrm>
            <a:off x="429768" y="4069080"/>
            <a:ext cx="8028432" cy="274320"/>
          </a:xfrm>
          <a:prstGeom prst="rect">
            <a:avLst/>
          </a:prstGeom>
          <a:noFill/>
        </p:spPr>
        <p:txBody>
          <a:bodyPr wrap="square" lIns="0" rIns="0" tIns="0" bIns="0" anchor="t"/>
          <a:lstStyle/>
          <a:p>
            <a:pPr algn="ctr">
              <a:spcAft>
                <a:spcPts val="300"/>
              </a:spcAft>
              <a:buNone/>
            </a:pPr>
            <a:r>
              <a:rPr sz="1200" b="0" i="1">
                <a:solidFill>
                  <a:srgbClr val="595959"/>
                </a:solidFill>
                <a:latin typeface="Arial"/>
              </a:rPr>
              <a:t>The model learns this by itself, with no hand-written rules.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Experimentation</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Two datasets, one joint benchmark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Datasets</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Two very different datasets, on purpose</a:t>
            </a:r>
          </a:p>
        </p:txBody>
      </p:sp>
      <p:graphicFrame>
        <p:nvGraphicFramePr>
          <p:cNvPr id="4" name="Table 3"/>
          <p:cNvGraphicFramePr>
            <a:graphicFrameLocks noGrp="1"/>
          </p:cNvGraphicFramePr>
          <p:nvPr/>
        </p:nvGraphicFramePr>
        <p:xfrm>
          <a:off x="429768" y="1143000"/>
          <a:ext cx="5120640" cy="2194560"/>
        </p:xfrm>
        <a:graphic>
          <a:graphicData uri="http://schemas.openxmlformats.org/drawingml/2006/table">
            <a:tbl>
              <a:tblPr firstRow="1">
                <a:tableStyleId>{5C22544A-7EE6-4342-B048-85BDC9FD1C3A}</a:tableStyleId>
              </a:tblPr>
              <a:tblGrid>
                <a:gridCol w="1737360"/>
                <a:gridCol w="1600200"/>
                <a:gridCol w="1783080"/>
              </a:tblGrid>
              <a:tr h="365760">
                <a:tc>
                  <a:txBody>
                    <a:bodyPr wrap="square"/>
                    <a:lstStyle/>
                    <a:p>
                      <a:pPr algn="l">
                        <a:spcAft>
                          <a:spcPts val="0"/>
                        </a:spcAft>
                        <a:buNone/>
                      </a:pPr>
                      <a:r>
                        <a:rPr sz="1200" b="1" i="0">
                          <a:solidFill>
                            <a:srgbClr val="FFFFFF"/>
                          </a:solidFill>
                          <a:latin typeface="Arial"/>
                        </a:rPr>
                        <a:t/>
                      </a:r>
                    </a:p>
                  </a:txBody>
                  <a:tcPr marL="73152" marR="73152" marT="27432" marB="27432" anchor="ctr">
                    <a:solidFill>
                      <a:srgbClr val="1A1A2E"/>
                    </a:solidFill>
                  </a:tcPr>
                </a:tc>
                <a:tc>
                  <a:txBody>
                    <a:bodyPr wrap="square"/>
                    <a:lstStyle/>
                    <a:p>
                      <a:pPr algn="ctr">
                        <a:spcAft>
                          <a:spcPts val="0"/>
                        </a:spcAft>
                        <a:buNone/>
                      </a:pPr>
                      <a:r>
                        <a:rPr sz="1200" b="1" i="0">
                          <a:solidFill>
                            <a:srgbClr val="FFFFFF"/>
                          </a:solidFill>
                          <a:latin typeface="Arial"/>
                        </a:rPr>
                        <a:t>Trad et al. 2025</a:t>
                      </a:r>
                    </a:p>
                  </a:txBody>
                  <a:tcPr marL="73152" marR="73152" marT="27432" marB="27432" anchor="ctr">
                    <a:solidFill>
                      <a:srgbClr val="1A1A2E"/>
                    </a:solidFill>
                  </a:tcPr>
                </a:tc>
                <a:tc>
                  <a:txBody>
                    <a:bodyPr wrap="square"/>
                    <a:lstStyle/>
                    <a:p>
                      <a:pPr algn="ctr">
                        <a:spcAft>
                          <a:spcPts val="0"/>
                        </a:spcAft>
                        <a:buNone/>
                      </a:pPr>
                      <a:r>
                        <a:rPr sz="1200" b="1" i="0">
                          <a:solidFill>
                            <a:srgbClr val="FFFFFF"/>
                          </a:solidFill>
                          <a:latin typeface="Arial"/>
                        </a:rPr>
                        <a:t>CIC-Trap4Phish 2025</a:t>
                      </a:r>
                    </a:p>
                  </a:txBody>
                  <a:tcPr marL="73152" marR="73152" marT="27432" marB="27432" anchor="ctr">
                    <a:solidFill>
                      <a:srgbClr val="1A1A2E"/>
                    </a:solidFill>
                  </a:tcPr>
                </a:tc>
              </a:tr>
              <a:tr h="365760">
                <a:tc>
                  <a:txBody>
                    <a:bodyPr wrap="square"/>
                    <a:lstStyle/>
                    <a:p>
                      <a:pPr algn="l">
                        <a:spcAft>
                          <a:spcPts val="0"/>
                        </a:spcAft>
                        <a:buNone/>
                      </a:pPr>
                      <a:r>
                        <a:rPr sz="1200" b="0" i="0">
                          <a:solidFill>
                            <a:srgbClr val="1A1A1A"/>
                          </a:solidFill>
                          <a:latin typeface="Arial"/>
                        </a:rPr>
                        <a:t>Samples</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9,987</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1,005,738</a:t>
                      </a:r>
                    </a:p>
                  </a:txBody>
                  <a:tcPr marL="73152" marR="73152" marT="27432" marB="27432" anchor="ctr">
                    <a:solidFill>
                      <a:srgbClr val="FFFFFF"/>
                    </a:solidFill>
                  </a:tcPr>
                </a:tc>
              </a:tr>
              <a:tr h="365760">
                <a:tc>
                  <a:txBody>
                    <a:bodyPr wrap="square"/>
                    <a:lstStyle/>
                    <a:p>
                      <a:pPr algn="l">
                        <a:spcAft>
                          <a:spcPts val="0"/>
                        </a:spcAft>
                        <a:buNone/>
                      </a:pPr>
                      <a:r>
                        <a:rPr sz="1200" b="0" i="0">
                          <a:solidFill>
                            <a:srgbClr val="1A1A1A"/>
                          </a:solidFill>
                          <a:latin typeface="Arial"/>
                        </a:rPr>
                        <a:t>Source</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Generated, clean</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Real-world</a:t>
                      </a:r>
                    </a:p>
                  </a:txBody>
                  <a:tcPr marL="73152" marR="73152" marT="27432" marB="27432" anchor="ctr">
                    <a:solidFill>
                      <a:srgbClr val="F4F6F8"/>
                    </a:solidFill>
                  </a:tcPr>
                </a:tc>
              </a:tr>
              <a:tr h="365760">
                <a:tc>
                  <a:txBody>
                    <a:bodyPr wrap="square"/>
                    <a:lstStyle/>
                    <a:p>
                      <a:pPr algn="l">
                        <a:spcAft>
                          <a:spcPts val="0"/>
                        </a:spcAft>
                        <a:buNone/>
                      </a:pPr>
                      <a:r>
                        <a:rPr sz="1200" b="0" i="0">
                          <a:solidFill>
                            <a:srgbClr val="1A1A1A"/>
                          </a:solidFill>
                          <a:latin typeface="Arial"/>
                        </a:rPr>
                        <a:t>Image size</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69 × 69</a:t>
                      </a:r>
                    </a:p>
                  </a:txBody>
                  <a:tcPr marL="73152" marR="73152" marT="27432" marB="27432" anchor="ctr">
                    <a:solidFill>
                      <a:srgbClr val="FFFFFF"/>
                    </a:solidFill>
                  </a:tcPr>
                </a:tc>
                <a:tc>
                  <a:txBody>
                    <a:bodyPr wrap="square"/>
                    <a:lstStyle/>
                    <a:p>
                      <a:pPr algn="ctr">
                        <a:spcAft>
                          <a:spcPts val="0"/>
                        </a:spcAft>
                        <a:buNone/>
                      </a:pPr>
                      <a:r>
                        <a:rPr sz="1200" b="0" i="0">
                          <a:solidFill>
                            <a:srgbClr val="1A1A1A"/>
                          </a:solidFill>
                          <a:latin typeface="Arial"/>
                        </a:rPr>
                        <a:t>114 to 582 px</a:t>
                      </a:r>
                    </a:p>
                  </a:txBody>
                  <a:tcPr marL="73152" marR="73152" marT="27432" marB="27432" anchor="ctr">
                    <a:solidFill>
                      <a:srgbClr val="FFFFFF"/>
                    </a:solidFill>
                  </a:tcPr>
                </a:tc>
              </a:tr>
              <a:tr h="365760">
                <a:tc>
                  <a:txBody>
                    <a:bodyPr wrap="square"/>
                    <a:lstStyle/>
                    <a:p>
                      <a:pPr algn="l">
                        <a:spcAft>
                          <a:spcPts val="0"/>
                        </a:spcAft>
                        <a:buNone/>
                      </a:pPr>
                      <a:r>
                        <a:rPr sz="1200" b="0" i="0">
                          <a:solidFill>
                            <a:srgbClr val="1A1A1A"/>
                          </a:solidFill>
                          <a:latin typeface="Arial"/>
                        </a:rPr>
                        <a:t>QR versions</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V13</a:t>
                      </a:r>
                    </a:p>
                  </a:txBody>
                  <a:tcPr marL="73152" marR="73152" marT="27432" marB="27432" anchor="ctr">
                    <a:solidFill>
                      <a:srgbClr val="F4F6F8"/>
                    </a:solidFill>
                  </a:tcPr>
                </a:tc>
                <a:tc>
                  <a:txBody>
                    <a:bodyPr wrap="square"/>
                    <a:lstStyle/>
                    <a:p>
                      <a:pPr algn="ctr">
                        <a:spcAft>
                          <a:spcPts val="0"/>
                        </a:spcAft>
                        <a:buNone/>
                      </a:pPr>
                      <a:r>
                        <a:rPr sz="1200" b="0" i="0">
                          <a:solidFill>
                            <a:srgbClr val="1A1A1A"/>
                          </a:solidFill>
                          <a:latin typeface="Arial"/>
                        </a:rPr>
                        <a:t>V5 to V30</a:t>
                      </a:r>
                    </a:p>
                  </a:txBody>
                  <a:tcPr marL="73152" marR="73152" marT="27432" marB="27432" anchor="ctr">
                    <a:solidFill>
                      <a:srgbClr val="F4F6F8"/>
                    </a:solidFill>
                  </a:tcPr>
                </a:tc>
              </a:tr>
              <a:tr h="365760">
                <a:tc>
                  <a:txBody>
                    <a:bodyPr wrap="square"/>
                    <a:lstStyle/>
                    <a:p>
                      <a:pPr algn="l">
                        <a:spcAft>
                          <a:spcPts val="0"/>
                        </a:spcAft>
                        <a:buNone/>
                      </a:pPr>
                      <a:r>
                        <a:rPr sz="1200" b="1" i="0">
                          <a:solidFill>
                            <a:srgbClr val="0090C8"/>
                          </a:solidFill>
                          <a:latin typeface="Arial"/>
                        </a:rPr>
                        <a:t>Decoded offline</a:t>
                      </a:r>
                    </a:p>
                  </a:txBody>
                  <a:tcPr marL="73152" marR="73152" marT="27432" marB="27432" anchor="ctr">
                    <a:solidFill>
                      <a:srgbClr val="EAF7FD"/>
                    </a:solidFill>
                  </a:tcPr>
                </a:tc>
                <a:tc>
                  <a:txBody>
                    <a:bodyPr wrap="square"/>
                    <a:lstStyle/>
                    <a:p>
                      <a:pPr algn="ctr">
                        <a:spcAft>
                          <a:spcPts val="0"/>
                        </a:spcAft>
                        <a:buNone/>
                      </a:pPr>
                      <a:r>
                        <a:rPr sz="1200" b="1" i="0">
                          <a:solidFill>
                            <a:srgbClr val="0090C8"/>
                          </a:solidFill>
                          <a:latin typeface="Arial"/>
                        </a:rPr>
                        <a:t>100%</a:t>
                      </a:r>
                    </a:p>
                  </a:txBody>
                  <a:tcPr marL="73152" marR="73152" marT="27432" marB="27432" anchor="ctr">
                    <a:solidFill>
                      <a:srgbClr val="EAF7FD"/>
                    </a:solidFill>
                  </a:tcPr>
                </a:tc>
                <a:tc>
                  <a:txBody>
                    <a:bodyPr wrap="square"/>
                    <a:lstStyle/>
                    <a:p>
                      <a:pPr algn="ctr">
                        <a:spcAft>
                          <a:spcPts val="0"/>
                        </a:spcAft>
                        <a:buNone/>
                      </a:pPr>
                      <a:r>
                        <a:rPr sz="1200" b="1" i="0">
                          <a:solidFill>
                            <a:srgbClr val="0090C8"/>
                          </a:solidFill>
                          <a:latin typeface="Arial"/>
                        </a:rPr>
                        <a:t>95.7%</a:t>
                      </a:r>
                    </a:p>
                  </a:txBody>
                  <a:tcPr marL="73152" marR="73152" marT="27432" marB="27432" anchor="ctr">
                    <a:solidFill>
                      <a:srgbClr val="EAF7FD"/>
                    </a:solidFill>
                  </a:tcPr>
                </a:tc>
              </a:tr>
            </a:tbl>
          </a:graphicData>
        </a:graphic>
      </p:graphicFrame>
      <p:sp>
        <p:nvSpPr>
          <p:cNvPr id="5" name="Rounded Rectangle 4"/>
          <p:cNvSpPr/>
          <p:nvPr/>
        </p:nvSpPr>
        <p:spPr>
          <a:xfrm>
            <a:off x="5733288" y="1143000"/>
            <a:ext cx="2724912" cy="219456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ctr">
              <a:spcAft>
                <a:spcPts val="200"/>
              </a:spcAft>
              <a:buNone/>
            </a:pPr>
            <a:r>
              <a:rPr sz="1400" b="1" i="0">
                <a:solidFill>
                  <a:srgbClr val="1A1A1A"/>
                </a:solidFill>
                <a:latin typeface="Arial"/>
              </a:rPr>
              <a:t>Joint benchmark</a:t>
            </a:r>
          </a:p>
          <a:p>
            <a:pPr algn="ctr">
              <a:spcAft>
                <a:spcPts val="0"/>
              </a:spcAft>
              <a:buNone/>
            </a:pPr>
            <a:r>
              <a:rPr sz="3000" b="1" i="0">
                <a:solidFill>
                  <a:srgbClr val="00BFFF"/>
                </a:solidFill>
                <a:latin typeface="Arial"/>
              </a:rPr>
              <a:t>21,998</a:t>
            </a:r>
          </a:p>
          <a:p>
            <a:pPr algn="ctr">
              <a:spcAft>
                <a:spcPts val="800"/>
              </a:spcAft>
              <a:buNone/>
            </a:pPr>
            <a:r>
              <a:rPr sz="1200" b="0" i="0">
                <a:solidFill>
                  <a:srgbClr val="595959"/>
                </a:solidFill>
                <a:latin typeface="Arial"/>
              </a:rPr>
              <a:t>test samples</a:t>
            </a:r>
          </a:p>
          <a:p>
            <a:pPr algn="l" marL="155448" indent="-155448">
              <a:spcAft>
                <a:spcPts val="200"/>
              </a:spcAft>
              <a:buClr>
                <a:srgbClr val="00BFFF"/>
              </a:buClr>
              <a:buFont typeface="Arial"/>
              <a:buChar char="•"/>
            </a:pPr>
            <a:r>
              <a:rPr sz="1100" b="0" i="0">
                <a:solidFill>
                  <a:srgbClr val="1A1A1A"/>
                </a:solidFill>
                <a:latin typeface="Arial"/>
              </a:rPr>
              <a:t>50,000 per class from CIC</a:t>
            </a:r>
          </a:p>
          <a:p>
            <a:pPr algn="l" marL="155448" indent="-155448">
              <a:spcAft>
                <a:spcPts val="200"/>
              </a:spcAft>
              <a:buClr>
                <a:srgbClr val="00BFFF"/>
              </a:buClr>
              <a:buFont typeface="Arial"/>
              <a:buChar char="•"/>
            </a:pPr>
            <a:r>
              <a:rPr sz="1100" b="0" i="0">
                <a:solidFill>
                  <a:srgbClr val="1A1A1A"/>
                </a:solidFill>
                <a:latin typeface="Arial"/>
              </a:rPr>
              <a:t>80/20 split on each dataset</a:t>
            </a:r>
          </a:p>
          <a:p>
            <a:pPr algn="l" marL="155448" indent="-155448">
              <a:spcAft>
                <a:spcPts val="0"/>
              </a:spcAft>
              <a:buClr>
                <a:srgbClr val="00BFFF"/>
              </a:buClr>
              <a:buFont typeface="Arial"/>
              <a:buChar char="•"/>
            </a:pPr>
            <a:r>
              <a:rPr sz="1100" b="0" i="0">
                <a:solidFill>
                  <a:srgbClr val="1A1A1A"/>
                </a:solidFill>
                <a:latin typeface="Arial"/>
              </a:rPr>
              <a:t>Train on both training sets</a:t>
            </a:r>
          </a:p>
        </p:txBody>
      </p:sp>
      <p:sp>
        <p:nvSpPr>
          <p:cNvPr id="6" name="Rounded Rectangle 5"/>
          <p:cNvSpPr/>
          <p:nvPr/>
        </p:nvSpPr>
        <p:spPr>
          <a:xfrm>
            <a:off x="429768" y="3566160"/>
            <a:ext cx="8028432" cy="68580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300" b="0" i="0">
                <a:solidFill>
                  <a:srgbClr val="1A1A1A"/>
                </a:solidFill>
                <a:latin typeface="Arial"/>
              </a:rPr>
              <a:t>The 4.3% of CIC that cannot be decoded is not noise to remove. </a:t>
            </a:r>
            <a:r>
              <a:rPr sz="1300" b="1" i="0">
                <a:solidFill>
                  <a:srgbClr val="1A1A1A"/>
                </a:solidFill>
                <a:latin typeface="Arial"/>
              </a:rPr>
              <a:t>It is exactly where the visual branch is the only signal.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Results</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Six experiments, one benchmark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Experiment 1: the visual fallback</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How good is Q-Shield when the QR code cannot be decoded?</a:t>
            </a:r>
          </a:p>
        </p:txBody>
      </p:sp>
      <p:graphicFrame>
        <p:nvGraphicFramePr>
          <p:cNvPr id="4" name="AUC chart"/>
          <p:cNvGraphicFramePr>
            <a:graphicFrameLocks noGrp="1"/>
          </p:cNvGraphicFramePr>
          <p:nvPr/>
        </p:nvGraphicFramePr>
        <p:xfrm>
          <a:off x="429768" y="1097280"/>
          <a:ext cx="4892040" cy="3108960"/>
        </p:xfrm>
        <a:graphic>
          <a:graphicData uri="http://schemas.openxmlformats.org/drawingml/2006/chart">
            <c:chart xmlns:c="http://schemas.openxmlformats.org/drawingml/2006/chart" r:id="rId2"/>
          </a:graphicData>
        </a:graphic>
      </p:graphicFrame>
      <p:sp>
        <p:nvSpPr>
          <p:cNvPr id="5" name="Rounded Rectangle 4"/>
          <p:cNvSpPr/>
          <p:nvPr/>
        </p:nvSpPr>
        <p:spPr>
          <a:xfrm>
            <a:off x="5532120" y="1143000"/>
            <a:ext cx="2926080"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200" b="1" i="0">
                <a:solidFill>
                  <a:srgbClr val="00BFFF"/>
                </a:solidFill>
                <a:latin typeface="Arial"/>
              </a:rPr>
              <a:t>+0.10 AUC</a:t>
            </a:r>
          </a:p>
          <a:p>
            <a:pPr algn="ctr">
              <a:spcAft>
                <a:spcPts val="0"/>
              </a:spcAft>
              <a:buNone/>
            </a:pPr>
            <a:r>
              <a:rPr sz="1100" b="0" i="0">
                <a:solidFill>
                  <a:srgbClr val="595959"/>
                </a:solidFill>
                <a:latin typeface="Arial"/>
              </a:rPr>
              <a:t>over Random Forest and XGBoost</a:t>
            </a:r>
          </a:p>
        </p:txBody>
      </p:sp>
      <p:sp>
        <p:nvSpPr>
          <p:cNvPr id="6" name="Rounded Rectangle 5"/>
          <p:cNvSpPr/>
          <p:nvPr/>
        </p:nvSpPr>
        <p:spPr>
          <a:xfrm>
            <a:off x="5532120" y="2240280"/>
            <a:ext cx="2926080"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000" b="1" i="0">
                <a:solidFill>
                  <a:srgbClr val="00BFFF"/>
                </a:solidFill>
                <a:latin typeface="Arial"/>
              </a:rPr>
              <a:t>≈ previous best</a:t>
            </a:r>
          </a:p>
          <a:p>
            <a:pPr algn="ctr">
              <a:spcAft>
                <a:spcPts val="0"/>
              </a:spcAft>
              <a:buNone/>
            </a:pPr>
            <a:r>
              <a:rPr sz="1100" b="0" i="0">
                <a:solidFill>
                  <a:srgbClr val="595959"/>
                </a:solidFill>
                <a:latin typeface="Arial"/>
              </a:rPr>
              <a:t>matches Trad et al. (0.913) on a benchmark 11× larger</a:t>
            </a:r>
          </a:p>
        </p:txBody>
      </p:sp>
      <p:sp>
        <p:nvSpPr>
          <p:cNvPr id="7" name="Rounded Rectangle 6"/>
          <p:cNvSpPr/>
          <p:nvPr/>
        </p:nvSpPr>
        <p:spPr>
          <a:xfrm>
            <a:off x="5532120" y="3337560"/>
            <a:ext cx="2926080" cy="86868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0"/>
              </a:spcAft>
              <a:buNone/>
            </a:pPr>
            <a:r>
              <a:rPr sz="1200" b="1" i="0">
                <a:solidFill>
                  <a:srgbClr val="1A1A1A"/>
                </a:solidFill>
                <a:latin typeface="Arial"/>
              </a:rPr>
              <a:t>This is the floor of the system: what it still does without the URL.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Experiment 2: multimodal fusion</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Main result: image + URL together work best</a:t>
            </a:r>
          </a:p>
        </p:txBody>
      </p:sp>
      <p:graphicFrame>
        <p:nvGraphicFramePr>
          <p:cNvPr id="4" name="FNR chart"/>
          <p:cNvGraphicFramePr>
            <a:graphicFrameLocks noGrp="1"/>
          </p:cNvGraphicFramePr>
          <p:nvPr/>
        </p:nvGraphicFramePr>
        <p:xfrm>
          <a:off x="429768" y="1097280"/>
          <a:ext cx="4160520" cy="2377440"/>
        </p:xfrm>
        <a:graphic>
          <a:graphicData uri="http://schemas.openxmlformats.org/drawingml/2006/chart">
            <c:chart xmlns:c="http://schemas.openxmlformats.org/drawingml/2006/chart" r:id="rId2"/>
          </a:graphicData>
        </a:graphic>
      </p:graphicFrame>
      <p:sp>
        <p:nvSpPr>
          <p:cNvPr id="5" name="Rounded Rectangle 4"/>
          <p:cNvSpPr/>
          <p:nvPr/>
        </p:nvSpPr>
        <p:spPr>
          <a:xfrm>
            <a:off x="4800600" y="1143000"/>
            <a:ext cx="1783080"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0.9749</a:t>
            </a:r>
          </a:p>
          <a:p>
            <a:pPr algn="ctr">
              <a:spcAft>
                <a:spcPts val="0"/>
              </a:spcAft>
              <a:buNone/>
            </a:pPr>
            <a:r>
              <a:rPr sz="1100" b="0" i="0">
                <a:solidFill>
                  <a:srgbClr val="595959"/>
                </a:solidFill>
                <a:latin typeface="Arial"/>
              </a:rPr>
              <a:t>AUC</a:t>
            </a:r>
          </a:p>
        </p:txBody>
      </p:sp>
      <p:sp>
        <p:nvSpPr>
          <p:cNvPr id="6" name="Rounded Rectangle 5"/>
          <p:cNvSpPr/>
          <p:nvPr/>
        </p:nvSpPr>
        <p:spPr>
          <a:xfrm>
            <a:off x="6675120" y="1143000"/>
            <a:ext cx="1783080"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0.936</a:t>
            </a:r>
          </a:p>
          <a:p>
            <a:pPr algn="ctr">
              <a:spcAft>
                <a:spcPts val="0"/>
              </a:spcAft>
              <a:buNone/>
            </a:pPr>
            <a:r>
              <a:rPr sz="1100" b="0" i="0">
                <a:solidFill>
                  <a:srgbClr val="595959"/>
                </a:solidFill>
                <a:latin typeface="Arial"/>
              </a:rPr>
              <a:t>F1</a:t>
            </a:r>
          </a:p>
        </p:txBody>
      </p:sp>
      <p:sp>
        <p:nvSpPr>
          <p:cNvPr id="7" name="Rounded Rectangle 6"/>
          <p:cNvSpPr/>
          <p:nvPr/>
        </p:nvSpPr>
        <p:spPr>
          <a:xfrm>
            <a:off x="4800600" y="2359152"/>
            <a:ext cx="1783080" cy="1078992"/>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0.057</a:t>
            </a:r>
          </a:p>
          <a:p>
            <a:pPr algn="ctr">
              <a:spcAft>
                <a:spcPts val="0"/>
              </a:spcAft>
              <a:buNone/>
            </a:pPr>
            <a:r>
              <a:rPr sz="1100" b="0" i="0">
                <a:solidFill>
                  <a:srgbClr val="595959"/>
                </a:solidFill>
                <a:latin typeface="Arial"/>
              </a:rPr>
              <a:t>FNR</a:t>
            </a:r>
          </a:p>
        </p:txBody>
      </p:sp>
      <p:sp>
        <p:nvSpPr>
          <p:cNvPr id="8" name="Rounded Rectangle 7"/>
          <p:cNvSpPr/>
          <p:nvPr/>
        </p:nvSpPr>
        <p:spPr>
          <a:xfrm>
            <a:off x="6675120" y="2359152"/>
            <a:ext cx="1783080"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buNone/>
            </a:pPr>
            <a:r>
              <a:rPr sz="2400" b="1" i="0">
                <a:solidFill>
                  <a:srgbClr val="00BFFF"/>
                </a:solidFill>
                <a:latin typeface="Arial"/>
              </a:rPr>
              <a:t>3.5×</a:t>
            </a:r>
          </a:p>
          <a:p>
            <a:pPr algn="ctr">
              <a:spcAft>
                <a:spcPts val="0"/>
              </a:spcAft>
              <a:buNone/>
            </a:pPr>
            <a:r>
              <a:rPr sz="1000" b="0" i="0">
                <a:solidFill>
                  <a:srgbClr val="595959"/>
                </a:solidFill>
                <a:latin typeface="Arial"/>
              </a:rPr>
              <a:t>fewer missed attacks than visual only</a:t>
            </a:r>
          </a:p>
        </p:txBody>
      </p:sp>
      <p:sp>
        <p:nvSpPr>
          <p:cNvPr id="9" name="Rounded Rectangle 8"/>
          <p:cNvSpPr/>
          <p:nvPr/>
        </p:nvSpPr>
        <p:spPr>
          <a:xfrm>
            <a:off x="429768" y="3639312"/>
            <a:ext cx="8028432" cy="65836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300" b="0" i="0">
                <a:solidFill>
                  <a:srgbClr val="1A1A1A"/>
                </a:solidFill>
                <a:latin typeface="Arial"/>
              </a:rPr>
              <a:t>The gain over text-only is small on average (+0.016 AUC), </a:t>
            </a:r>
            <a:r>
              <a:rPr sz="1300" b="1" i="0">
                <a:solidFill>
                  <a:srgbClr val="1A1A1A"/>
                </a:solidFill>
                <a:latin typeface="Arial"/>
              </a:rPr>
              <a:t>but it is concentrated in the 4.3% of codes that cannot be decoded.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Experiment 3: ablation study</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Every design choice helps us miss fewer attacks</a:t>
            </a:r>
          </a:p>
        </p:txBody>
      </p:sp>
      <p:graphicFrame>
        <p:nvGraphicFramePr>
          <p:cNvPr id="4" name="Ablation chart"/>
          <p:cNvGraphicFramePr>
            <a:graphicFrameLocks noGrp="1"/>
          </p:cNvGraphicFramePr>
          <p:nvPr/>
        </p:nvGraphicFramePr>
        <p:xfrm>
          <a:off x="429768" y="1097280"/>
          <a:ext cx="4434840" cy="2697480"/>
        </p:xfrm>
        <a:graphic>
          <a:graphicData uri="http://schemas.openxmlformats.org/drawingml/2006/chart">
            <c:chart xmlns:c="http://schemas.openxmlformats.org/drawingml/2006/chart" r:id="rId2"/>
          </a:graphicData>
        </a:graphic>
      </p:graphicFrame>
      <p:sp>
        <p:nvSpPr>
          <p:cNvPr id="5" name="Rounded Rectangle 4"/>
          <p:cNvSpPr/>
          <p:nvPr/>
        </p:nvSpPr>
        <p:spPr>
          <a:xfrm>
            <a:off x="5074920" y="1188720"/>
            <a:ext cx="3383280" cy="11430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buNone/>
            </a:pPr>
            <a:r>
              <a:rPr sz="1300" b="1" i="0">
                <a:solidFill>
                  <a:srgbClr val="1A1A1A"/>
                </a:solidFill>
                <a:latin typeface="Arial"/>
              </a:rPr>
              <a:t>Without Siamese pretraining</a:t>
            </a:r>
          </a:p>
          <a:p>
            <a:pPr algn="l">
              <a:spcAft>
                <a:spcPts val="0"/>
              </a:spcAft>
              <a:buNone/>
            </a:pPr>
            <a:r>
              <a:rPr sz="1200" b="0" i="0">
                <a:solidFill>
                  <a:srgbClr val="595959"/>
                </a:solidFill>
                <a:latin typeface="Arial"/>
              </a:rPr>
              <a:t>AUC drops by about 0.02 and FNR goes from 0.202 to 0.267</a:t>
            </a:r>
          </a:p>
        </p:txBody>
      </p:sp>
      <p:sp>
        <p:nvSpPr>
          <p:cNvPr id="6" name="Rounded Rectangle 5"/>
          <p:cNvSpPr/>
          <p:nvPr/>
        </p:nvSpPr>
        <p:spPr>
          <a:xfrm>
            <a:off x="5074920" y="2514600"/>
            <a:ext cx="3383280" cy="114300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buNone/>
            </a:pPr>
            <a:r>
              <a:rPr sz="1300" b="1" i="0">
                <a:solidFill>
                  <a:srgbClr val="1A1A1A"/>
                </a:solidFill>
                <a:latin typeface="Arial"/>
              </a:rPr>
              <a:t>Without focal loss</a:t>
            </a:r>
          </a:p>
          <a:p>
            <a:pPr algn="l">
              <a:spcAft>
                <a:spcPts val="0"/>
              </a:spcAft>
              <a:buNone/>
            </a:pPr>
            <a:r>
              <a:rPr sz="1200" b="0" i="0">
                <a:solidFill>
                  <a:srgbClr val="595959"/>
                </a:solidFill>
                <a:latin typeface="Arial"/>
              </a:rPr>
              <a:t>AUC is almost the same, but FNR goes from 0.202 to 0.271</a:t>
            </a:r>
          </a:p>
        </p:txBody>
      </p:sp>
      <p:sp>
        <p:nvSpPr>
          <p:cNvPr id="7" name="Rounded Rectangle 6"/>
          <p:cNvSpPr/>
          <p:nvPr/>
        </p:nvSpPr>
        <p:spPr>
          <a:xfrm>
            <a:off x="429768" y="3886200"/>
            <a:ext cx="8028432" cy="45720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0"/>
              </a:spcAft>
              <a:buNone/>
            </a:pPr>
            <a:r>
              <a:rPr sz="1300" b="1" i="0">
                <a:solidFill>
                  <a:srgbClr val="1A1A1A"/>
                </a:solidFill>
                <a:latin typeface="Arial"/>
              </a:rPr>
              <a:t>When a missed attack is expensive, the loss function matters.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Experiment 4: cross-dataset generalization</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What happens when we train on one dataset and test on the other?</a:t>
            </a:r>
          </a:p>
        </p:txBody>
      </p:sp>
      <p:sp>
        <p:nvSpPr>
          <p:cNvPr id="4" name="Rounded Rectangle 3"/>
          <p:cNvSpPr/>
          <p:nvPr/>
        </p:nvSpPr>
        <p:spPr>
          <a:xfrm>
            <a:off x="429768" y="1188720"/>
            <a:ext cx="2560320" cy="20116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ctr">
              <a:spcAft>
                <a:spcPts val="600"/>
              </a:spcAft>
              <a:buNone/>
            </a:pPr>
            <a:r>
              <a:rPr sz="1300" b="1" i="0">
                <a:solidFill>
                  <a:srgbClr val="1A1A1A"/>
                </a:solidFill>
                <a:latin typeface="Arial"/>
              </a:rPr>
              <a:t>Train Trad → test CIC</a:t>
            </a:r>
          </a:p>
          <a:p>
            <a:pPr algn="ctr">
              <a:spcAft>
                <a:spcPts val="400"/>
              </a:spcAft>
              <a:buNone/>
            </a:pPr>
            <a:r>
              <a:rPr sz="4000" b="1" i="0">
                <a:solidFill>
                  <a:srgbClr val="C8463D"/>
                </a:solidFill>
                <a:latin typeface="Arial"/>
              </a:rPr>
              <a:t>0.52</a:t>
            </a:r>
          </a:p>
          <a:p>
            <a:pPr algn="ctr">
              <a:spcAft>
                <a:spcPts val="0"/>
              </a:spcAft>
              <a:buNone/>
            </a:pPr>
            <a:r>
              <a:rPr sz="1200" b="0" i="0">
                <a:solidFill>
                  <a:srgbClr val="595959"/>
                </a:solidFill>
                <a:latin typeface="Arial"/>
              </a:rPr>
              <a:t>AUC: almost random</a:t>
            </a:r>
          </a:p>
        </p:txBody>
      </p:sp>
      <p:sp>
        <p:nvSpPr>
          <p:cNvPr id="5" name="Rounded Rectangle 4"/>
          <p:cNvSpPr/>
          <p:nvPr/>
        </p:nvSpPr>
        <p:spPr>
          <a:xfrm>
            <a:off x="3163824" y="1188720"/>
            <a:ext cx="2560320" cy="20116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ctr">
              <a:spcAft>
                <a:spcPts val="600"/>
              </a:spcAft>
              <a:buNone/>
            </a:pPr>
            <a:r>
              <a:rPr sz="1300" b="1" i="0">
                <a:solidFill>
                  <a:srgbClr val="1A1A1A"/>
                </a:solidFill>
                <a:latin typeface="Arial"/>
              </a:rPr>
              <a:t>Train CIC → test Trad</a:t>
            </a:r>
          </a:p>
          <a:p>
            <a:pPr algn="ctr">
              <a:spcAft>
                <a:spcPts val="400"/>
              </a:spcAft>
              <a:buNone/>
            </a:pPr>
            <a:r>
              <a:rPr sz="4000" b="1" i="0">
                <a:solidFill>
                  <a:srgbClr val="C8463D"/>
                </a:solidFill>
                <a:latin typeface="Arial"/>
              </a:rPr>
              <a:t>0.72</a:t>
            </a:r>
          </a:p>
          <a:p>
            <a:pPr algn="ctr">
              <a:spcAft>
                <a:spcPts val="0"/>
              </a:spcAft>
              <a:buNone/>
            </a:pPr>
            <a:r>
              <a:rPr sz="1200" b="0" i="0">
                <a:solidFill>
                  <a:srgbClr val="595959"/>
                </a:solidFill>
                <a:latin typeface="Arial"/>
              </a:rPr>
              <a:t>AUC: says “phishing” for almost everything</a:t>
            </a:r>
          </a:p>
        </p:txBody>
      </p:sp>
      <p:sp>
        <p:nvSpPr>
          <p:cNvPr id="6" name="Rounded Rectangle 5"/>
          <p:cNvSpPr/>
          <p:nvPr/>
        </p:nvSpPr>
        <p:spPr>
          <a:xfrm>
            <a:off x="5897880" y="1188720"/>
            <a:ext cx="2560320" cy="201168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201168" bIns="201168"/>
          <a:lstStyle/>
          <a:p>
            <a:pPr algn="ctr">
              <a:spcAft>
                <a:spcPts val="600"/>
              </a:spcAft>
              <a:buNone/>
            </a:pPr>
            <a:r>
              <a:rPr sz="1300" b="1" i="0">
                <a:solidFill>
                  <a:srgbClr val="1A1A1A"/>
                </a:solidFill>
                <a:latin typeface="Arial"/>
              </a:rPr>
              <a:t>Train on both</a:t>
            </a:r>
          </a:p>
          <a:p>
            <a:pPr algn="ctr">
              <a:spcAft>
                <a:spcPts val="400"/>
              </a:spcAft>
              <a:buNone/>
            </a:pPr>
            <a:r>
              <a:rPr sz="4000" b="1" i="0">
                <a:solidFill>
                  <a:srgbClr val="00BFFF"/>
                </a:solidFill>
                <a:latin typeface="Arial"/>
              </a:rPr>
              <a:t>0.896</a:t>
            </a:r>
          </a:p>
          <a:p>
            <a:pPr algn="ctr">
              <a:spcAft>
                <a:spcPts val="0"/>
              </a:spcAft>
              <a:buNone/>
            </a:pPr>
            <a:r>
              <a:rPr sz="1200" b="0" i="0">
                <a:solidFill>
                  <a:srgbClr val="595959"/>
                </a:solidFill>
                <a:latin typeface="Arial"/>
              </a:rPr>
              <a:t>AUC: works on both datasets</a:t>
            </a:r>
          </a:p>
        </p:txBody>
      </p:sp>
      <p:sp>
        <p:nvSpPr>
          <p:cNvPr id="7" name="Rounded Rectangle 6"/>
          <p:cNvSpPr/>
          <p:nvPr/>
        </p:nvSpPr>
        <p:spPr>
          <a:xfrm>
            <a:off x="429768" y="3429000"/>
            <a:ext cx="8028432" cy="77724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200"/>
              </a:spcAft>
              <a:buNone/>
            </a:pPr>
            <a:r>
              <a:rPr sz="1400" b="1" i="0">
                <a:solidFill>
                  <a:srgbClr val="1A1A1A"/>
                </a:solidFill>
                <a:latin typeface="Arial"/>
              </a:rPr>
              <a:t>Training on one dataset is not just weaker. It breaks.</a:t>
            </a:r>
          </a:p>
          <a:p>
            <a:pPr algn="l">
              <a:spcAft>
                <a:spcPts val="0"/>
              </a:spcAft>
              <a:buNone/>
            </a:pPr>
            <a:r>
              <a:rPr sz="1300" b="0" i="0">
                <a:solidFill>
                  <a:srgbClr val="595959"/>
                </a:solidFill>
                <a:latin typeface="Arial"/>
              </a:rPr>
              <a:t>Mixed training is a requirement, not a tuning choice.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Experiment 5: operational trade-offs</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Choosing a threshold and a configuration for deployment</a:t>
            </a:r>
          </a:p>
        </p:txBody>
      </p:sp>
      <p:sp>
        <p:nvSpPr>
          <p:cNvPr id="4" name="TextBox 3"/>
          <p:cNvSpPr txBox="1"/>
          <p:nvPr/>
        </p:nvSpPr>
        <p:spPr>
          <a:xfrm>
            <a:off x="429768" y="1097280"/>
            <a:ext cx="3922776" cy="256032"/>
          </a:xfrm>
          <a:prstGeom prst="rect">
            <a:avLst/>
          </a:prstGeom>
          <a:noFill/>
        </p:spPr>
        <p:txBody>
          <a:bodyPr wrap="square" lIns="0" rIns="0" tIns="0" bIns="0" anchor="t"/>
          <a:lstStyle/>
          <a:p>
            <a:pPr algn="l">
              <a:spcAft>
                <a:spcPts val="300"/>
              </a:spcAft>
              <a:buNone/>
            </a:pPr>
            <a:r>
              <a:rPr sz="1200" b="1" i="0">
                <a:solidFill>
                  <a:srgbClr val="1A1A1A"/>
                </a:solidFill>
                <a:latin typeface="Arial"/>
              </a:rPr>
              <a:t>Threshold on the visual fallback</a:t>
            </a:r>
          </a:p>
        </p:txBody>
      </p:sp>
      <p:graphicFrame>
        <p:nvGraphicFramePr>
          <p:cNvPr id="5" name="Table 4"/>
          <p:cNvGraphicFramePr>
            <a:graphicFrameLocks noGrp="1"/>
          </p:cNvGraphicFramePr>
          <p:nvPr/>
        </p:nvGraphicFramePr>
        <p:xfrm>
          <a:off x="429768" y="1389888"/>
          <a:ext cx="3922776" cy="1316736"/>
        </p:xfrm>
        <a:graphic>
          <a:graphicData uri="http://schemas.openxmlformats.org/drawingml/2006/table">
            <a:tbl>
              <a:tblPr firstRow="1">
                <a:tableStyleId>{5C22544A-7EE6-4342-B048-85BDC9FD1C3A}</a:tableStyleId>
              </a:tblPr>
              <a:tblGrid>
                <a:gridCol w="1261872"/>
                <a:gridCol w="886968"/>
                <a:gridCol w="886968"/>
                <a:gridCol w="886968"/>
              </a:tblGrid>
              <a:tr h="329184">
                <a:tc>
                  <a:txBody>
                    <a:bodyPr wrap="square"/>
                    <a:lstStyle/>
                    <a:p>
                      <a:pPr algn="l">
                        <a:spcAft>
                          <a:spcPts val="0"/>
                        </a:spcAft>
                        <a:buNone/>
                      </a:pPr>
                      <a:r>
                        <a:rPr sz="1100" b="1" i="0">
                          <a:solidFill>
                            <a:srgbClr val="FFFFFF"/>
                          </a:solidFill>
                          <a:latin typeface="Arial"/>
                        </a:rPr>
                        <a:t>Threshold τ</a:t>
                      </a:r>
                    </a:p>
                  </a:txBody>
                  <a:tcPr marL="73152" marR="73152" marT="27432" marB="27432" anchor="ctr">
                    <a:solidFill>
                      <a:srgbClr val="1A1A2E"/>
                    </a:solidFill>
                  </a:tcPr>
                </a:tc>
                <a:tc>
                  <a:txBody>
                    <a:bodyPr wrap="square"/>
                    <a:lstStyle/>
                    <a:p>
                      <a:pPr algn="ctr">
                        <a:spcAft>
                          <a:spcPts val="0"/>
                        </a:spcAft>
                        <a:buNone/>
                      </a:pPr>
                      <a:r>
                        <a:rPr sz="1100" b="1" i="0">
                          <a:solidFill>
                            <a:srgbClr val="FFFFFF"/>
                          </a:solidFill>
                          <a:latin typeface="Arial"/>
                        </a:rPr>
                        <a:t>Recall</a:t>
                      </a:r>
                    </a:p>
                  </a:txBody>
                  <a:tcPr marL="73152" marR="73152" marT="27432" marB="27432" anchor="ctr">
                    <a:solidFill>
                      <a:srgbClr val="1A1A2E"/>
                    </a:solidFill>
                  </a:tcPr>
                </a:tc>
                <a:tc>
                  <a:txBody>
                    <a:bodyPr wrap="square"/>
                    <a:lstStyle/>
                    <a:p>
                      <a:pPr algn="ctr">
                        <a:spcAft>
                          <a:spcPts val="0"/>
                        </a:spcAft>
                        <a:buNone/>
                      </a:pPr>
                      <a:r>
                        <a:rPr sz="1100" b="1" i="0">
                          <a:solidFill>
                            <a:srgbClr val="FFFFFF"/>
                          </a:solidFill>
                          <a:latin typeface="Arial"/>
                        </a:rPr>
                        <a:t>FNR</a:t>
                      </a:r>
                    </a:p>
                  </a:txBody>
                  <a:tcPr marL="73152" marR="73152" marT="27432" marB="27432" anchor="ctr">
                    <a:solidFill>
                      <a:srgbClr val="1A1A2E"/>
                    </a:solidFill>
                  </a:tcPr>
                </a:tc>
                <a:tc>
                  <a:txBody>
                    <a:bodyPr wrap="square"/>
                    <a:lstStyle/>
                    <a:p>
                      <a:pPr algn="ctr">
                        <a:spcAft>
                          <a:spcPts val="0"/>
                        </a:spcAft>
                        <a:buNone/>
                      </a:pPr>
                      <a:r>
                        <a:rPr sz="1100" b="1" i="0">
                          <a:solidFill>
                            <a:srgbClr val="FFFFFF"/>
                          </a:solidFill>
                          <a:latin typeface="Arial"/>
                        </a:rPr>
                        <a:t>Precision</a:t>
                      </a:r>
                    </a:p>
                  </a:txBody>
                  <a:tcPr marL="73152" marR="73152" marT="27432" marB="27432" anchor="ctr">
                    <a:solidFill>
                      <a:srgbClr val="1A1A2E"/>
                    </a:solidFill>
                  </a:tcPr>
                </a:tc>
              </a:tr>
              <a:tr h="329184">
                <a:tc>
                  <a:txBody>
                    <a:bodyPr wrap="square"/>
                    <a:lstStyle/>
                    <a:p>
                      <a:pPr algn="l">
                        <a:spcAft>
                          <a:spcPts val="0"/>
                        </a:spcAft>
                        <a:buNone/>
                      </a:pPr>
                      <a:r>
                        <a:rPr sz="1100" b="0" i="0">
                          <a:solidFill>
                            <a:srgbClr val="1A1A1A"/>
                          </a:solidFill>
                          <a:latin typeface="Arial"/>
                        </a:rPr>
                        <a:t>0.50 (default)</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0.818</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0.182</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0.860</a:t>
                      </a:r>
                    </a:p>
                  </a:txBody>
                  <a:tcPr marL="73152" marR="73152" marT="27432" marB="27432" anchor="ctr">
                    <a:solidFill>
                      <a:srgbClr val="FFFFFF"/>
                    </a:solidFill>
                  </a:tcPr>
                </a:tc>
              </a:tr>
              <a:tr h="329184">
                <a:tc>
                  <a:txBody>
                    <a:bodyPr wrap="square"/>
                    <a:lstStyle/>
                    <a:p>
                      <a:pPr algn="l">
                        <a:spcAft>
                          <a:spcPts val="0"/>
                        </a:spcAft>
                        <a:buNone/>
                      </a:pPr>
                      <a:r>
                        <a:rPr sz="1100" b="1" i="0">
                          <a:solidFill>
                            <a:srgbClr val="0090C8"/>
                          </a:solidFill>
                          <a:latin typeface="Arial"/>
                        </a:rPr>
                        <a:t>0.40</a:t>
                      </a:r>
                    </a:p>
                  </a:txBody>
                  <a:tcPr marL="73152" marR="73152" marT="27432" marB="27432" anchor="ctr">
                    <a:solidFill>
                      <a:srgbClr val="EAF7FD"/>
                    </a:solidFill>
                  </a:tcPr>
                </a:tc>
                <a:tc>
                  <a:txBody>
                    <a:bodyPr wrap="square"/>
                    <a:lstStyle/>
                    <a:p>
                      <a:pPr algn="ctr">
                        <a:spcAft>
                          <a:spcPts val="0"/>
                        </a:spcAft>
                        <a:buNone/>
                      </a:pPr>
                      <a:r>
                        <a:rPr sz="1100" b="1" i="0">
                          <a:solidFill>
                            <a:srgbClr val="0090C8"/>
                          </a:solidFill>
                          <a:latin typeface="Arial"/>
                        </a:rPr>
                        <a:t>0.902</a:t>
                      </a:r>
                    </a:p>
                  </a:txBody>
                  <a:tcPr marL="73152" marR="73152" marT="27432" marB="27432" anchor="ctr">
                    <a:solidFill>
                      <a:srgbClr val="EAF7FD"/>
                    </a:solidFill>
                  </a:tcPr>
                </a:tc>
                <a:tc>
                  <a:txBody>
                    <a:bodyPr wrap="square"/>
                    <a:lstStyle/>
                    <a:p>
                      <a:pPr algn="ctr">
                        <a:spcAft>
                          <a:spcPts val="0"/>
                        </a:spcAft>
                        <a:buNone/>
                      </a:pPr>
                      <a:r>
                        <a:rPr sz="1100" b="1" i="0">
                          <a:solidFill>
                            <a:srgbClr val="0090C8"/>
                          </a:solidFill>
                          <a:latin typeface="Arial"/>
                        </a:rPr>
                        <a:t>0.098</a:t>
                      </a:r>
                    </a:p>
                  </a:txBody>
                  <a:tcPr marL="73152" marR="73152" marT="27432" marB="27432" anchor="ctr">
                    <a:solidFill>
                      <a:srgbClr val="EAF7FD"/>
                    </a:solidFill>
                  </a:tcPr>
                </a:tc>
                <a:tc>
                  <a:txBody>
                    <a:bodyPr wrap="square"/>
                    <a:lstStyle/>
                    <a:p>
                      <a:pPr algn="ctr">
                        <a:spcAft>
                          <a:spcPts val="0"/>
                        </a:spcAft>
                        <a:buNone/>
                      </a:pPr>
                      <a:r>
                        <a:rPr sz="1100" b="1" i="0">
                          <a:solidFill>
                            <a:srgbClr val="0090C8"/>
                          </a:solidFill>
                          <a:latin typeface="Arial"/>
                        </a:rPr>
                        <a:t>0.752</a:t>
                      </a:r>
                    </a:p>
                  </a:txBody>
                  <a:tcPr marL="73152" marR="73152" marT="27432" marB="27432" anchor="ctr">
                    <a:solidFill>
                      <a:srgbClr val="EAF7FD"/>
                    </a:solidFill>
                  </a:tcPr>
                </a:tc>
              </a:tr>
              <a:tr h="329184">
                <a:tc>
                  <a:txBody>
                    <a:bodyPr wrap="square"/>
                    <a:lstStyle/>
                    <a:p>
                      <a:pPr algn="l">
                        <a:spcAft>
                          <a:spcPts val="0"/>
                        </a:spcAft>
                        <a:buNone/>
                      </a:pPr>
                      <a:r>
                        <a:rPr sz="1100" b="0" i="0">
                          <a:solidFill>
                            <a:srgbClr val="1A1A1A"/>
                          </a:solidFill>
                          <a:latin typeface="Arial"/>
                        </a:rPr>
                        <a:t>0.30</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0.961</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0.039</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0.607</a:t>
                      </a:r>
                    </a:p>
                  </a:txBody>
                  <a:tcPr marL="73152" marR="73152" marT="27432" marB="27432" anchor="ctr">
                    <a:solidFill>
                      <a:srgbClr val="FFFFFF"/>
                    </a:solidFill>
                  </a:tcPr>
                </a:tc>
              </a:tr>
            </a:tbl>
          </a:graphicData>
        </a:graphic>
      </p:graphicFrame>
      <p:sp>
        <p:nvSpPr>
          <p:cNvPr id="6" name="TextBox 5"/>
          <p:cNvSpPr txBox="1"/>
          <p:nvPr/>
        </p:nvSpPr>
        <p:spPr>
          <a:xfrm>
            <a:off x="4535424" y="1097280"/>
            <a:ext cx="3922776" cy="256032"/>
          </a:xfrm>
          <a:prstGeom prst="rect">
            <a:avLst/>
          </a:prstGeom>
          <a:noFill/>
        </p:spPr>
        <p:txBody>
          <a:bodyPr wrap="square" lIns="0" rIns="0" tIns="0" bIns="0" anchor="t"/>
          <a:lstStyle/>
          <a:p>
            <a:pPr algn="l">
              <a:spcAft>
                <a:spcPts val="300"/>
              </a:spcAft>
              <a:buNone/>
            </a:pPr>
            <a:r>
              <a:rPr sz="1200" b="1" i="0">
                <a:solidFill>
                  <a:srgbClr val="1A1A1A"/>
                </a:solidFill>
                <a:latin typeface="Arial"/>
              </a:rPr>
              <a:t>Cost per configuration (CPU)</a:t>
            </a:r>
          </a:p>
        </p:txBody>
      </p:sp>
      <p:graphicFrame>
        <p:nvGraphicFramePr>
          <p:cNvPr id="7" name="Table 6"/>
          <p:cNvGraphicFramePr>
            <a:graphicFrameLocks noGrp="1"/>
          </p:cNvGraphicFramePr>
          <p:nvPr/>
        </p:nvGraphicFramePr>
        <p:xfrm>
          <a:off x="4535424" y="1389888"/>
          <a:ext cx="3922776" cy="1316736"/>
        </p:xfrm>
        <a:graphic>
          <a:graphicData uri="http://schemas.openxmlformats.org/drawingml/2006/table">
            <a:tbl>
              <a:tblPr firstRow="1">
                <a:tableStyleId>{5C22544A-7EE6-4342-B048-85BDC9FD1C3A}</a:tableStyleId>
              </a:tblPr>
              <a:tblGrid>
                <a:gridCol w="1801368"/>
                <a:gridCol w="713232"/>
                <a:gridCol w="768096"/>
                <a:gridCol w="640080"/>
              </a:tblGrid>
              <a:tr h="329184">
                <a:tc>
                  <a:txBody>
                    <a:bodyPr wrap="square"/>
                    <a:lstStyle/>
                    <a:p>
                      <a:pPr algn="l">
                        <a:spcAft>
                          <a:spcPts val="0"/>
                        </a:spcAft>
                        <a:buNone/>
                      </a:pPr>
                      <a:r>
                        <a:rPr sz="1100" b="1" i="0">
                          <a:solidFill>
                            <a:srgbClr val="FFFFFF"/>
                          </a:solidFill>
                          <a:latin typeface="Arial"/>
                        </a:rPr>
                        <a:t>Configuration</a:t>
                      </a:r>
                    </a:p>
                  </a:txBody>
                  <a:tcPr marL="73152" marR="73152" marT="27432" marB="27432" anchor="ctr">
                    <a:solidFill>
                      <a:srgbClr val="1A1A2E"/>
                    </a:solidFill>
                  </a:tcPr>
                </a:tc>
                <a:tc>
                  <a:txBody>
                    <a:bodyPr wrap="square"/>
                    <a:lstStyle/>
                    <a:p>
                      <a:pPr algn="ctr">
                        <a:spcAft>
                          <a:spcPts val="0"/>
                        </a:spcAft>
                        <a:buNone/>
                      </a:pPr>
                      <a:r>
                        <a:rPr sz="1100" b="1" i="0">
                          <a:solidFill>
                            <a:srgbClr val="FFFFFF"/>
                          </a:solidFill>
                          <a:latin typeface="Arial"/>
                        </a:rPr>
                        <a:t>Params</a:t>
                      </a:r>
                    </a:p>
                  </a:txBody>
                  <a:tcPr marL="73152" marR="73152" marT="27432" marB="27432" anchor="ctr">
                    <a:solidFill>
                      <a:srgbClr val="1A1A2E"/>
                    </a:solidFill>
                  </a:tcPr>
                </a:tc>
                <a:tc>
                  <a:txBody>
                    <a:bodyPr wrap="square"/>
                    <a:lstStyle/>
                    <a:p>
                      <a:pPr algn="ctr">
                        <a:spcAft>
                          <a:spcPts val="0"/>
                        </a:spcAft>
                        <a:buNone/>
                      </a:pPr>
                      <a:r>
                        <a:rPr sz="1100" b="1" i="0">
                          <a:solidFill>
                            <a:srgbClr val="FFFFFF"/>
                          </a:solidFill>
                          <a:latin typeface="Arial"/>
                        </a:rPr>
                        <a:t>Time</a:t>
                      </a:r>
                    </a:p>
                  </a:txBody>
                  <a:tcPr marL="73152" marR="73152" marT="27432" marB="27432" anchor="ctr">
                    <a:solidFill>
                      <a:srgbClr val="1A1A2E"/>
                    </a:solidFill>
                  </a:tcPr>
                </a:tc>
                <a:tc>
                  <a:txBody>
                    <a:bodyPr wrap="square"/>
                    <a:lstStyle/>
                    <a:p>
                      <a:pPr algn="ctr">
                        <a:spcAft>
                          <a:spcPts val="0"/>
                        </a:spcAft>
                        <a:buNone/>
                      </a:pPr>
                      <a:r>
                        <a:rPr sz="1100" b="1" i="0">
                          <a:solidFill>
                            <a:srgbClr val="FFFFFF"/>
                          </a:solidFill>
                          <a:latin typeface="Arial"/>
                        </a:rPr>
                        <a:t>AUC</a:t>
                      </a:r>
                    </a:p>
                  </a:txBody>
                  <a:tcPr marL="73152" marR="73152" marT="27432" marB="27432" anchor="ctr">
                    <a:solidFill>
                      <a:srgbClr val="1A1A2E"/>
                    </a:solidFill>
                  </a:tcPr>
                </a:tc>
              </a:tr>
              <a:tr h="329184">
                <a:tc>
                  <a:txBody>
                    <a:bodyPr wrap="square"/>
                    <a:lstStyle/>
                    <a:p>
                      <a:pPr algn="l">
                        <a:spcAft>
                          <a:spcPts val="0"/>
                        </a:spcAft>
                        <a:buNone/>
                      </a:pPr>
                      <a:r>
                        <a:rPr sz="1100" b="0" i="0">
                          <a:solidFill>
                            <a:srgbClr val="1A1A1A"/>
                          </a:solidFill>
                          <a:latin typeface="Arial"/>
                        </a:rPr>
                        <a:t>Visual, 1 model</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3.08 M</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25 ms</a:t>
                      </a:r>
                    </a:p>
                  </a:txBody>
                  <a:tcPr marL="73152" marR="73152" marT="27432" marB="27432" anchor="ctr">
                    <a:solidFill>
                      <a:srgbClr val="FFFFFF"/>
                    </a:solidFill>
                  </a:tcPr>
                </a:tc>
                <a:tc>
                  <a:txBody>
                    <a:bodyPr wrap="square"/>
                    <a:lstStyle/>
                    <a:p>
                      <a:pPr algn="ctr">
                        <a:spcAft>
                          <a:spcPts val="0"/>
                        </a:spcAft>
                        <a:buNone/>
                      </a:pPr>
                      <a:r>
                        <a:rPr sz="1100" b="0" i="0">
                          <a:solidFill>
                            <a:srgbClr val="1A1A1A"/>
                          </a:solidFill>
                          <a:latin typeface="Arial"/>
                        </a:rPr>
                        <a:t>0.896</a:t>
                      </a:r>
                    </a:p>
                  </a:txBody>
                  <a:tcPr marL="73152" marR="73152" marT="27432" marB="27432" anchor="ctr">
                    <a:solidFill>
                      <a:srgbClr val="FFFFFF"/>
                    </a:solidFill>
                  </a:tcPr>
                </a:tc>
              </a:tr>
              <a:tr h="329184">
                <a:tc>
                  <a:txBody>
                    <a:bodyPr wrap="square"/>
                    <a:lstStyle/>
                    <a:p>
                      <a:pPr algn="l">
                        <a:spcAft>
                          <a:spcPts val="0"/>
                        </a:spcAft>
                        <a:buNone/>
                      </a:pPr>
                      <a:r>
                        <a:rPr sz="1100" b="0" i="0">
                          <a:solidFill>
                            <a:srgbClr val="1A1A1A"/>
                          </a:solidFill>
                          <a:latin typeface="Arial"/>
                        </a:rPr>
                        <a:t>Visual, ensemble</a:t>
                      </a:r>
                    </a:p>
                  </a:txBody>
                  <a:tcPr marL="73152" marR="73152" marT="27432" marB="27432" anchor="ctr">
                    <a:solidFill>
                      <a:srgbClr val="F4F6F8"/>
                    </a:solidFill>
                  </a:tcPr>
                </a:tc>
                <a:tc>
                  <a:txBody>
                    <a:bodyPr wrap="square"/>
                    <a:lstStyle/>
                    <a:p>
                      <a:pPr algn="ctr">
                        <a:spcAft>
                          <a:spcPts val="0"/>
                        </a:spcAft>
                        <a:buNone/>
                      </a:pPr>
                      <a:r>
                        <a:rPr sz="1100" b="0" i="0">
                          <a:solidFill>
                            <a:srgbClr val="1A1A1A"/>
                          </a:solidFill>
                          <a:latin typeface="Arial"/>
                        </a:rPr>
                        <a:t>6.16 M</a:t>
                      </a:r>
                    </a:p>
                  </a:txBody>
                  <a:tcPr marL="73152" marR="73152" marT="27432" marB="27432" anchor="ctr">
                    <a:solidFill>
                      <a:srgbClr val="F4F6F8"/>
                    </a:solidFill>
                  </a:tcPr>
                </a:tc>
                <a:tc>
                  <a:txBody>
                    <a:bodyPr wrap="square"/>
                    <a:lstStyle/>
                    <a:p>
                      <a:pPr algn="ctr">
                        <a:spcAft>
                          <a:spcPts val="0"/>
                        </a:spcAft>
                        <a:buNone/>
                      </a:pPr>
                      <a:r>
                        <a:rPr sz="1100" b="0" i="0">
                          <a:solidFill>
                            <a:srgbClr val="1A1A1A"/>
                          </a:solidFill>
                          <a:latin typeface="Arial"/>
                        </a:rPr>
                        <a:t>100 ms</a:t>
                      </a:r>
                    </a:p>
                  </a:txBody>
                  <a:tcPr marL="73152" marR="73152" marT="27432" marB="27432" anchor="ctr">
                    <a:solidFill>
                      <a:srgbClr val="F4F6F8"/>
                    </a:solidFill>
                  </a:tcPr>
                </a:tc>
                <a:tc>
                  <a:txBody>
                    <a:bodyPr wrap="square"/>
                    <a:lstStyle/>
                    <a:p>
                      <a:pPr algn="ctr">
                        <a:spcAft>
                          <a:spcPts val="0"/>
                        </a:spcAft>
                        <a:buNone/>
                      </a:pPr>
                      <a:r>
                        <a:rPr sz="1100" b="0" i="0">
                          <a:solidFill>
                            <a:srgbClr val="1A1A1A"/>
                          </a:solidFill>
                          <a:latin typeface="Arial"/>
                        </a:rPr>
                        <a:t>0.915</a:t>
                      </a:r>
                    </a:p>
                  </a:txBody>
                  <a:tcPr marL="73152" marR="73152" marT="27432" marB="27432" anchor="ctr">
                    <a:solidFill>
                      <a:srgbClr val="F4F6F8"/>
                    </a:solidFill>
                  </a:tcPr>
                </a:tc>
              </a:tr>
              <a:tr h="329184">
                <a:tc>
                  <a:txBody>
                    <a:bodyPr wrap="square"/>
                    <a:lstStyle/>
                    <a:p>
                      <a:pPr algn="l">
                        <a:spcAft>
                          <a:spcPts val="0"/>
                        </a:spcAft>
                        <a:buNone/>
                      </a:pPr>
                      <a:r>
                        <a:rPr sz="1100" b="1" i="0">
                          <a:solidFill>
                            <a:srgbClr val="0090C8"/>
                          </a:solidFill>
                          <a:latin typeface="Arial"/>
                        </a:rPr>
                        <a:t>Fusion (image + URL)</a:t>
                      </a:r>
                    </a:p>
                  </a:txBody>
                  <a:tcPr marL="73152" marR="73152" marT="27432" marB="27432" anchor="ctr">
                    <a:solidFill>
                      <a:srgbClr val="EAF7FD"/>
                    </a:solidFill>
                  </a:tcPr>
                </a:tc>
                <a:tc>
                  <a:txBody>
                    <a:bodyPr wrap="square"/>
                    <a:lstStyle/>
                    <a:p>
                      <a:pPr algn="ctr">
                        <a:spcAft>
                          <a:spcPts val="0"/>
                        </a:spcAft>
                        <a:buNone/>
                      </a:pPr>
                      <a:r>
                        <a:rPr sz="1100" b="1" i="0">
                          <a:solidFill>
                            <a:srgbClr val="0090C8"/>
                          </a:solidFill>
                          <a:latin typeface="Arial"/>
                        </a:rPr>
                        <a:t>69.1 M</a:t>
                      </a:r>
                    </a:p>
                  </a:txBody>
                  <a:tcPr marL="73152" marR="73152" marT="27432" marB="27432" anchor="ctr">
                    <a:solidFill>
                      <a:srgbClr val="EAF7FD"/>
                    </a:solidFill>
                  </a:tcPr>
                </a:tc>
                <a:tc>
                  <a:txBody>
                    <a:bodyPr wrap="square"/>
                    <a:lstStyle/>
                    <a:p>
                      <a:pPr algn="ctr">
                        <a:spcAft>
                          <a:spcPts val="0"/>
                        </a:spcAft>
                        <a:buNone/>
                      </a:pPr>
                      <a:r>
                        <a:rPr sz="1100" b="1" i="0">
                          <a:solidFill>
                            <a:srgbClr val="0090C8"/>
                          </a:solidFill>
                          <a:latin typeface="Arial"/>
                        </a:rPr>
                        <a:t>~100 ms</a:t>
                      </a:r>
                    </a:p>
                  </a:txBody>
                  <a:tcPr marL="73152" marR="73152" marT="27432" marB="27432" anchor="ctr">
                    <a:solidFill>
                      <a:srgbClr val="EAF7FD"/>
                    </a:solidFill>
                  </a:tcPr>
                </a:tc>
                <a:tc>
                  <a:txBody>
                    <a:bodyPr wrap="square"/>
                    <a:lstStyle/>
                    <a:p>
                      <a:pPr algn="ctr">
                        <a:spcAft>
                          <a:spcPts val="0"/>
                        </a:spcAft>
                        <a:buNone/>
                      </a:pPr>
                      <a:r>
                        <a:rPr sz="1100" b="1" i="0">
                          <a:solidFill>
                            <a:srgbClr val="0090C8"/>
                          </a:solidFill>
                          <a:latin typeface="Arial"/>
                        </a:rPr>
                        <a:t>0.975</a:t>
                      </a:r>
                    </a:p>
                  </a:txBody>
                  <a:tcPr marL="73152" marR="73152" marT="27432" marB="27432" anchor="ctr">
                    <a:solidFill>
                      <a:srgbClr val="EAF7FD"/>
                    </a:solidFill>
                  </a:tcPr>
                </a:tc>
              </a:tr>
            </a:tbl>
          </a:graphicData>
        </a:graphic>
      </p:graphicFrame>
      <p:sp>
        <p:nvSpPr>
          <p:cNvPr id="8" name="Rounded Rectangle 7"/>
          <p:cNvSpPr/>
          <p:nvPr/>
        </p:nvSpPr>
        <p:spPr>
          <a:xfrm>
            <a:off x="429768" y="2907792"/>
            <a:ext cx="3922776"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0"/>
              </a:spcAft>
              <a:buNone/>
            </a:pPr>
            <a:r>
              <a:rPr sz="1200" b="1" i="0">
                <a:solidFill>
                  <a:srgbClr val="00BFFF"/>
                </a:solidFill>
                <a:latin typeface="Arial"/>
              </a:rPr>
              <a:t>τ = 0.40</a:t>
            </a:r>
            <a:r>
              <a:rPr sz="1200" b="0" i="0">
                <a:solidFill>
                  <a:srgbClr val="1A1A1A"/>
                </a:solidFill>
                <a:latin typeface="Arial"/>
              </a:rPr>
              <a:t> brings FNR below 0.10 without retraining. The fusion model meets this at the default 0.50.</a:t>
            </a:r>
          </a:p>
        </p:txBody>
      </p:sp>
      <p:sp>
        <p:nvSpPr>
          <p:cNvPr id="9" name="Rounded Rectangle 8"/>
          <p:cNvSpPr/>
          <p:nvPr/>
        </p:nvSpPr>
        <p:spPr>
          <a:xfrm>
            <a:off x="4535424" y="2907792"/>
            <a:ext cx="3922776" cy="96012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0"/>
              </a:spcAft>
              <a:buNone/>
            </a:pPr>
            <a:r>
              <a:rPr sz="1200" b="1" i="0">
                <a:solidFill>
                  <a:srgbClr val="00BFFF"/>
                </a:solidFill>
                <a:latin typeface="Arial"/>
              </a:rPr>
              <a:t>About 100 ms or less</a:t>
            </a:r>
            <a:r>
              <a:rPr sz="1200" b="0" i="0">
                <a:solidFill>
                  <a:srgbClr val="1A1A1A"/>
                </a:solidFill>
                <a:latin typeface="Arial"/>
              </a:rPr>
              <a:t> per image on a CPU, fast enough for mobile use.</a:t>
            </a:r>
          </a:p>
        </p:txBody>
      </p:sp>
      <p:sp>
        <p:nvSpPr>
          <p:cNvPr id="10" name="TextBox 9"/>
          <p:cNvSpPr txBox="1"/>
          <p:nvPr/>
        </p:nvSpPr>
        <p:spPr>
          <a:xfrm>
            <a:off x="429768" y="4005072"/>
            <a:ext cx="8028432" cy="274320"/>
          </a:xfrm>
          <a:prstGeom prst="rect">
            <a:avLst/>
          </a:prstGeom>
          <a:noFill/>
        </p:spPr>
        <p:txBody>
          <a:bodyPr wrap="square" lIns="0" rIns="0" tIns="0" bIns="0" anchor="t"/>
          <a:lstStyle/>
          <a:p>
            <a:pPr algn="ctr">
              <a:spcAft>
                <a:spcPts val="300"/>
              </a:spcAft>
              <a:buNone/>
            </a:pPr>
            <a:r>
              <a:rPr sz="1200" b="0" i="1">
                <a:solidFill>
                  <a:srgbClr val="595959"/>
                </a:solidFill>
                <a:latin typeface="Arial"/>
              </a:rPr>
              <a:t>Same trained models, three options: light, balanced, or most accurate.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Experiment 6: explainability</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Does the model look at the QR structure, or at dataset tricks?</a:t>
            </a:r>
          </a:p>
        </p:txBody>
      </p:sp>
      <p:pic>
        <p:nvPicPr>
          <p:cNvPr id="4" name="Picture 3" descr="gradcam_samples_cropped.png"/>
          <p:cNvPicPr>
            <a:picLocks noChangeAspect="1"/>
          </p:cNvPicPr>
          <p:nvPr/>
        </p:nvPicPr>
        <p:blipFill>
          <a:blip r:embed="rId2"/>
          <a:stretch>
            <a:fillRect/>
          </a:stretch>
        </p:blipFill>
        <p:spPr>
          <a:xfrm>
            <a:off x="429768" y="1115568"/>
            <a:ext cx="3522771" cy="2331720"/>
          </a:xfrm>
          <a:prstGeom prst="rect">
            <a:avLst/>
          </a:prstGeom>
        </p:spPr>
      </p:pic>
      <p:sp>
        <p:nvSpPr>
          <p:cNvPr id="5" name="Rounded Rectangle 4"/>
          <p:cNvSpPr/>
          <p:nvPr/>
        </p:nvSpPr>
        <p:spPr>
          <a:xfrm>
            <a:off x="4069080" y="1115568"/>
            <a:ext cx="43891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buNone/>
            </a:pPr>
            <a:r>
              <a:rPr sz="1300" b="1" i="0">
                <a:solidFill>
                  <a:srgbClr val="00BFFF"/>
                </a:solidFill>
                <a:latin typeface="Arial"/>
              </a:rPr>
              <a:t>Grad-CAM: where the model looks</a:t>
            </a:r>
          </a:p>
          <a:p>
            <a:pPr algn="l">
              <a:spcAft>
                <a:spcPts val="0"/>
              </a:spcAft>
              <a:buNone/>
            </a:pPr>
            <a:r>
              <a:rPr sz="1200" b="0" i="0">
                <a:solidFill>
                  <a:srgbClr val="1A1A1A"/>
                </a:solidFill>
                <a:latin typeface="Arial"/>
              </a:rPr>
              <a:t>Alignment patterns and data regions, the parts that carry the QR content</a:t>
            </a:r>
          </a:p>
        </p:txBody>
      </p:sp>
      <p:sp>
        <p:nvSpPr>
          <p:cNvPr id="6" name="Rounded Rectangle 5"/>
          <p:cNvSpPr/>
          <p:nvPr/>
        </p:nvSpPr>
        <p:spPr>
          <a:xfrm>
            <a:off x="4069080" y="2350008"/>
            <a:ext cx="4389120" cy="10972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buNone/>
            </a:pPr>
            <a:r>
              <a:rPr sz="1300" b="1" i="0">
                <a:solidFill>
                  <a:srgbClr val="00BFFF"/>
                </a:solidFill>
                <a:latin typeface="Arial"/>
              </a:rPr>
              <a:t>SHAP: which features matter</a:t>
            </a:r>
          </a:p>
          <a:p>
            <a:pPr algn="l">
              <a:spcAft>
                <a:spcPts val="0"/>
              </a:spcAft>
              <a:buNone/>
            </a:pPr>
            <a:r>
              <a:rPr sz="1200" b="0" i="0">
                <a:solidFill>
                  <a:srgbClr val="1A1A1A"/>
                </a:solidFill>
                <a:latin typeface="Arial"/>
              </a:rPr>
              <a:t>A few of the 128 embedding dimensions drive the decision</a:t>
            </a:r>
          </a:p>
        </p:txBody>
      </p:sp>
      <p:sp>
        <p:nvSpPr>
          <p:cNvPr id="7" name="Rounded Rectangle 6"/>
          <p:cNvSpPr/>
          <p:nvPr/>
        </p:nvSpPr>
        <p:spPr>
          <a:xfrm>
            <a:off x="429768" y="3630168"/>
            <a:ext cx="3922776" cy="73152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21208" y="3630168"/>
            <a:ext cx="1417320" cy="731520"/>
          </a:xfrm>
          <a:prstGeom prst="rect">
            <a:avLst/>
          </a:prstGeom>
          <a:noFill/>
        </p:spPr>
        <p:txBody>
          <a:bodyPr wrap="square" lIns="0" rIns="0" tIns="0" bIns="0" anchor="ctr"/>
          <a:lstStyle/>
          <a:p>
            <a:pPr algn="ctr">
              <a:spcAft>
                <a:spcPts val="0"/>
              </a:spcAft>
              <a:buNone/>
            </a:pPr>
            <a:r>
              <a:rPr sz="2200" b="1" i="0">
                <a:solidFill>
                  <a:srgbClr val="00BFFF"/>
                </a:solidFill>
                <a:latin typeface="Arial"/>
              </a:rPr>
              <a:t>r = 0.43</a:t>
            </a:r>
          </a:p>
        </p:txBody>
      </p:sp>
      <p:sp>
        <p:nvSpPr>
          <p:cNvPr id="9" name="TextBox 8"/>
          <p:cNvSpPr txBox="1"/>
          <p:nvPr/>
        </p:nvSpPr>
        <p:spPr>
          <a:xfrm>
            <a:off x="1984248" y="3630168"/>
            <a:ext cx="2240280" cy="731520"/>
          </a:xfrm>
          <a:prstGeom prst="rect">
            <a:avLst/>
          </a:prstGeom>
          <a:noFill/>
        </p:spPr>
        <p:txBody>
          <a:bodyPr wrap="square" lIns="0" rIns="0" tIns="0" bIns="0" anchor="ctr"/>
          <a:lstStyle/>
          <a:p>
            <a:pPr algn="l">
              <a:spcAft>
                <a:spcPts val="300"/>
              </a:spcAft>
              <a:buNone/>
            </a:pPr>
            <a:r>
              <a:rPr sz="1200" b="0" i="0">
                <a:solidFill>
                  <a:srgbClr val="1A1A1A"/>
                </a:solidFill>
                <a:latin typeface="Arial"/>
              </a:rPr>
              <a:t>Grad-CAM maps agree across the two datasets</a:t>
            </a:r>
          </a:p>
        </p:txBody>
      </p:sp>
      <p:sp>
        <p:nvSpPr>
          <p:cNvPr id="10" name="Rounded Rectangle 9"/>
          <p:cNvSpPr/>
          <p:nvPr/>
        </p:nvSpPr>
        <p:spPr>
          <a:xfrm>
            <a:off x="4535424" y="3630168"/>
            <a:ext cx="3922776" cy="73152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6864" y="3630168"/>
            <a:ext cx="1417320" cy="731520"/>
          </a:xfrm>
          <a:prstGeom prst="rect">
            <a:avLst/>
          </a:prstGeom>
          <a:noFill/>
        </p:spPr>
        <p:txBody>
          <a:bodyPr wrap="square" lIns="0" rIns="0" tIns="0" bIns="0" anchor="ctr"/>
          <a:lstStyle/>
          <a:p>
            <a:pPr algn="ctr">
              <a:spcAft>
                <a:spcPts val="0"/>
              </a:spcAft>
              <a:buNone/>
            </a:pPr>
            <a:r>
              <a:rPr sz="2200" b="1" i="0">
                <a:solidFill>
                  <a:srgbClr val="00BFFF"/>
                </a:solidFill>
                <a:latin typeface="Arial"/>
              </a:rPr>
              <a:t>1.94</a:t>
            </a:r>
          </a:p>
        </p:txBody>
      </p:sp>
      <p:sp>
        <p:nvSpPr>
          <p:cNvPr id="12" name="TextBox 11"/>
          <p:cNvSpPr txBox="1"/>
          <p:nvPr/>
        </p:nvSpPr>
        <p:spPr>
          <a:xfrm>
            <a:off x="6089904" y="3630168"/>
            <a:ext cx="2240280" cy="731520"/>
          </a:xfrm>
          <a:prstGeom prst="rect">
            <a:avLst/>
          </a:prstGeom>
          <a:noFill/>
        </p:spPr>
        <p:txBody>
          <a:bodyPr wrap="square" lIns="0" rIns="0" tIns="0" bIns="0" anchor="ctr"/>
          <a:lstStyle/>
          <a:p>
            <a:pPr algn="l">
              <a:spcAft>
                <a:spcPts val="300"/>
              </a:spcAft>
              <a:buNone/>
            </a:pPr>
            <a:r>
              <a:rPr sz="1200" b="0" i="0">
                <a:solidFill>
                  <a:srgbClr val="1A1A1A"/>
                </a:solidFill>
                <a:latin typeface="Arial"/>
              </a:rPr>
              <a:t>Between-class / within-class distance in the embedding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Limitations</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What is still missing?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Limitations</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What is still weak in our results</a:t>
            </a:r>
          </a:p>
        </p:txBody>
      </p:sp>
      <p:sp>
        <p:nvSpPr>
          <p:cNvPr id="4" name="Rounded Rectangle 3"/>
          <p:cNvSpPr/>
          <p:nvPr/>
        </p:nvSpPr>
        <p:spPr>
          <a:xfrm>
            <a:off x="429768" y="1143000"/>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5" name="Badge 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1</a:t>
            </a:r>
          </a:p>
        </p:txBody>
      </p:sp>
      <p:sp>
        <p:nvSpPr>
          <p:cNvPr id="6" name="TextBox 5"/>
          <p:cNvSpPr txBox="1"/>
          <p:nvPr/>
        </p:nvSpPr>
        <p:spPr>
          <a:xfrm>
            <a:off x="1069848" y="1289304"/>
            <a:ext cx="3136392"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Visual fallback misses ~20%</a:t>
            </a:r>
          </a:p>
        </p:txBody>
      </p:sp>
      <p:sp>
        <p:nvSpPr>
          <p:cNvPr id="7" name="TextBox 6"/>
          <p:cNvSpPr txBox="1"/>
          <p:nvPr/>
        </p:nvSpPr>
        <p:spPr>
          <a:xfrm>
            <a:off x="594360" y="1801368"/>
            <a:ext cx="3611880" cy="329184"/>
          </a:xfrm>
          <a:prstGeom prst="rect">
            <a:avLst/>
          </a:prstGeom>
          <a:noFill/>
        </p:spPr>
        <p:txBody>
          <a:bodyPr wrap="square" lIns="0" rIns="0" tIns="0" bIns="0" anchor="t"/>
          <a:lstStyle/>
          <a:p>
            <a:pPr algn="l">
              <a:spcAft>
                <a:spcPts val="300"/>
              </a:spcAft>
              <a:buNone/>
            </a:pPr>
            <a:r>
              <a:rPr sz="1200" b="0" i="0">
                <a:solidFill>
                  <a:srgbClr val="595959"/>
                </a:solidFill>
                <a:latin typeface="Arial"/>
              </a:rPr>
              <a:t>FNR 0.199 when the QR code cannot be decoded</a:t>
            </a:r>
          </a:p>
        </p:txBody>
      </p:sp>
      <p:sp>
        <p:nvSpPr>
          <p:cNvPr id="8" name="Rounded Rectangle 7"/>
          <p:cNvSpPr/>
          <p:nvPr/>
        </p:nvSpPr>
        <p:spPr>
          <a:xfrm>
            <a:off x="4535424" y="1143000"/>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9" name="Badge 2"/>
          <p:cNvSpPr/>
          <p:nvPr/>
        </p:nvSpPr>
        <p:spPr>
          <a:xfrm>
            <a:off x="4681728"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2</a:t>
            </a:r>
          </a:p>
        </p:txBody>
      </p:sp>
      <p:sp>
        <p:nvSpPr>
          <p:cNvPr id="10" name="TextBox 9"/>
          <p:cNvSpPr txBox="1"/>
          <p:nvPr/>
        </p:nvSpPr>
        <p:spPr>
          <a:xfrm>
            <a:off x="5175504" y="1289304"/>
            <a:ext cx="3136392"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Mild overfitting in Phase 2</a:t>
            </a:r>
          </a:p>
        </p:txBody>
      </p:sp>
      <p:sp>
        <p:nvSpPr>
          <p:cNvPr id="11" name="TextBox 10"/>
          <p:cNvSpPr txBox="1"/>
          <p:nvPr/>
        </p:nvSpPr>
        <p:spPr>
          <a:xfrm>
            <a:off x="4700016" y="1801368"/>
            <a:ext cx="3611880" cy="329184"/>
          </a:xfrm>
          <a:prstGeom prst="rect">
            <a:avLst/>
          </a:prstGeom>
          <a:noFill/>
        </p:spPr>
        <p:txBody>
          <a:bodyPr wrap="square" lIns="0" rIns="0" tIns="0" bIns="0" anchor="t"/>
          <a:lstStyle/>
          <a:p>
            <a:pPr algn="l">
              <a:spcAft>
                <a:spcPts val="300"/>
              </a:spcAft>
              <a:buNone/>
            </a:pPr>
            <a:r>
              <a:rPr sz="1200" b="0" i="0">
                <a:solidFill>
                  <a:srgbClr val="595959"/>
                </a:solidFill>
                <a:latin typeface="Arial"/>
              </a:rPr>
              <a:t>Controlled with early stopping at epoch 8</a:t>
            </a:r>
          </a:p>
        </p:txBody>
      </p:sp>
      <p:sp>
        <p:nvSpPr>
          <p:cNvPr id="12" name="Rounded Rectangle 11"/>
          <p:cNvSpPr/>
          <p:nvPr/>
        </p:nvSpPr>
        <p:spPr>
          <a:xfrm>
            <a:off x="429768" y="2359152"/>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3" name="Badge 3"/>
          <p:cNvSpPr/>
          <p:nvPr/>
        </p:nvSpPr>
        <p:spPr>
          <a:xfrm>
            <a:off x="576072" y="2505456"/>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3</a:t>
            </a:r>
          </a:p>
        </p:txBody>
      </p:sp>
      <p:sp>
        <p:nvSpPr>
          <p:cNvPr id="14" name="TextBox 13"/>
          <p:cNvSpPr txBox="1"/>
          <p:nvPr/>
        </p:nvSpPr>
        <p:spPr>
          <a:xfrm>
            <a:off x="1069848" y="2505456"/>
            <a:ext cx="3136392"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Large QR codes are harder</a:t>
            </a:r>
          </a:p>
        </p:txBody>
      </p:sp>
      <p:sp>
        <p:nvSpPr>
          <p:cNvPr id="15" name="TextBox 14"/>
          <p:cNvSpPr txBox="1"/>
          <p:nvPr/>
        </p:nvSpPr>
        <p:spPr>
          <a:xfrm>
            <a:off x="594360" y="3017520"/>
            <a:ext cx="3611880" cy="329184"/>
          </a:xfrm>
          <a:prstGeom prst="rect">
            <a:avLst/>
          </a:prstGeom>
          <a:noFill/>
        </p:spPr>
        <p:txBody>
          <a:bodyPr wrap="square" lIns="0" rIns="0" tIns="0" bIns="0" anchor="t"/>
          <a:lstStyle/>
          <a:p>
            <a:pPr algn="l">
              <a:spcAft>
                <a:spcPts val="300"/>
              </a:spcAft>
              <a:buNone/>
            </a:pPr>
            <a:r>
              <a:rPr sz="1200" b="0" i="0">
                <a:solidFill>
                  <a:srgbClr val="595959"/>
                </a:solidFill>
                <a:latin typeface="Arial"/>
              </a:rPr>
              <a:t>Performance drops on high-resolution images</a:t>
            </a:r>
          </a:p>
        </p:txBody>
      </p:sp>
      <p:sp>
        <p:nvSpPr>
          <p:cNvPr id="16" name="Rounded Rectangle 15"/>
          <p:cNvSpPr/>
          <p:nvPr/>
        </p:nvSpPr>
        <p:spPr>
          <a:xfrm>
            <a:off x="4535424" y="2359152"/>
            <a:ext cx="3922776" cy="1078992"/>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7" name="Badge 4"/>
          <p:cNvSpPr/>
          <p:nvPr/>
        </p:nvSpPr>
        <p:spPr>
          <a:xfrm>
            <a:off x="4681728" y="2505456"/>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4</a:t>
            </a:r>
          </a:p>
        </p:txBody>
      </p:sp>
      <p:sp>
        <p:nvSpPr>
          <p:cNvPr id="18" name="TextBox 17"/>
          <p:cNvSpPr txBox="1"/>
          <p:nvPr/>
        </p:nvSpPr>
        <p:spPr>
          <a:xfrm>
            <a:off x="5175504" y="2505456"/>
            <a:ext cx="3136392" cy="411480"/>
          </a:xfrm>
          <a:prstGeom prst="rect">
            <a:avLst/>
          </a:prstGeom>
          <a:noFill/>
        </p:spPr>
        <p:txBody>
          <a:bodyPr wrap="square" lIns="0" rIns="0" tIns="0" bIns="0" anchor="ctr"/>
          <a:lstStyle/>
          <a:p>
            <a:pPr algn="l">
              <a:spcAft>
                <a:spcPts val="0"/>
              </a:spcAft>
              <a:buNone/>
            </a:pPr>
            <a:r>
              <a:rPr sz="1400" b="1" i="0">
                <a:solidFill>
                  <a:srgbClr val="1A1A1A"/>
                </a:solidFill>
                <a:latin typeface="Arial"/>
              </a:rPr>
              <a:t>Visual-only calibration</a:t>
            </a:r>
          </a:p>
        </p:txBody>
      </p:sp>
      <p:sp>
        <p:nvSpPr>
          <p:cNvPr id="19" name="TextBox 18"/>
          <p:cNvSpPr txBox="1"/>
          <p:nvPr/>
        </p:nvSpPr>
        <p:spPr>
          <a:xfrm>
            <a:off x="4700016" y="3017520"/>
            <a:ext cx="3611880" cy="329184"/>
          </a:xfrm>
          <a:prstGeom prst="rect">
            <a:avLst/>
          </a:prstGeom>
          <a:noFill/>
        </p:spPr>
        <p:txBody>
          <a:bodyPr wrap="square" lIns="0" rIns="0" tIns="0" bIns="0" anchor="t"/>
          <a:lstStyle/>
          <a:p>
            <a:pPr algn="l">
              <a:spcAft>
                <a:spcPts val="300"/>
              </a:spcAft>
              <a:buNone/>
            </a:pPr>
            <a:r>
              <a:rPr sz="1200" b="0" i="0">
                <a:solidFill>
                  <a:srgbClr val="595959"/>
                </a:solidFill>
                <a:latin typeface="Arial"/>
              </a:rPr>
              <a:t>Its probabilities are not perfectly calibrated</a:t>
            </a:r>
          </a:p>
        </p:txBody>
      </p:sp>
      <p:sp>
        <p:nvSpPr>
          <p:cNvPr id="20" name="Rounded Rectangle 19"/>
          <p:cNvSpPr/>
          <p:nvPr/>
        </p:nvSpPr>
        <p:spPr>
          <a:xfrm>
            <a:off x="429768" y="3630168"/>
            <a:ext cx="8028432" cy="713232"/>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200" b="1" i="0">
                <a:solidFill>
                  <a:srgbClr val="00BFFF"/>
                </a:solidFill>
                <a:latin typeface="Arial"/>
              </a:rPr>
              <a:t>Scope: </a:t>
            </a:r>
            <a:r>
              <a:rPr sz="1200" b="0" i="0">
                <a:solidFill>
                  <a:srgbClr val="1A1A1A"/>
                </a:solidFill>
                <a:latin typeface="Arial"/>
              </a:rPr>
              <a:t>static QR images and their URL only, with no message, sender or page context. </a:t>
            </a:r>
            <a:r>
              <a:rPr sz="1200" b="1" i="0">
                <a:solidFill>
                  <a:srgbClr val="1A1A1A"/>
                </a:solidFill>
                <a:latin typeface="Arial"/>
              </a:rPr>
              <a:t>Q-Shield is one layer of defense, not the whole defense.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Conclusions</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Closing the three objectives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Conclusions</a:t>
            </a:r>
          </a:p>
        </p:txBody>
      </p:sp>
      <p:sp>
        <p:nvSpPr>
          <p:cNvPr id="3" name="Rounded Rectangle 2"/>
          <p:cNvSpPr/>
          <p:nvPr/>
        </p:nvSpPr>
        <p:spPr>
          <a:xfrm>
            <a:off x="429768" y="804672"/>
            <a:ext cx="8028432" cy="777240"/>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400" b="1" i="0">
                <a:solidFill>
                  <a:srgbClr val="00BFFF"/>
                </a:solidFill>
                <a:latin typeface="Arial"/>
              </a:rPr>
              <a:t>Main finding: </a:t>
            </a:r>
            <a:r>
              <a:rPr sz="1400" b="1" i="0">
                <a:solidFill>
                  <a:srgbClr val="1A1A1A"/>
                </a:solidFill>
                <a:latin typeface="Arial"/>
              </a:rPr>
              <a:t>multimodal fusion turns FNR 0.202 into FNR 0.057, and still covers QR codes that cannot be decoded.</a:t>
            </a:r>
          </a:p>
        </p:txBody>
      </p:sp>
      <p:sp>
        <p:nvSpPr>
          <p:cNvPr id="4" name="TextBox 3"/>
          <p:cNvSpPr txBox="1"/>
          <p:nvPr/>
        </p:nvSpPr>
        <p:spPr>
          <a:xfrm>
            <a:off x="429768" y="1755648"/>
            <a:ext cx="8028432" cy="256032"/>
          </a:xfrm>
          <a:prstGeom prst="rect">
            <a:avLst/>
          </a:prstGeom>
          <a:noFill/>
        </p:spPr>
        <p:txBody>
          <a:bodyPr wrap="square" lIns="0" rIns="0" tIns="0" bIns="0" anchor="t"/>
          <a:lstStyle/>
          <a:p>
            <a:pPr algn="l">
              <a:spcAft>
                <a:spcPts val="300"/>
              </a:spcAft>
              <a:buNone/>
            </a:pPr>
            <a:r>
              <a:rPr sz="1200" b="1" i="0">
                <a:solidFill>
                  <a:srgbClr val="00BFFF"/>
                </a:solidFill>
                <a:latin typeface="Arial"/>
              </a:rPr>
              <a:t>Our three objectives</a:t>
            </a:r>
          </a:p>
        </p:txBody>
      </p:sp>
      <p:sp>
        <p:nvSpPr>
          <p:cNvPr id="5" name="Rounded Rectangle 4"/>
          <p:cNvSpPr/>
          <p:nvPr/>
        </p:nvSpPr>
        <p:spPr>
          <a:xfrm>
            <a:off x="429768" y="2103120"/>
            <a:ext cx="2560320"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1000"/>
              </a:spcAft>
              <a:buNone/>
            </a:pPr>
            <a:r>
              <a:rPr sz="1300" b="1" i="0">
                <a:solidFill>
                  <a:srgbClr val="1A1A1A"/>
                </a:solidFill>
                <a:latin typeface="Arial"/>
              </a:rPr>
              <a:t>(i) Pipeline alignment</a:t>
            </a:r>
          </a:p>
          <a:p>
            <a:pPr algn="ctr">
              <a:spcAft>
                <a:spcPts val="800"/>
              </a:spcAft>
              <a:buNone/>
            </a:pPr>
            <a:r>
              <a:rPr sz="2400" b="1" i="0">
                <a:solidFill>
                  <a:srgbClr val="00BFFF"/>
                </a:solidFill>
                <a:latin typeface="Arial"/>
              </a:rPr>
              <a:t>0.202 → 0.057</a:t>
            </a:r>
          </a:p>
          <a:p>
            <a:pPr algn="ctr">
              <a:spcAft>
                <a:spcPts val="0"/>
              </a:spcAft>
              <a:buNone/>
            </a:pPr>
            <a:r>
              <a:rPr sz="1200" b="0" i="0">
                <a:solidFill>
                  <a:srgbClr val="595959"/>
                </a:solidFill>
                <a:latin typeface="Arial"/>
              </a:rPr>
              <a:t>FNR, while still covering undecodable codes</a:t>
            </a:r>
          </a:p>
        </p:txBody>
      </p:sp>
      <p:sp>
        <p:nvSpPr>
          <p:cNvPr id="6" name="Rounded Rectangle 5"/>
          <p:cNvSpPr/>
          <p:nvPr/>
        </p:nvSpPr>
        <p:spPr>
          <a:xfrm>
            <a:off x="3163824" y="2103120"/>
            <a:ext cx="2560320"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1000"/>
              </a:spcAft>
              <a:buNone/>
            </a:pPr>
            <a:r>
              <a:rPr sz="1300" b="1" i="0">
                <a:solidFill>
                  <a:srgbClr val="1A1A1A"/>
                </a:solidFill>
                <a:latin typeface="Arial"/>
              </a:rPr>
              <a:t>(ii) Generalization</a:t>
            </a:r>
          </a:p>
          <a:p>
            <a:pPr algn="ctr">
              <a:spcAft>
                <a:spcPts val="800"/>
              </a:spcAft>
              <a:buNone/>
            </a:pPr>
            <a:r>
              <a:rPr sz="2400" b="1" i="0">
                <a:solidFill>
                  <a:srgbClr val="00BFFF"/>
                </a:solidFill>
                <a:latin typeface="Arial"/>
              </a:rPr>
              <a:t>0.52 → 0.896</a:t>
            </a:r>
          </a:p>
          <a:p>
            <a:pPr algn="ctr">
              <a:spcAft>
                <a:spcPts val="0"/>
              </a:spcAft>
              <a:buNone/>
            </a:pPr>
            <a:r>
              <a:rPr sz="1200" b="0" i="0">
                <a:solidFill>
                  <a:srgbClr val="595959"/>
                </a:solidFill>
                <a:latin typeface="Arial"/>
              </a:rPr>
              <a:t>AUC when we train on both datasets</a:t>
            </a:r>
          </a:p>
        </p:txBody>
      </p:sp>
      <p:sp>
        <p:nvSpPr>
          <p:cNvPr id="7" name="Rounded Rectangle 6"/>
          <p:cNvSpPr/>
          <p:nvPr/>
        </p:nvSpPr>
        <p:spPr>
          <a:xfrm>
            <a:off x="5897880" y="2103120"/>
            <a:ext cx="2560320" cy="178308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ctr">
              <a:spcAft>
                <a:spcPts val="1000"/>
              </a:spcAft>
              <a:buNone/>
            </a:pPr>
            <a:r>
              <a:rPr sz="1300" b="1" i="0">
                <a:solidFill>
                  <a:srgbClr val="1A1A1A"/>
                </a:solidFill>
                <a:latin typeface="Arial"/>
              </a:rPr>
              <a:t>(iii) Explainability</a:t>
            </a:r>
          </a:p>
          <a:p>
            <a:pPr algn="ctr">
              <a:spcAft>
                <a:spcPts val="800"/>
              </a:spcAft>
              <a:buNone/>
            </a:pPr>
            <a:r>
              <a:rPr sz="2400" b="1" i="0">
                <a:solidFill>
                  <a:srgbClr val="00BFFF"/>
                </a:solidFill>
                <a:latin typeface="Arial"/>
              </a:rPr>
              <a:t>r = 0.43</a:t>
            </a:r>
          </a:p>
          <a:p>
            <a:pPr algn="ctr">
              <a:spcAft>
                <a:spcPts val="0"/>
              </a:spcAft>
              <a:buNone/>
            </a:pPr>
            <a:r>
              <a:rPr sz="1200" b="0" i="0">
                <a:solidFill>
                  <a:srgbClr val="595959"/>
                </a:solidFill>
                <a:latin typeface="Arial"/>
              </a:rPr>
              <a:t>Grad-CAM agreement across the two datasets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2" name="Connector 1"/>
          <p:cNvCxnSpPr/>
          <p:nvPr/>
        </p:nvCxnSpPr>
        <p:spPr>
          <a:xfrm>
            <a:off x="1216152" y="2231136"/>
            <a:ext cx="2560320" cy="0"/>
          </a:xfrm>
          <a:prstGeom prst="line">
            <a:avLst/>
          </a:prstGeom>
          <a:ln w="19050">
            <a:solidFill>
              <a:srgbClr val="00BFFF"/>
            </a:solidFill>
          </a:ln>
        </p:spPr>
        <p:style>
          <a:lnRef idx="2">
            <a:schemeClr val="accent1"/>
          </a:lnRef>
          <a:fillRef idx="0">
            <a:schemeClr val="accent1"/>
          </a:fillRef>
          <a:effectRef idx="1">
            <a:schemeClr val="accent1"/>
          </a:effectRef>
          <a:fontRef idx="minor">
            <a:schemeClr val="tx1"/>
          </a:fontRef>
        </p:style>
      </p:cxnSp>
      <p:sp>
        <p:nvSpPr>
          <p:cNvPr id="3" name="Section title"/>
          <p:cNvSpPr txBox="1"/>
          <p:nvPr/>
        </p:nvSpPr>
        <p:spPr>
          <a:xfrm>
            <a:off x="1216152" y="2304288"/>
            <a:ext cx="2788920" cy="548640"/>
          </a:xfrm>
          <a:prstGeom prst="rect">
            <a:avLst/>
          </a:prstGeom>
          <a:noFill/>
        </p:spPr>
        <p:txBody>
          <a:bodyPr wrap="square" lIns="18288" rIns="18288" tIns="0" bIns="0" anchor="t"/>
          <a:lstStyle/>
          <a:p>
            <a:pPr algn="l">
              <a:spcAft>
                <a:spcPts val="300"/>
              </a:spcAft>
              <a:buNone/>
            </a:pPr>
            <a:r>
              <a:rPr sz="2000" b="1" i="0">
                <a:solidFill>
                  <a:srgbClr val="00BFFF"/>
                </a:solidFill>
                <a:latin typeface="Arial"/>
              </a:rPr>
              <a:t>Future Work</a:t>
            </a:r>
          </a:p>
        </p:txBody>
      </p:sp>
      <p:sp>
        <p:nvSpPr>
          <p:cNvPr id="4" name="Section question"/>
          <p:cNvSpPr txBox="1"/>
          <p:nvPr/>
        </p:nvSpPr>
        <p:spPr>
          <a:xfrm>
            <a:off x="3794760" y="2304288"/>
            <a:ext cx="4663440" cy="822960"/>
          </a:xfrm>
          <a:prstGeom prst="rect">
            <a:avLst/>
          </a:prstGeom>
          <a:noFill/>
        </p:spPr>
        <p:txBody>
          <a:bodyPr wrap="square" lIns="18288" rIns="18288" tIns="0" bIns="0" anchor="t"/>
          <a:lstStyle/>
          <a:p>
            <a:pPr algn="l">
              <a:spcAft>
                <a:spcPts val="300"/>
              </a:spcAft>
              <a:buNone/>
            </a:pPr>
            <a:r>
              <a:rPr sz="2000" b="1" i="0">
                <a:solidFill>
                  <a:srgbClr val="1A1A1A"/>
                </a:solidFill>
                <a:latin typeface="Arial"/>
              </a:rPr>
              <a:t>Where this goes next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429768" y="201168"/>
            <a:ext cx="7589520" cy="502920"/>
          </a:xfrm>
          <a:prstGeom prst="rect">
            <a:avLst/>
          </a:prstGeom>
          <a:noFill/>
        </p:spPr>
        <p:txBody>
          <a:bodyPr wrap="square" lIns="18288" rIns="18288" tIns="0" bIns="0" anchor="t"/>
          <a:lstStyle/>
          <a:p>
            <a:pPr algn="l">
              <a:spcAft>
                <a:spcPts val="200"/>
              </a:spcAft>
              <a:buNone/>
            </a:pPr>
            <a:r>
              <a:rPr sz="2000" b="1" i="0">
                <a:solidFill>
                  <a:srgbClr val="00BFFF"/>
                </a:solidFill>
                <a:latin typeface="Arial"/>
              </a:rPr>
              <a:t>Future Work</a:t>
            </a:r>
          </a:p>
        </p:txBody>
      </p:sp>
      <p:sp>
        <p:nvSpPr>
          <p:cNvPr id="3" name="Subtitle"/>
          <p:cNvSpPr txBox="1"/>
          <p:nvPr/>
        </p:nvSpPr>
        <p:spPr>
          <a:xfrm>
            <a:off x="429768" y="749808"/>
            <a:ext cx="8028432" cy="274320"/>
          </a:xfrm>
          <a:prstGeom prst="rect">
            <a:avLst/>
          </a:prstGeom>
          <a:noFill/>
        </p:spPr>
        <p:txBody>
          <a:bodyPr wrap="square" lIns="18288" rIns="18288" tIns="0" bIns="0" anchor="t"/>
          <a:lstStyle/>
          <a:p>
            <a:pPr algn="l">
              <a:spcAft>
                <a:spcPts val="300"/>
              </a:spcAft>
              <a:buNone/>
            </a:pPr>
            <a:r>
              <a:rPr sz="1200" b="1" i="0">
                <a:solidFill>
                  <a:srgbClr val="00BFFF"/>
                </a:solidFill>
                <a:latin typeface="Arial"/>
              </a:rPr>
              <a:t>Four next steps</a:t>
            </a:r>
          </a:p>
        </p:txBody>
      </p:sp>
      <p:sp>
        <p:nvSpPr>
          <p:cNvPr id="4" name="Rounded Rectangle 3"/>
          <p:cNvSpPr/>
          <p:nvPr/>
        </p:nvSpPr>
        <p:spPr>
          <a:xfrm>
            <a:off x="429768" y="1143000"/>
            <a:ext cx="1874520" cy="2377440"/>
          </a:xfrm>
          <a:prstGeom prst="roundRect">
            <a:avLst>
              <a:gd name="adj" fmla="val 8000"/>
            </a:avLst>
          </a:prstGeom>
          <a:solidFill>
            <a:srgbClr val="FFFFFF"/>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5" name="Badge 01"/>
          <p:cNvSpPr/>
          <p:nvPr/>
        </p:nvSpPr>
        <p:spPr>
          <a:xfrm>
            <a:off x="576072"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01</a:t>
            </a:r>
          </a:p>
        </p:txBody>
      </p:sp>
      <p:sp>
        <p:nvSpPr>
          <p:cNvPr id="6" name="TextBox 5"/>
          <p:cNvSpPr txBox="1"/>
          <p:nvPr/>
        </p:nvSpPr>
        <p:spPr>
          <a:xfrm>
            <a:off x="576072" y="1810512"/>
            <a:ext cx="1600200" cy="566928"/>
          </a:xfrm>
          <a:prstGeom prst="rect">
            <a:avLst/>
          </a:prstGeom>
          <a:noFill/>
        </p:spPr>
        <p:txBody>
          <a:bodyPr wrap="square" lIns="0" rIns="0" tIns="0" bIns="0" anchor="t"/>
          <a:lstStyle/>
          <a:p>
            <a:pPr algn="l">
              <a:spcAft>
                <a:spcPts val="0"/>
              </a:spcAft>
              <a:buNone/>
            </a:pPr>
            <a:r>
              <a:rPr sz="1400" b="1" i="0">
                <a:solidFill>
                  <a:srgbClr val="1A1A1A"/>
                </a:solidFill>
                <a:latin typeface="Arial"/>
              </a:rPr>
              <a:t>Context branch</a:t>
            </a:r>
          </a:p>
        </p:txBody>
      </p:sp>
      <p:sp>
        <p:nvSpPr>
          <p:cNvPr id="7" name="TextBox 6"/>
          <p:cNvSpPr txBox="1"/>
          <p:nvPr/>
        </p:nvSpPr>
        <p:spPr>
          <a:xfrm>
            <a:off x="576072" y="2395728"/>
            <a:ext cx="1600200" cy="1051560"/>
          </a:xfrm>
          <a:prstGeom prst="rect">
            <a:avLst/>
          </a:prstGeom>
          <a:noFill/>
        </p:spPr>
        <p:txBody>
          <a:bodyPr wrap="square" lIns="0" rIns="0" tIns="0" bIns="0" anchor="t"/>
          <a:lstStyle/>
          <a:p>
            <a:pPr algn="l">
              <a:spcAft>
                <a:spcPts val="300"/>
              </a:spcAft>
              <a:buNone/>
            </a:pPr>
            <a:r>
              <a:rPr sz="1200" b="0" i="0">
                <a:solidFill>
                  <a:srgbClr val="595959"/>
                </a:solidFill>
                <a:latin typeface="Arial"/>
              </a:rPr>
              <a:t>Read the message, sender and web page around the QR code</a:t>
            </a:r>
          </a:p>
        </p:txBody>
      </p:sp>
      <p:sp>
        <p:nvSpPr>
          <p:cNvPr id="8" name="Rounded Rectangle 7"/>
          <p:cNvSpPr/>
          <p:nvPr/>
        </p:nvSpPr>
        <p:spPr>
          <a:xfrm>
            <a:off x="2480767" y="1143000"/>
            <a:ext cx="187452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9" name="Badge 02"/>
          <p:cNvSpPr/>
          <p:nvPr/>
        </p:nvSpPr>
        <p:spPr>
          <a:xfrm>
            <a:off x="2627071"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02</a:t>
            </a:r>
          </a:p>
        </p:txBody>
      </p:sp>
      <p:sp>
        <p:nvSpPr>
          <p:cNvPr id="10" name="TextBox 9"/>
          <p:cNvSpPr txBox="1"/>
          <p:nvPr/>
        </p:nvSpPr>
        <p:spPr>
          <a:xfrm>
            <a:off x="2627071" y="1810512"/>
            <a:ext cx="1600200" cy="566928"/>
          </a:xfrm>
          <a:prstGeom prst="rect">
            <a:avLst/>
          </a:prstGeom>
          <a:noFill/>
        </p:spPr>
        <p:txBody>
          <a:bodyPr wrap="square" lIns="0" rIns="0" tIns="0" bIns="0" anchor="t"/>
          <a:lstStyle/>
          <a:p>
            <a:pPr algn="l">
              <a:spcAft>
                <a:spcPts val="0"/>
              </a:spcAft>
              <a:buNone/>
            </a:pPr>
            <a:r>
              <a:rPr sz="1400" b="1" i="0">
                <a:solidFill>
                  <a:srgbClr val="1A1A1A"/>
                </a:solidFill>
                <a:latin typeface="Arial"/>
              </a:rPr>
              <a:t>Multi-scale training</a:t>
            </a:r>
          </a:p>
        </p:txBody>
      </p:sp>
      <p:sp>
        <p:nvSpPr>
          <p:cNvPr id="11" name="TextBox 10"/>
          <p:cNvSpPr txBox="1"/>
          <p:nvPr/>
        </p:nvSpPr>
        <p:spPr>
          <a:xfrm>
            <a:off x="2627071" y="2395728"/>
            <a:ext cx="1600200" cy="1051560"/>
          </a:xfrm>
          <a:prstGeom prst="rect">
            <a:avLst/>
          </a:prstGeom>
          <a:noFill/>
        </p:spPr>
        <p:txBody>
          <a:bodyPr wrap="square" lIns="0" rIns="0" tIns="0" bIns="0" anchor="t"/>
          <a:lstStyle/>
          <a:p>
            <a:pPr algn="l">
              <a:spcAft>
                <a:spcPts val="300"/>
              </a:spcAft>
              <a:buNone/>
            </a:pPr>
            <a:r>
              <a:rPr sz="1200" b="0" i="0">
                <a:solidFill>
                  <a:srgbClr val="595959"/>
                </a:solidFill>
                <a:latin typeface="Arial"/>
              </a:rPr>
              <a:t>Better results on large, high-resolution QR codes</a:t>
            </a:r>
          </a:p>
        </p:txBody>
      </p:sp>
      <p:sp>
        <p:nvSpPr>
          <p:cNvPr id="12" name="Rounded Rectangle 11"/>
          <p:cNvSpPr/>
          <p:nvPr/>
        </p:nvSpPr>
        <p:spPr>
          <a:xfrm>
            <a:off x="4531766" y="1143000"/>
            <a:ext cx="187452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3" name="Badge 03"/>
          <p:cNvSpPr/>
          <p:nvPr/>
        </p:nvSpPr>
        <p:spPr>
          <a:xfrm>
            <a:off x="4678070"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03</a:t>
            </a:r>
          </a:p>
        </p:txBody>
      </p:sp>
      <p:sp>
        <p:nvSpPr>
          <p:cNvPr id="14" name="TextBox 13"/>
          <p:cNvSpPr txBox="1"/>
          <p:nvPr/>
        </p:nvSpPr>
        <p:spPr>
          <a:xfrm>
            <a:off x="4678070" y="1810512"/>
            <a:ext cx="1600200" cy="566928"/>
          </a:xfrm>
          <a:prstGeom prst="rect">
            <a:avLst/>
          </a:prstGeom>
          <a:noFill/>
        </p:spPr>
        <p:txBody>
          <a:bodyPr wrap="square" lIns="0" rIns="0" tIns="0" bIns="0" anchor="t"/>
          <a:lstStyle/>
          <a:p>
            <a:pPr algn="l">
              <a:spcAft>
                <a:spcPts val="0"/>
              </a:spcAft>
              <a:buNone/>
            </a:pPr>
            <a:r>
              <a:rPr sz="1400" b="1" i="0">
                <a:solidFill>
                  <a:srgbClr val="1A1A1A"/>
                </a:solidFill>
                <a:latin typeface="Arial"/>
              </a:rPr>
              <a:t>Adversarial robustness</a:t>
            </a:r>
          </a:p>
        </p:txBody>
      </p:sp>
      <p:sp>
        <p:nvSpPr>
          <p:cNvPr id="15" name="TextBox 14"/>
          <p:cNvSpPr txBox="1"/>
          <p:nvPr/>
        </p:nvSpPr>
        <p:spPr>
          <a:xfrm>
            <a:off x="4678070" y="2395728"/>
            <a:ext cx="1600200" cy="1051560"/>
          </a:xfrm>
          <a:prstGeom prst="rect">
            <a:avLst/>
          </a:prstGeom>
          <a:noFill/>
        </p:spPr>
        <p:txBody>
          <a:bodyPr wrap="square" lIns="0" rIns="0" tIns="0" bIns="0" anchor="t"/>
          <a:lstStyle/>
          <a:p>
            <a:pPr algn="l">
              <a:spcAft>
                <a:spcPts val="300"/>
              </a:spcAft>
              <a:buNone/>
            </a:pPr>
            <a:r>
              <a:rPr sz="1200" b="0" i="0">
                <a:solidFill>
                  <a:srgbClr val="595959"/>
                </a:solidFill>
                <a:latin typeface="Arial"/>
              </a:rPr>
              <a:t>Test against stylized and manipulated QR codes</a:t>
            </a:r>
          </a:p>
        </p:txBody>
      </p:sp>
      <p:sp>
        <p:nvSpPr>
          <p:cNvPr id="16" name="Rounded Rectangle 15"/>
          <p:cNvSpPr/>
          <p:nvPr/>
        </p:nvSpPr>
        <p:spPr>
          <a:xfrm>
            <a:off x="6582766" y="1143000"/>
            <a:ext cx="1874520" cy="2377440"/>
          </a:xfrm>
          <a:prstGeom prst="roundRect">
            <a:avLst>
              <a:gd name="adj" fmla="val 8000"/>
            </a:avLst>
          </a:prstGeom>
          <a:solidFill>
            <a:srgbClr val="FFFFFF"/>
          </a:solidFill>
          <a:ln w="9525">
            <a:solidFill>
              <a:srgbClr val="D9DE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9728" bIns="109728"/>
          <a:lstStyle/>
          <a:p/>
        </p:txBody>
      </p:sp>
      <p:sp>
        <p:nvSpPr>
          <p:cNvPr id="17" name="Badge 04"/>
          <p:cNvSpPr/>
          <p:nvPr/>
        </p:nvSpPr>
        <p:spPr>
          <a:xfrm>
            <a:off x="6729070" y="1289304"/>
            <a:ext cx="384048" cy="384048"/>
          </a:xfrm>
          <a:prstGeom prst="ellipse">
            <a:avLst/>
          </a:prstGeom>
          <a:solidFill>
            <a:srgbClr val="00B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Aft>
                <a:spcPts val="0"/>
              </a:spcAft>
              <a:buNone/>
            </a:pPr>
            <a:r>
              <a:rPr sz="1200" b="1" i="0">
                <a:solidFill>
                  <a:srgbClr val="FFFFFF"/>
                </a:solidFill>
                <a:latin typeface="Arial"/>
              </a:rPr>
              <a:t>04</a:t>
            </a:r>
          </a:p>
        </p:txBody>
      </p:sp>
      <p:sp>
        <p:nvSpPr>
          <p:cNvPr id="18" name="TextBox 17"/>
          <p:cNvSpPr txBox="1"/>
          <p:nvPr/>
        </p:nvSpPr>
        <p:spPr>
          <a:xfrm>
            <a:off x="6729070" y="1810512"/>
            <a:ext cx="1600200" cy="566928"/>
          </a:xfrm>
          <a:prstGeom prst="rect">
            <a:avLst/>
          </a:prstGeom>
          <a:noFill/>
        </p:spPr>
        <p:txBody>
          <a:bodyPr wrap="square" lIns="0" rIns="0" tIns="0" bIns="0" anchor="t"/>
          <a:lstStyle/>
          <a:p>
            <a:pPr algn="l">
              <a:spcAft>
                <a:spcPts val="0"/>
              </a:spcAft>
              <a:buNone/>
            </a:pPr>
            <a:r>
              <a:rPr sz="1400" b="1" i="0">
                <a:solidFill>
                  <a:srgbClr val="1A1A1A"/>
                </a:solidFill>
                <a:latin typeface="Arial"/>
              </a:rPr>
              <a:t>Regional adaptation</a:t>
            </a:r>
          </a:p>
        </p:txBody>
      </p:sp>
      <p:sp>
        <p:nvSpPr>
          <p:cNvPr id="19" name="TextBox 18"/>
          <p:cNvSpPr txBox="1"/>
          <p:nvPr/>
        </p:nvSpPr>
        <p:spPr>
          <a:xfrm>
            <a:off x="6729070" y="2395728"/>
            <a:ext cx="1600200" cy="1051560"/>
          </a:xfrm>
          <a:prstGeom prst="rect">
            <a:avLst/>
          </a:prstGeom>
          <a:noFill/>
        </p:spPr>
        <p:txBody>
          <a:bodyPr wrap="square" lIns="0" rIns="0" tIns="0" bIns="0" anchor="t"/>
          <a:lstStyle/>
          <a:p>
            <a:pPr algn="l">
              <a:spcAft>
                <a:spcPts val="300"/>
              </a:spcAft>
              <a:buNone/>
            </a:pPr>
            <a:r>
              <a:rPr sz="1200" b="0" i="0">
                <a:solidFill>
                  <a:srgbClr val="595959"/>
                </a:solidFill>
                <a:latin typeface="Arial"/>
              </a:rPr>
              <a:t>Adapt to Latin American QR payment systems</a:t>
            </a:r>
          </a:p>
        </p:txBody>
      </p:sp>
      <p:sp>
        <p:nvSpPr>
          <p:cNvPr id="20" name="Rounded Rectangle 19"/>
          <p:cNvSpPr/>
          <p:nvPr/>
        </p:nvSpPr>
        <p:spPr>
          <a:xfrm>
            <a:off x="429768" y="3730752"/>
            <a:ext cx="8028432" cy="566928"/>
          </a:xfrm>
          <a:prstGeom prst="roundRect">
            <a:avLst>
              <a:gd name="adj" fmla="val 8000"/>
            </a:avLst>
          </a:prstGeom>
          <a:solidFill>
            <a:srgbClr val="EAF7FD"/>
          </a:solidFill>
          <a:ln w="15875">
            <a:solidFill>
              <a:srgbClr val="00BF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ctr">
              <a:spcAft>
                <a:spcPts val="0"/>
              </a:spcAft>
              <a:buNone/>
            </a:pPr>
            <a:r>
              <a:rPr sz="1300" b="1" i="0">
                <a:solidFill>
                  <a:srgbClr val="1A1A1A"/>
                </a:solidFill>
                <a:latin typeface="Arial"/>
              </a:rPr>
              <a:t>Content-based detection is one layer. Provenance checks and context complete the defense.</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3932</Words>
  <Application>Microsoft Office PowerPoint</Application>
  <PresentationFormat>Presentación en pantalla (16:9)</PresentationFormat>
  <Paragraphs>448</Paragraphs>
  <Slides>31</Slides>
  <Notes>31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31</vt:i4>
      </vt:variant>
    </vt:vector>
  </HeadingPairs>
  <TitlesOfParts>
    <vt:vector size="36" baseType="lpstr">
      <vt:lpstr>Space Grotesk</vt:lpstr>
      <vt:lpstr>Arial</vt:lpstr>
      <vt:lpstr>Permanent Marker</vt:lpstr>
      <vt:lpstr>Quattrocento Sans</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Nicolás Alejandro Llerena Silva</cp:lastModifiedBy>
  <cp:revision>1</cp:revision>
  <dcterms:modified xsi:type="dcterms:W3CDTF">2026-08-07T19:06:40Z</dcterms:modified>
</cp:coreProperties>
</file>